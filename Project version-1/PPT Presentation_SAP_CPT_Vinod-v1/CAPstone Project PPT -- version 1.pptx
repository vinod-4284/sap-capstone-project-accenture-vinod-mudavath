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4" r:id="rId5"/>
    <p:sldId id="266" r:id="rId6"/>
    <p:sldId id="269" r:id="rId7"/>
    <p:sldId id="270" r:id="rId8"/>
    <p:sldId id="272" r:id="rId9"/>
    <p:sldId id="271" r:id="rId10"/>
    <p:sldId id="268" r:id="rId11"/>
    <p:sldId id="267" r:id="rId12"/>
    <p:sldId id="265" r:id="rId13"/>
    <p:sldId id="258" r:id="rId14"/>
    <p:sldId id="260" r:id="rId15"/>
    <p:sldId id="259" r:id="rId16"/>
    <p:sldId id="261" r:id="rId17"/>
    <p:sldId id="26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37" d="100"/>
          <a:sy n="37" d="100"/>
        </p:scale>
        <p:origin x="152" y="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7AC4-4AA8-D3BB-52DD-2A489B2F4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311BDD-E88D-9C14-AA96-69B9E0DAB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E32F5-677F-9767-A709-49F5B2599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5802-4EB2-413E-B316-57C9C14AE09D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6E44B-C560-9ABC-E1A8-B9FE0EAEF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58C03-70DE-795A-6C3E-A72281AC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77DA2-F62C-498F-8AEC-0D7F95E99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831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66569-A813-029C-D62E-CF61EA451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CCB6C-3874-8CA4-9354-03294FE97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71396-30AC-EC24-6A4A-1A0B7E1CD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5802-4EB2-413E-B316-57C9C14AE09D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95563-E2D8-0BDB-7F2C-7BDF75E1D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70279-2206-8F5E-F083-4119295AA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77DA2-F62C-498F-8AEC-0D7F95E99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679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17CDE-9AF1-FEB3-B80D-DBB0757DB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7AF15-0341-2A6A-7AA8-A092C0E9A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326D3-1349-6EB4-B49B-2F3D43426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5802-4EB2-413E-B316-57C9C14AE09D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EF32F-D8B2-A89A-4A18-D34E9ADB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313CA-03BE-F604-8C26-09B06F8F9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77DA2-F62C-498F-8AEC-0D7F95E99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058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640D8-325B-0BED-DA7B-FE53FA03E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586A7-E5C4-E64D-BBA9-7D5027415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8C4A8-A9E5-FD31-7152-4BB328515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FE20B-7E57-BFB4-9BFA-3677DCFAD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5802-4EB2-413E-B316-57C9C14AE09D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6F29D-3D2D-BD12-DC37-5AD17A507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795B6-2486-60F1-09BD-8AD3114D5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77DA2-F62C-498F-8AEC-0D7F95E99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750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91D1-DA56-BCE9-F243-0DBF19AC7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3F5EA-0ABB-54DE-75F8-45BA13A09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F7DA2-2F1B-425B-226C-94985821E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01C97-9617-A99F-341F-3A83392F00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6D5B1B-9AED-FD9A-9EC2-8778037CCC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39278A-DDF3-E996-2591-0079233B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5802-4EB2-413E-B316-57C9C14AE09D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E230F9-BA14-8CB2-496B-AA0BF56E6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79083D-3580-41CD-7F2B-97C664FF6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77DA2-F62C-498F-8AEC-0D7F95E99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721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7F29A-46C5-A803-8D98-C69CDF724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8A0469-1FB3-BC48-6AAF-AD31AAB5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5802-4EB2-413E-B316-57C9C14AE09D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F9602-4CCA-30E9-4BDD-C27FA6E2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83F5E2-6C1B-EED2-798C-F74B69D43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77DA2-F62C-498F-8AEC-0D7F95E99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363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B6A5B5-542B-CB51-C99E-5111D32DC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5802-4EB2-413E-B316-57C9C14AE09D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4C4B84-1FB9-1C86-C966-BBA42A14C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AF797-DA09-7652-6358-1A6E44BE4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77DA2-F62C-498F-8AEC-0D7F95E99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999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8FB29-18AA-9D28-52ED-4F3F90F8D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E99FB-9838-F5E5-0394-643CD4E88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F0E46E-6831-A813-2BB2-1F03BAD89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5EFA2-2BED-1753-F2C9-9036DC150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5802-4EB2-413E-B316-57C9C14AE09D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303E3-9CC9-10C6-26FC-DE7322EA5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ABE7A-6A95-4D98-C9E4-19F091B1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77DA2-F62C-498F-8AEC-0D7F95E99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721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7B756-4345-1EDF-F2E5-EBB2A8A1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72511A-15CD-762E-C220-72B9539465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86FB7-9646-17AA-1946-0B570B9F2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57414-AF95-A004-CAA1-DDE74A131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5802-4EB2-413E-B316-57C9C14AE09D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3842D-9B5F-EC18-3659-6D44A5C37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42912-A511-8BBD-07A1-08367221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77DA2-F62C-498F-8AEC-0D7F95E99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64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DFF6C-40A6-36F3-36B0-C0175063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04071-2710-CBA5-C158-4C2ECF94F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3FE19-8506-DAE8-7EE9-FABC5D1D5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5802-4EB2-413E-B316-57C9C14AE09D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8AF2F-BEF9-6DB2-CAF8-F2220546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2CA69-2B66-1B9F-FF27-B8BBD9D17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77DA2-F62C-498F-8AEC-0D7F95E99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075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B3E3AB-2B6F-58EA-47A8-14F0A558B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6D89B8-C173-2D6D-15A6-AD6F24401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46D92-2D9B-E26B-3E0A-63A98557D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5802-4EB2-413E-B316-57C9C14AE09D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CBBD6-D5F8-01E2-DA89-29D1607C2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71999-CAF8-DF29-F06C-7FB4266CB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77DA2-F62C-498F-8AEC-0D7F95E99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638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491712-58F1-7F5D-4437-8B0B73B12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42ED0-C203-C2E8-ABB6-240F6D39D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6B62B-A38D-DE6D-D2B2-42D3085D1F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A5802-4EB2-413E-B316-57C9C14AE09D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8B1E-9369-2ABB-17A0-5AADB32E0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2860C-22E8-6FDA-5F27-BF03FBA0E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77DA2-F62C-498F-8AEC-0D7F95E99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711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423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Connector 1">
            <a:extLst>
              <a:ext uri="{FF2B5EF4-FFF2-40B4-BE49-F238E27FC236}">
                <a16:creationId xmlns:a16="http://schemas.microsoft.com/office/drawing/2014/main" id="{C520E10B-F137-8E8B-2F81-DCD4024B4703}"/>
              </a:ext>
            </a:extLst>
          </p:cNvPr>
          <p:cNvCxnSpPr/>
          <p:nvPr/>
        </p:nvCxnSpPr>
        <p:spPr>
          <a:xfrm>
            <a:off x="9326880" y="228600"/>
            <a:ext cx="2651760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2">
            <a:extLst>
              <a:ext uri="{FF2B5EF4-FFF2-40B4-BE49-F238E27FC236}">
                <a16:creationId xmlns:a16="http://schemas.microsoft.com/office/drawing/2014/main" id="{4E72CC87-A072-CC29-0A84-5DC437347A04}"/>
              </a:ext>
            </a:extLst>
          </p:cNvPr>
          <p:cNvCxnSpPr/>
          <p:nvPr/>
        </p:nvCxnSpPr>
        <p:spPr>
          <a:xfrm>
            <a:off x="9674352" y="301752"/>
            <a:ext cx="2304288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">
            <a:extLst>
              <a:ext uri="{FF2B5EF4-FFF2-40B4-BE49-F238E27FC236}">
                <a16:creationId xmlns:a16="http://schemas.microsoft.com/office/drawing/2014/main" id="{B8D6D96E-72EA-937D-A04A-C1EEBAE0FF1C}"/>
              </a:ext>
            </a:extLst>
          </p:cNvPr>
          <p:cNvCxnSpPr/>
          <p:nvPr/>
        </p:nvCxnSpPr>
        <p:spPr>
          <a:xfrm>
            <a:off x="10021824" y="374904"/>
            <a:ext cx="1956816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4">
            <a:extLst>
              <a:ext uri="{FF2B5EF4-FFF2-40B4-BE49-F238E27FC236}">
                <a16:creationId xmlns:a16="http://schemas.microsoft.com/office/drawing/2014/main" id="{1C38D467-E5D1-5CAF-22A8-8666CFF24E4F}"/>
              </a:ext>
            </a:extLst>
          </p:cNvPr>
          <p:cNvCxnSpPr/>
          <p:nvPr/>
        </p:nvCxnSpPr>
        <p:spPr>
          <a:xfrm>
            <a:off x="10369296" y="448056"/>
            <a:ext cx="1609344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5">
            <a:extLst>
              <a:ext uri="{FF2B5EF4-FFF2-40B4-BE49-F238E27FC236}">
                <a16:creationId xmlns:a16="http://schemas.microsoft.com/office/drawing/2014/main" id="{25E7025D-2404-BA8E-E3E8-C46970156057}"/>
              </a:ext>
            </a:extLst>
          </p:cNvPr>
          <p:cNvCxnSpPr/>
          <p:nvPr/>
        </p:nvCxnSpPr>
        <p:spPr>
          <a:xfrm>
            <a:off x="10716767" y="521208"/>
            <a:ext cx="1261873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6">
            <a:extLst>
              <a:ext uri="{FF2B5EF4-FFF2-40B4-BE49-F238E27FC236}">
                <a16:creationId xmlns:a16="http://schemas.microsoft.com/office/drawing/2014/main" id="{650E26F5-601D-F7DE-B309-0A668C7FA63A}"/>
              </a:ext>
            </a:extLst>
          </p:cNvPr>
          <p:cNvCxnSpPr/>
          <p:nvPr/>
        </p:nvCxnSpPr>
        <p:spPr>
          <a:xfrm>
            <a:off x="11064240" y="594360"/>
            <a:ext cx="914400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7">
            <a:extLst>
              <a:ext uri="{FF2B5EF4-FFF2-40B4-BE49-F238E27FC236}">
                <a16:creationId xmlns:a16="http://schemas.microsoft.com/office/drawing/2014/main" id="{76923868-9C44-9731-8BB0-DF9292BC5446}"/>
              </a:ext>
            </a:extLst>
          </p:cNvPr>
          <p:cNvCxnSpPr/>
          <p:nvPr/>
        </p:nvCxnSpPr>
        <p:spPr>
          <a:xfrm>
            <a:off x="11411712" y="667512"/>
            <a:ext cx="566928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Arc 39">
            <a:extLst>
              <a:ext uri="{FF2B5EF4-FFF2-40B4-BE49-F238E27FC236}">
                <a16:creationId xmlns:a16="http://schemas.microsoft.com/office/drawing/2014/main" id="{6FA320C3-83E1-DA72-DE12-47199B0787CD}"/>
              </a:ext>
            </a:extLst>
          </p:cNvPr>
          <p:cNvSpPr/>
          <p:nvPr/>
        </p:nvSpPr>
        <p:spPr>
          <a:xfrm>
            <a:off x="-731520" y="5989320"/>
            <a:ext cx="7315200" cy="1280160"/>
          </a:xfrm>
          <a:prstGeom prst="arc">
            <a:avLst/>
          </a:prstGeom>
          <a:noFill/>
          <a:ln w="25400">
            <a:solidFill>
              <a:srgbClr val="6F3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61A558C2-057C-88FD-4BFD-BD0C99A6EFE1}"/>
              </a:ext>
            </a:extLst>
          </p:cNvPr>
          <p:cNvSpPr/>
          <p:nvPr/>
        </p:nvSpPr>
        <p:spPr>
          <a:xfrm>
            <a:off x="-594360" y="6099048"/>
            <a:ext cx="7315200" cy="1280160"/>
          </a:xfrm>
          <a:prstGeom prst="arc">
            <a:avLst/>
          </a:prstGeom>
          <a:noFill/>
          <a:ln w="25400">
            <a:solidFill>
              <a:srgbClr val="27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A592DD85-A3EF-601E-4113-E3B5F172C844}"/>
              </a:ext>
            </a:extLst>
          </p:cNvPr>
          <p:cNvSpPr/>
          <p:nvPr/>
        </p:nvSpPr>
        <p:spPr>
          <a:xfrm>
            <a:off x="-457200" y="6208776"/>
            <a:ext cx="7315200" cy="1280160"/>
          </a:xfrm>
          <a:prstGeom prst="arc">
            <a:avLst/>
          </a:prstGeom>
          <a:noFill/>
          <a:ln w="25400">
            <a:solidFill>
              <a:srgbClr val="96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8FBCD5A-5753-D1CA-046B-7018CCC61465}"/>
              </a:ext>
            </a:extLst>
          </p:cNvPr>
          <p:cNvSpPr txBox="1"/>
          <p:nvPr/>
        </p:nvSpPr>
        <p:spPr>
          <a:xfrm>
            <a:off x="640080" y="411480"/>
            <a:ext cx="343850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F"/>
                </a:solidFill>
                <a:latin typeface="Aptos Display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Executive Summary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5E1A34-5A56-EADE-042D-A610CB292F1B}"/>
              </a:ext>
            </a:extLst>
          </p:cNvPr>
          <p:cNvSpPr txBox="1"/>
          <p:nvPr/>
        </p:nvSpPr>
        <p:spPr>
          <a:xfrm>
            <a:off x="658368" y="987552"/>
            <a:ext cx="6041654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B8C5E0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A single consolidated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iFlow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implements the end-to-end capstone requirement.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4038BC9-A001-1684-2089-CBFCCE062AAE}"/>
              </a:ext>
            </a:extLst>
          </p:cNvPr>
          <p:cNvSpPr/>
          <p:nvPr/>
        </p:nvSpPr>
        <p:spPr>
          <a:xfrm>
            <a:off x="658368" y="1417320"/>
            <a:ext cx="1051560" cy="41148"/>
          </a:xfrm>
          <a:prstGeom prst="rect">
            <a:avLst/>
          </a:prstGeom>
          <a:solidFill>
            <a:srgbClr val="96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14">
            <a:extLst>
              <a:ext uri="{FF2B5EF4-FFF2-40B4-BE49-F238E27FC236}">
                <a16:creationId xmlns:a16="http://schemas.microsoft.com/office/drawing/2014/main" id="{8AF71C87-7563-AAD6-CE4A-63D717B4798B}"/>
              </a:ext>
            </a:extLst>
          </p:cNvPr>
          <p:cNvSpPr/>
          <p:nvPr/>
        </p:nvSpPr>
        <p:spPr>
          <a:xfrm>
            <a:off x="685800" y="1737360"/>
            <a:ext cx="3429000" cy="182880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800" b="1">
                <a:solidFill>
                  <a:srgbClr val="F8FAFF"/>
                </a:solidFill>
                <a:latin typeface="Aptos Display"/>
              </a:defRPr>
            </a:pPr>
            <a:r>
              <a:t>01  Integrate</a:t>
            </a:r>
          </a:p>
          <a:p>
            <a:pPr>
              <a:spcBef>
                <a:spcPts val="700"/>
              </a:spcBef>
              <a:defRPr sz="1300">
                <a:solidFill>
                  <a:srgbClr val="E0E7F6"/>
                </a:solidFill>
                <a:latin typeface="Aptos"/>
              </a:defRPr>
            </a:pPr>
            <a:r>
              <a:t>SuccessFactors employee data is fetched through OData and transformed for S/4HANA.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044B92B-97BE-95E0-863C-CE12067186CE}"/>
              </a:ext>
            </a:extLst>
          </p:cNvPr>
          <p:cNvSpPr/>
          <p:nvPr/>
        </p:nvSpPr>
        <p:spPr>
          <a:xfrm>
            <a:off x="685800" y="1737360"/>
            <a:ext cx="64008" cy="1828800"/>
          </a:xfrm>
          <a:prstGeom prst="rect">
            <a:avLst/>
          </a:prstGeom>
          <a:solidFill>
            <a:srgbClr val="6F3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16">
            <a:extLst>
              <a:ext uri="{FF2B5EF4-FFF2-40B4-BE49-F238E27FC236}">
                <a16:creationId xmlns:a16="http://schemas.microsoft.com/office/drawing/2014/main" id="{4752C5DB-82FB-7DE5-4F3B-6640D4216E24}"/>
              </a:ext>
            </a:extLst>
          </p:cNvPr>
          <p:cNvSpPr/>
          <p:nvPr/>
        </p:nvSpPr>
        <p:spPr>
          <a:xfrm>
            <a:off x="4370832" y="1737360"/>
            <a:ext cx="3429000" cy="182880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800" b="1">
                <a:solidFill>
                  <a:srgbClr val="F8FAFF"/>
                </a:solidFill>
                <a:latin typeface="Aptos Display"/>
              </a:defRPr>
            </a:pPr>
            <a:r>
              <a:t>02  Synchronize</a:t>
            </a:r>
          </a:p>
          <a:p>
            <a:pPr>
              <a:spcBef>
                <a:spcPts val="700"/>
              </a:spcBef>
              <a:defRPr sz="1300">
                <a:solidFill>
                  <a:srgbClr val="E0E7F6"/>
                </a:solidFill>
                <a:latin typeface="Aptos"/>
              </a:defRPr>
            </a:pPr>
            <a:r>
              <a:t>Employee master data is posted to the S/4HANA On-Premise OData service.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7BF2F2C-C872-AF0D-89DB-A93274760AF0}"/>
              </a:ext>
            </a:extLst>
          </p:cNvPr>
          <p:cNvSpPr/>
          <p:nvPr/>
        </p:nvSpPr>
        <p:spPr>
          <a:xfrm>
            <a:off x="4370832" y="1737360"/>
            <a:ext cx="64008" cy="1828800"/>
          </a:xfrm>
          <a:prstGeom prst="rect">
            <a:avLst/>
          </a:prstGeom>
          <a:solidFill>
            <a:srgbClr val="2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18">
            <a:extLst>
              <a:ext uri="{FF2B5EF4-FFF2-40B4-BE49-F238E27FC236}">
                <a16:creationId xmlns:a16="http://schemas.microsoft.com/office/drawing/2014/main" id="{B5AD8ED2-CE53-E9B7-9ED1-189283A6A4BE}"/>
              </a:ext>
            </a:extLst>
          </p:cNvPr>
          <p:cNvSpPr/>
          <p:nvPr/>
        </p:nvSpPr>
        <p:spPr>
          <a:xfrm>
            <a:off x="8046720" y="1737360"/>
            <a:ext cx="3429000" cy="182880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800" b="1">
                <a:solidFill>
                  <a:srgbClr val="F8FAFF"/>
                </a:solidFill>
                <a:latin typeface="Aptos Display"/>
              </a:defRPr>
            </a:pPr>
            <a:r>
              <a:t>03  Distribute</a:t>
            </a:r>
          </a:p>
          <a:p>
            <a:pPr>
              <a:spcBef>
                <a:spcPts val="700"/>
              </a:spcBef>
              <a:defRPr sz="1300">
                <a:solidFill>
                  <a:srgbClr val="E0E7F6"/>
                </a:solidFill>
                <a:latin typeface="Aptos"/>
              </a:defRPr>
            </a:pPr>
            <a:r>
              <a:t>S/4HANA data is converted to CSV and delivered to the SFTP payroll directory.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26D323B-CE42-7D1D-B2CA-FF26582E671C}"/>
              </a:ext>
            </a:extLst>
          </p:cNvPr>
          <p:cNvSpPr/>
          <p:nvPr/>
        </p:nvSpPr>
        <p:spPr>
          <a:xfrm>
            <a:off x="8046720" y="1737360"/>
            <a:ext cx="64008" cy="1828800"/>
          </a:xfrm>
          <a:prstGeom prst="rect">
            <a:avLst/>
          </a:prstGeom>
          <a:solidFill>
            <a:srgbClr val="1FC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20">
            <a:extLst>
              <a:ext uri="{FF2B5EF4-FFF2-40B4-BE49-F238E27FC236}">
                <a16:creationId xmlns:a16="http://schemas.microsoft.com/office/drawing/2014/main" id="{78DED168-86AC-961F-9941-40E4FB9AF51C}"/>
              </a:ext>
            </a:extLst>
          </p:cNvPr>
          <p:cNvSpPr/>
          <p:nvPr/>
        </p:nvSpPr>
        <p:spPr>
          <a:xfrm>
            <a:off x="2514600" y="3886200"/>
            <a:ext cx="3429000" cy="155448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800" b="1">
                <a:solidFill>
                  <a:srgbClr val="F8FAFF"/>
                </a:solidFill>
                <a:latin typeface="Aptos Display"/>
              </a:defRPr>
            </a:pPr>
            <a:r>
              <a:t>04  Control</a:t>
            </a:r>
          </a:p>
          <a:p>
            <a:pPr>
              <a:spcBef>
                <a:spcPts val="700"/>
              </a:spcBef>
              <a:defRPr sz="1250">
                <a:solidFill>
                  <a:srgbClr val="E0E7F6"/>
                </a:solidFill>
                <a:latin typeface="Aptos"/>
              </a:defRPr>
            </a:pPr>
            <a:r>
              <a:t>Exception Subprocess catches failures and prepares administrator notification.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3F2815E-35FD-FDBD-4ED1-486ADC8D93BE}"/>
              </a:ext>
            </a:extLst>
          </p:cNvPr>
          <p:cNvSpPr/>
          <p:nvPr/>
        </p:nvSpPr>
        <p:spPr>
          <a:xfrm>
            <a:off x="2514600" y="3886200"/>
            <a:ext cx="64008" cy="1554480"/>
          </a:xfrm>
          <a:prstGeom prst="rect">
            <a:avLst/>
          </a:prstGeom>
          <a:solidFill>
            <a:srgbClr val="EE5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22">
            <a:extLst>
              <a:ext uri="{FF2B5EF4-FFF2-40B4-BE49-F238E27FC236}">
                <a16:creationId xmlns:a16="http://schemas.microsoft.com/office/drawing/2014/main" id="{A86AAC56-4285-F2C0-E8FA-98C3B88F376E}"/>
              </a:ext>
            </a:extLst>
          </p:cNvPr>
          <p:cNvSpPr/>
          <p:nvPr/>
        </p:nvSpPr>
        <p:spPr>
          <a:xfrm>
            <a:off x="6199632" y="3886200"/>
            <a:ext cx="3429000" cy="155448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800" b="1">
                <a:solidFill>
                  <a:srgbClr val="F8FAFF"/>
                </a:solidFill>
                <a:latin typeface="Aptos Display"/>
              </a:defRPr>
            </a:pPr>
            <a:r>
              <a:t>05  Monitor</a:t>
            </a:r>
          </a:p>
          <a:p>
            <a:pPr>
              <a:spcBef>
                <a:spcPts val="700"/>
              </a:spcBef>
              <a:defRPr sz="1250">
                <a:solidFill>
                  <a:srgbClr val="E0E7F6"/>
                </a:solidFill>
                <a:latin typeface="Aptos"/>
              </a:defRPr>
            </a:pPr>
            <a:r>
              <a:t>CPI monitoring, trace, messages and deployment status support validation.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5B03FC1-3DC5-5706-CC71-3F31CCB9C8A4}"/>
              </a:ext>
            </a:extLst>
          </p:cNvPr>
          <p:cNvSpPr/>
          <p:nvPr/>
        </p:nvSpPr>
        <p:spPr>
          <a:xfrm>
            <a:off x="6199632" y="3886200"/>
            <a:ext cx="64008" cy="1554480"/>
          </a:xfrm>
          <a:prstGeom prst="rect">
            <a:avLst/>
          </a:prstGeom>
          <a:solidFill>
            <a:srgbClr val="96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3854375-E6EE-8CAE-25BB-FCD169F3CEAA}"/>
              </a:ext>
            </a:extLst>
          </p:cNvPr>
          <p:cNvSpPr txBox="1"/>
          <p:nvPr/>
        </p:nvSpPr>
        <p:spPr>
          <a:xfrm>
            <a:off x="658368" y="6473952"/>
            <a:ext cx="326563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084AA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Employee Data Synchronization  |  SAP Integration Suite Capstone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C70ECEE-7B12-06F5-E97D-244DF644E7E8}"/>
              </a:ext>
            </a:extLst>
          </p:cNvPr>
          <p:cNvSpPr txBox="1"/>
          <p:nvPr/>
        </p:nvSpPr>
        <p:spPr>
          <a:xfrm>
            <a:off x="11201400" y="64190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8C5E0"/>
                </a:solidFill>
                <a:latin typeface="Aptos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47914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1B37C-2669-F76F-43C6-6E03BBB2B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>
            <a:extLst>
              <a:ext uri="{FF2B5EF4-FFF2-40B4-BE49-F238E27FC236}">
                <a16:creationId xmlns:a16="http://schemas.microsoft.com/office/drawing/2014/main" id="{D8D72409-8B96-9139-012B-FC2254A791B9}"/>
              </a:ext>
            </a:extLst>
          </p:cNvPr>
          <p:cNvCxnSpPr/>
          <p:nvPr/>
        </p:nvCxnSpPr>
        <p:spPr>
          <a:xfrm>
            <a:off x="9326880" y="228600"/>
            <a:ext cx="2651760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89A11264-0B22-0A17-6F88-334A6D6C120E}"/>
              </a:ext>
            </a:extLst>
          </p:cNvPr>
          <p:cNvCxnSpPr/>
          <p:nvPr/>
        </p:nvCxnSpPr>
        <p:spPr>
          <a:xfrm>
            <a:off x="9674352" y="301752"/>
            <a:ext cx="2304288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7D3E413-CDC4-EA30-0DEA-4EC33D3F2617}"/>
              </a:ext>
            </a:extLst>
          </p:cNvPr>
          <p:cNvCxnSpPr/>
          <p:nvPr/>
        </p:nvCxnSpPr>
        <p:spPr>
          <a:xfrm>
            <a:off x="10021824" y="374904"/>
            <a:ext cx="1956816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B5751736-3169-7EE9-FE6F-A802336FCFC8}"/>
              </a:ext>
            </a:extLst>
          </p:cNvPr>
          <p:cNvCxnSpPr/>
          <p:nvPr/>
        </p:nvCxnSpPr>
        <p:spPr>
          <a:xfrm>
            <a:off x="10369296" y="448056"/>
            <a:ext cx="1609344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3131E6FE-2630-2E06-4FDC-9EE880C2E138}"/>
              </a:ext>
            </a:extLst>
          </p:cNvPr>
          <p:cNvCxnSpPr/>
          <p:nvPr/>
        </p:nvCxnSpPr>
        <p:spPr>
          <a:xfrm>
            <a:off x="10716767" y="521208"/>
            <a:ext cx="1261873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80A0EEE8-485F-C8F7-29BF-B64FBAFB5541}"/>
              </a:ext>
            </a:extLst>
          </p:cNvPr>
          <p:cNvCxnSpPr/>
          <p:nvPr/>
        </p:nvCxnSpPr>
        <p:spPr>
          <a:xfrm>
            <a:off x="11064240" y="594360"/>
            <a:ext cx="914400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AE82480A-85E8-1D93-3E5E-C1DAD8139CAE}"/>
              </a:ext>
            </a:extLst>
          </p:cNvPr>
          <p:cNvCxnSpPr/>
          <p:nvPr/>
        </p:nvCxnSpPr>
        <p:spPr>
          <a:xfrm>
            <a:off x="11411712" y="667512"/>
            <a:ext cx="566928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rc 8">
            <a:extLst>
              <a:ext uri="{FF2B5EF4-FFF2-40B4-BE49-F238E27FC236}">
                <a16:creationId xmlns:a16="http://schemas.microsoft.com/office/drawing/2014/main" id="{F1C09FD3-C3B7-2D07-B5FC-D08BB3D2FE9B}"/>
              </a:ext>
            </a:extLst>
          </p:cNvPr>
          <p:cNvSpPr/>
          <p:nvPr/>
        </p:nvSpPr>
        <p:spPr>
          <a:xfrm>
            <a:off x="-731520" y="5989320"/>
            <a:ext cx="7315200" cy="1280160"/>
          </a:xfrm>
          <a:prstGeom prst="arc">
            <a:avLst/>
          </a:prstGeom>
          <a:noFill/>
          <a:ln w="25400">
            <a:solidFill>
              <a:srgbClr val="6F3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9203518B-D842-DB3D-B50D-6FE48C97DB12}"/>
              </a:ext>
            </a:extLst>
          </p:cNvPr>
          <p:cNvSpPr/>
          <p:nvPr/>
        </p:nvSpPr>
        <p:spPr>
          <a:xfrm>
            <a:off x="-594360" y="6099048"/>
            <a:ext cx="7315200" cy="1280160"/>
          </a:xfrm>
          <a:prstGeom prst="arc">
            <a:avLst/>
          </a:prstGeom>
          <a:noFill/>
          <a:ln w="25400">
            <a:solidFill>
              <a:srgbClr val="27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82EE6C5B-4934-2CCA-0FA3-4D2546C3513F}"/>
              </a:ext>
            </a:extLst>
          </p:cNvPr>
          <p:cNvSpPr/>
          <p:nvPr/>
        </p:nvSpPr>
        <p:spPr>
          <a:xfrm>
            <a:off x="-457200" y="6208776"/>
            <a:ext cx="7315200" cy="1280160"/>
          </a:xfrm>
          <a:prstGeom prst="arc">
            <a:avLst/>
          </a:prstGeom>
          <a:noFill/>
          <a:ln w="25400">
            <a:solidFill>
              <a:srgbClr val="96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591C79-390D-D0C5-3D86-E687F3ECF7A5}"/>
              </a:ext>
            </a:extLst>
          </p:cNvPr>
          <p:cNvSpPr txBox="1"/>
          <p:nvPr/>
        </p:nvSpPr>
        <p:spPr>
          <a:xfrm>
            <a:off x="640080" y="411480"/>
            <a:ext cx="640175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F"/>
                </a:solidFill>
                <a:latin typeface="Aptos Display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Project Objective &amp; Business Scenario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A7A71E-0C90-0D02-920D-4F4322FCE02C}"/>
              </a:ext>
            </a:extLst>
          </p:cNvPr>
          <p:cNvSpPr/>
          <p:nvPr/>
        </p:nvSpPr>
        <p:spPr>
          <a:xfrm>
            <a:off x="658368" y="1417320"/>
            <a:ext cx="1051560" cy="41148"/>
          </a:xfrm>
          <a:prstGeom prst="rect">
            <a:avLst/>
          </a:prstGeom>
          <a:solidFill>
            <a:srgbClr val="96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A8F4FD6-2255-AAC8-41CF-84511D54FEE2}"/>
              </a:ext>
            </a:extLst>
          </p:cNvPr>
          <p:cNvSpPr/>
          <p:nvPr/>
        </p:nvSpPr>
        <p:spPr>
          <a:xfrm>
            <a:off x="685800" y="1737360"/>
            <a:ext cx="5303520" cy="361188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2000" b="1">
                <a:solidFill>
                  <a:srgbClr val="F8FAFF"/>
                </a:solidFill>
                <a:latin typeface="Aptos Display"/>
              </a:defRPr>
            </a:pPr>
            <a:r>
              <a:rPr dirty="0"/>
              <a:t>Project Objective</a:t>
            </a:r>
            <a:endParaRPr lang="en-US" dirty="0"/>
          </a:p>
          <a:p>
            <a:pPr algn="ctr">
              <a:defRPr sz="2000" b="1">
                <a:solidFill>
                  <a:srgbClr val="F8FAFF"/>
                </a:solidFill>
                <a:latin typeface="Aptos Display"/>
              </a:defRPr>
            </a:pPr>
            <a:endParaRPr dirty="0"/>
          </a:p>
          <a:p>
            <a:pPr algn="ctr">
              <a:spcAft>
                <a:spcPts val="800"/>
              </a:spcAft>
              <a:defRPr sz="1300">
                <a:solidFill>
                  <a:srgbClr val="E0E7F6"/>
                </a:solidFill>
                <a:latin typeface="Aptos"/>
              </a:defRPr>
            </a:pPr>
            <a:r>
              <a:rPr lang="en-IN" sz="1300" dirty="0"/>
              <a:t>Automate employee data synchronization using SAP Cloud Integration, connecting SuccessFactors, S/4HANA, SFTP, and Mail. Transform employee data, generate payroll CSV files, and send failure notifications to administrators.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E7E0CF-5077-8423-74CA-F65908403086}"/>
              </a:ext>
            </a:extLst>
          </p:cNvPr>
          <p:cNvSpPr/>
          <p:nvPr/>
        </p:nvSpPr>
        <p:spPr>
          <a:xfrm>
            <a:off x="685800" y="1737360"/>
            <a:ext cx="64008" cy="3611880"/>
          </a:xfrm>
          <a:prstGeom prst="rect">
            <a:avLst/>
          </a:prstGeom>
          <a:solidFill>
            <a:srgbClr val="6F3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8A18BE4-5432-70A6-18FE-35760DCCF495}"/>
              </a:ext>
            </a:extLst>
          </p:cNvPr>
          <p:cNvSpPr/>
          <p:nvPr/>
        </p:nvSpPr>
        <p:spPr>
          <a:xfrm>
            <a:off x="6263640" y="1737360"/>
            <a:ext cx="5257800" cy="361188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2000" b="1">
                <a:solidFill>
                  <a:srgbClr val="F8FAFF"/>
                </a:solidFill>
                <a:latin typeface="Aptos Display"/>
              </a:defRPr>
            </a:pPr>
            <a:r>
              <a:rPr dirty="0"/>
              <a:t>Business Scenario</a:t>
            </a:r>
            <a:endParaRPr lang="en-US" dirty="0"/>
          </a:p>
          <a:p>
            <a:pPr algn="ctr">
              <a:defRPr sz="2000" b="1">
                <a:solidFill>
                  <a:srgbClr val="F8FAFF"/>
                </a:solidFill>
                <a:latin typeface="Aptos Display"/>
              </a:defRPr>
            </a:pPr>
            <a:endParaRPr lang="en-IN" dirty="0"/>
          </a:p>
          <a:p>
            <a:pPr algn="ctr">
              <a:spcAft>
                <a:spcPts val="800"/>
              </a:spcAft>
              <a:defRPr sz="1300">
                <a:solidFill>
                  <a:srgbClr val="E0E7F6"/>
                </a:solidFill>
                <a:latin typeface="Aptos"/>
              </a:defRPr>
            </a:pPr>
            <a:r>
              <a:rPr lang="en-IN" dirty="0"/>
              <a:t>HR source: SAP SuccessFactors.</a:t>
            </a:r>
          </a:p>
          <a:p>
            <a:pPr algn="ctr">
              <a:spcAft>
                <a:spcPts val="800"/>
              </a:spcAft>
              <a:defRPr sz="1300">
                <a:solidFill>
                  <a:srgbClr val="E0E7F6"/>
                </a:solidFill>
                <a:latin typeface="Aptos"/>
              </a:defRPr>
            </a:pPr>
            <a:r>
              <a:rPr lang="en-IN" dirty="0"/>
              <a:t>Core integration: SAP Cloud Integration.</a:t>
            </a:r>
          </a:p>
          <a:p>
            <a:pPr algn="ctr">
              <a:spcAft>
                <a:spcPts val="800"/>
              </a:spcAft>
              <a:defRPr sz="1300">
                <a:solidFill>
                  <a:srgbClr val="E0E7F6"/>
                </a:solidFill>
                <a:latin typeface="Aptos"/>
              </a:defRPr>
            </a:pPr>
            <a:r>
              <a:rPr lang="en-IN" dirty="0"/>
              <a:t>Finance/master-data target: SAP S/4HANA On-Premise.</a:t>
            </a:r>
          </a:p>
          <a:p>
            <a:pPr algn="ctr">
              <a:spcAft>
                <a:spcPts val="800"/>
              </a:spcAft>
              <a:defRPr sz="1300">
                <a:solidFill>
                  <a:srgbClr val="E0E7F6"/>
                </a:solidFill>
                <a:latin typeface="Aptos"/>
              </a:defRPr>
            </a:pPr>
            <a:r>
              <a:rPr lang="en-IN" dirty="0"/>
              <a:t>Payroll handoff: SFTP directory AEH.</a:t>
            </a:r>
          </a:p>
          <a:p>
            <a:pPr algn="ctr">
              <a:spcAft>
                <a:spcPts val="800"/>
              </a:spcAft>
              <a:defRPr sz="1300">
                <a:solidFill>
                  <a:srgbClr val="E0E7F6"/>
                </a:solidFill>
                <a:latin typeface="Aptos"/>
              </a:defRPr>
            </a:pPr>
            <a:r>
              <a:rPr lang="en-IN" dirty="0"/>
              <a:t>Failure path: Mail notification to the administrator.</a:t>
            </a:r>
          </a:p>
          <a:p>
            <a:pPr algn="ctr">
              <a:defRPr sz="2000" b="1">
                <a:solidFill>
                  <a:srgbClr val="F8FAFF"/>
                </a:solidFill>
                <a:latin typeface="Aptos Display"/>
              </a:defRPr>
            </a:pPr>
            <a:endParaRPr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4C09F9-ACD7-4E74-5FB5-C450DA1F0FBE}"/>
              </a:ext>
            </a:extLst>
          </p:cNvPr>
          <p:cNvSpPr/>
          <p:nvPr/>
        </p:nvSpPr>
        <p:spPr>
          <a:xfrm>
            <a:off x="6263640" y="1737360"/>
            <a:ext cx="64008" cy="3611880"/>
          </a:xfrm>
          <a:prstGeom prst="rect">
            <a:avLst/>
          </a:prstGeom>
          <a:solidFill>
            <a:srgbClr val="2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042854-4FAC-B847-3674-CEB22653A0BE}"/>
              </a:ext>
            </a:extLst>
          </p:cNvPr>
          <p:cNvSpPr txBox="1"/>
          <p:nvPr/>
        </p:nvSpPr>
        <p:spPr>
          <a:xfrm>
            <a:off x="658368" y="6473952"/>
            <a:ext cx="326563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084AA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Employee Data Synchronization  |  SAP Integration Suite Capstone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E75D10-7F3E-D384-8805-5F78A5B65F9F}"/>
              </a:ext>
            </a:extLst>
          </p:cNvPr>
          <p:cNvSpPr txBox="1"/>
          <p:nvPr/>
        </p:nvSpPr>
        <p:spPr>
          <a:xfrm>
            <a:off x="11201400" y="64190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8C5E0"/>
                </a:solidFill>
                <a:latin typeface="Aptos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93122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EB11B-C3B5-C261-55EB-BE06363A9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>
            <a:extLst>
              <a:ext uri="{FF2B5EF4-FFF2-40B4-BE49-F238E27FC236}">
                <a16:creationId xmlns:a16="http://schemas.microsoft.com/office/drawing/2014/main" id="{26E4320A-AD1F-F162-3695-9C2E12E4D904}"/>
              </a:ext>
            </a:extLst>
          </p:cNvPr>
          <p:cNvCxnSpPr/>
          <p:nvPr/>
        </p:nvCxnSpPr>
        <p:spPr>
          <a:xfrm>
            <a:off x="9326880" y="228600"/>
            <a:ext cx="2651760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1538E332-D93D-778F-A90C-59BEB87E0229}"/>
              </a:ext>
            </a:extLst>
          </p:cNvPr>
          <p:cNvCxnSpPr/>
          <p:nvPr/>
        </p:nvCxnSpPr>
        <p:spPr>
          <a:xfrm>
            <a:off x="9674352" y="301752"/>
            <a:ext cx="2304288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F0F434B6-E0D1-789C-BDF2-DE153B1E0A30}"/>
              </a:ext>
            </a:extLst>
          </p:cNvPr>
          <p:cNvCxnSpPr/>
          <p:nvPr/>
        </p:nvCxnSpPr>
        <p:spPr>
          <a:xfrm>
            <a:off x="10021824" y="374904"/>
            <a:ext cx="1956816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9EC2B578-BB48-FC2D-B191-BF1AA7773FEE}"/>
              </a:ext>
            </a:extLst>
          </p:cNvPr>
          <p:cNvCxnSpPr/>
          <p:nvPr/>
        </p:nvCxnSpPr>
        <p:spPr>
          <a:xfrm>
            <a:off x="10369296" y="448056"/>
            <a:ext cx="1609344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6C449C30-1417-9620-052F-86BAA89360F6}"/>
              </a:ext>
            </a:extLst>
          </p:cNvPr>
          <p:cNvCxnSpPr/>
          <p:nvPr/>
        </p:nvCxnSpPr>
        <p:spPr>
          <a:xfrm>
            <a:off x="10716767" y="521208"/>
            <a:ext cx="1261873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59F50062-631D-7670-8CBA-2D181A677372}"/>
              </a:ext>
            </a:extLst>
          </p:cNvPr>
          <p:cNvCxnSpPr/>
          <p:nvPr/>
        </p:nvCxnSpPr>
        <p:spPr>
          <a:xfrm>
            <a:off x="11064240" y="594360"/>
            <a:ext cx="914400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CC0BE674-0013-21AE-1116-8A5FA2E77B12}"/>
              </a:ext>
            </a:extLst>
          </p:cNvPr>
          <p:cNvCxnSpPr/>
          <p:nvPr/>
        </p:nvCxnSpPr>
        <p:spPr>
          <a:xfrm>
            <a:off x="11411712" y="667512"/>
            <a:ext cx="566928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rc 8">
            <a:extLst>
              <a:ext uri="{FF2B5EF4-FFF2-40B4-BE49-F238E27FC236}">
                <a16:creationId xmlns:a16="http://schemas.microsoft.com/office/drawing/2014/main" id="{6C93B3A3-0702-FAB8-0B36-93AA97229691}"/>
              </a:ext>
            </a:extLst>
          </p:cNvPr>
          <p:cNvSpPr/>
          <p:nvPr/>
        </p:nvSpPr>
        <p:spPr>
          <a:xfrm>
            <a:off x="-731520" y="5989320"/>
            <a:ext cx="7315200" cy="1280160"/>
          </a:xfrm>
          <a:prstGeom prst="arc">
            <a:avLst/>
          </a:prstGeom>
          <a:noFill/>
          <a:ln w="25400">
            <a:solidFill>
              <a:srgbClr val="6F3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928FECC1-180E-9A96-AEFD-9CD42CE0F333}"/>
              </a:ext>
            </a:extLst>
          </p:cNvPr>
          <p:cNvSpPr/>
          <p:nvPr/>
        </p:nvSpPr>
        <p:spPr>
          <a:xfrm>
            <a:off x="-594360" y="6099048"/>
            <a:ext cx="7315200" cy="1280160"/>
          </a:xfrm>
          <a:prstGeom prst="arc">
            <a:avLst/>
          </a:prstGeom>
          <a:noFill/>
          <a:ln w="25400">
            <a:solidFill>
              <a:srgbClr val="27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F949F570-6AA0-FB3F-1123-87AC08E6BAC3}"/>
              </a:ext>
            </a:extLst>
          </p:cNvPr>
          <p:cNvSpPr/>
          <p:nvPr/>
        </p:nvSpPr>
        <p:spPr>
          <a:xfrm>
            <a:off x="-457200" y="6208776"/>
            <a:ext cx="7315200" cy="1280160"/>
          </a:xfrm>
          <a:prstGeom prst="arc">
            <a:avLst/>
          </a:prstGeom>
          <a:noFill/>
          <a:ln w="25400">
            <a:solidFill>
              <a:srgbClr val="96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154D43-0F99-79C5-23C7-14DE36A90F3B}"/>
              </a:ext>
            </a:extLst>
          </p:cNvPr>
          <p:cNvSpPr txBox="1"/>
          <p:nvPr/>
        </p:nvSpPr>
        <p:spPr>
          <a:xfrm>
            <a:off x="640080" y="411480"/>
            <a:ext cx="327602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F"/>
                </a:solidFill>
                <a:latin typeface="Aptos Display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System Landscape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28CA85-FBBC-03C9-0421-E1287F0532C7}"/>
              </a:ext>
            </a:extLst>
          </p:cNvPr>
          <p:cNvSpPr txBox="1"/>
          <p:nvPr/>
        </p:nvSpPr>
        <p:spPr>
          <a:xfrm>
            <a:off x="658368" y="987552"/>
            <a:ext cx="6378285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B8C5E0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solution connects four business-facing systems through SAP Cloud Integration.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EEAD5E-F8E7-E006-44E0-E2358520908F}"/>
              </a:ext>
            </a:extLst>
          </p:cNvPr>
          <p:cNvSpPr/>
          <p:nvPr/>
        </p:nvSpPr>
        <p:spPr>
          <a:xfrm>
            <a:off x="658368" y="1417320"/>
            <a:ext cx="1051560" cy="41148"/>
          </a:xfrm>
          <a:prstGeom prst="rect">
            <a:avLst/>
          </a:prstGeom>
          <a:solidFill>
            <a:srgbClr val="96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F58C3D7-8DF6-356F-8736-EFE7BE7A612C}"/>
              </a:ext>
            </a:extLst>
          </p:cNvPr>
          <p:cNvSpPr/>
          <p:nvPr/>
        </p:nvSpPr>
        <p:spPr>
          <a:xfrm>
            <a:off x="640080" y="2423160"/>
            <a:ext cx="1828800" cy="1097280"/>
          </a:xfrm>
          <a:prstGeom prst="roundRect">
            <a:avLst/>
          </a:prstGeom>
          <a:solidFill>
            <a:srgbClr val="0D2348"/>
          </a:solidFill>
          <a:ln w="19050">
            <a:solidFill>
              <a:srgbClr val="6F3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8FAFF"/>
                </a:solidFill>
                <a:latin typeface="Aptos Display"/>
              </a:defRPr>
            </a:pPr>
            <a:r>
              <a:t>SuccessFactors</a:t>
            </a:r>
          </a:p>
          <a:p>
            <a:pPr algn="ctr">
              <a:defRPr sz="950">
                <a:solidFill>
                  <a:srgbClr val="B8C5E0"/>
                </a:solidFill>
                <a:latin typeface="Aptos"/>
              </a:defRPr>
            </a:pPr>
            <a:r>
              <a:t>HR employee master data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0ECB70B-DAB8-2BF2-D261-CB11DF377BD6}"/>
              </a:ext>
            </a:extLst>
          </p:cNvPr>
          <p:cNvSpPr/>
          <p:nvPr/>
        </p:nvSpPr>
        <p:spPr>
          <a:xfrm>
            <a:off x="2971800" y="2423160"/>
            <a:ext cx="1828800" cy="1097280"/>
          </a:xfrm>
          <a:prstGeom prst="roundRect">
            <a:avLst/>
          </a:prstGeom>
          <a:solidFill>
            <a:srgbClr val="0D2348"/>
          </a:solidFill>
          <a:ln w="19050">
            <a:solidFill>
              <a:srgbClr val="27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8FAFF"/>
                </a:solidFill>
                <a:latin typeface="Aptos Display"/>
              </a:defRPr>
            </a:pPr>
            <a:r>
              <a:t>SAP Cloud Integration</a:t>
            </a:r>
          </a:p>
          <a:p>
            <a:pPr algn="ctr">
              <a:defRPr sz="950">
                <a:solidFill>
                  <a:srgbClr val="B8C5E0"/>
                </a:solidFill>
                <a:latin typeface="Aptos"/>
              </a:defRPr>
            </a:pPr>
            <a:r>
              <a:t>Orchestration • Mapping • Routing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E2F4A56-02C0-973F-2626-C69B7CEF7841}"/>
              </a:ext>
            </a:extLst>
          </p:cNvPr>
          <p:cNvSpPr/>
          <p:nvPr/>
        </p:nvSpPr>
        <p:spPr>
          <a:xfrm>
            <a:off x="5486400" y="2423160"/>
            <a:ext cx="1828800" cy="1097280"/>
          </a:xfrm>
          <a:prstGeom prst="roundRect">
            <a:avLst/>
          </a:prstGeom>
          <a:solidFill>
            <a:srgbClr val="0D2348"/>
          </a:solidFill>
          <a:ln w="19050">
            <a:solidFill>
              <a:srgbClr val="1FC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8FAFF"/>
                </a:solidFill>
                <a:latin typeface="Aptos Display"/>
              </a:defRPr>
            </a:pPr>
            <a:r>
              <a:t>S/4HANA On-Premise</a:t>
            </a:r>
          </a:p>
          <a:p>
            <a:pPr algn="ctr">
              <a:defRPr sz="950">
                <a:solidFill>
                  <a:srgbClr val="B8C5E0"/>
                </a:solidFill>
                <a:latin typeface="Aptos"/>
              </a:defRPr>
            </a:pPr>
            <a:r>
              <a:t>Employee data / OData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C1AC2C4-1E9C-42D0-6C20-FD5F0B5C256C}"/>
              </a:ext>
            </a:extLst>
          </p:cNvPr>
          <p:cNvSpPr/>
          <p:nvPr/>
        </p:nvSpPr>
        <p:spPr>
          <a:xfrm>
            <a:off x="8001000" y="2423160"/>
            <a:ext cx="1828800" cy="1097280"/>
          </a:xfrm>
          <a:prstGeom prst="roundRect">
            <a:avLst/>
          </a:prstGeom>
          <a:solidFill>
            <a:srgbClr val="0D2348"/>
          </a:solidFill>
          <a:ln w="1905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8FAFF"/>
                </a:solidFill>
                <a:latin typeface="Aptos Display"/>
              </a:defRPr>
            </a:pPr>
            <a:r>
              <a:t>SFTP Server</a:t>
            </a:r>
          </a:p>
          <a:p>
            <a:pPr algn="ctr">
              <a:defRPr sz="950">
                <a:solidFill>
                  <a:srgbClr val="B8C5E0"/>
                </a:solidFill>
                <a:latin typeface="Aptos"/>
              </a:defRPr>
            </a:pPr>
            <a:r>
              <a:t>Payroll CSV exchange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BC76998-8E66-2680-D5AE-F43C109DAA7C}"/>
              </a:ext>
            </a:extLst>
          </p:cNvPr>
          <p:cNvSpPr/>
          <p:nvPr/>
        </p:nvSpPr>
        <p:spPr>
          <a:xfrm>
            <a:off x="10104120" y="2423160"/>
            <a:ext cx="1828800" cy="1097280"/>
          </a:xfrm>
          <a:prstGeom prst="roundRect">
            <a:avLst/>
          </a:prstGeom>
          <a:solidFill>
            <a:srgbClr val="0D2348"/>
          </a:solidFill>
          <a:ln w="19050">
            <a:solidFill>
              <a:srgbClr val="EE5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8FAFF"/>
                </a:solidFill>
                <a:latin typeface="Aptos Display"/>
              </a:defRPr>
            </a:pPr>
            <a:r>
              <a:t>Mail</a:t>
            </a:r>
          </a:p>
          <a:p>
            <a:pPr algn="ctr">
              <a:defRPr sz="950">
                <a:solidFill>
                  <a:srgbClr val="B8C5E0"/>
                </a:solidFill>
                <a:latin typeface="Aptos"/>
              </a:defRPr>
            </a:pPr>
            <a:r>
              <a:t>Exception notification</a:t>
            </a: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D2BF7D52-5379-D46F-8E50-7977EE7BA27E}"/>
              </a:ext>
            </a:extLst>
          </p:cNvPr>
          <p:cNvCxnSpPr/>
          <p:nvPr/>
        </p:nvCxnSpPr>
        <p:spPr>
          <a:xfrm>
            <a:off x="2468880" y="2971800"/>
            <a:ext cx="502920" cy="0"/>
          </a:xfrm>
          <a:prstGeom prst="line">
            <a:avLst/>
          </a:prstGeom>
          <a:ln w="25400">
            <a:solidFill>
              <a:srgbClr val="96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A23FFE6-4A34-7C55-81D5-FB6C70E0E753}"/>
              </a:ext>
            </a:extLst>
          </p:cNvPr>
          <p:cNvSpPr/>
          <p:nvPr/>
        </p:nvSpPr>
        <p:spPr>
          <a:xfrm rot="5400000">
            <a:off x="2916936" y="2907792"/>
            <a:ext cx="128016" cy="128016"/>
          </a:xfrm>
          <a:prstGeom prst="triangle">
            <a:avLst/>
          </a:prstGeom>
          <a:solidFill>
            <a:srgbClr val="96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FA37270F-32B7-7F30-EF76-787F5284F636}"/>
              </a:ext>
            </a:extLst>
          </p:cNvPr>
          <p:cNvCxnSpPr/>
          <p:nvPr/>
        </p:nvCxnSpPr>
        <p:spPr>
          <a:xfrm>
            <a:off x="4800600" y="2971800"/>
            <a:ext cx="685800" cy="0"/>
          </a:xfrm>
          <a:prstGeom prst="line">
            <a:avLst/>
          </a:prstGeom>
          <a:ln w="25400">
            <a:solidFill>
              <a:srgbClr val="27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171BFB9-69B8-524A-3015-47A48B01A6AE}"/>
              </a:ext>
            </a:extLst>
          </p:cNvPr>
          <p:cNvSpPr/>
          <p:nvPr/>
        </p:nvSpPr>
        <p:spPr>
          <a:xfrm rot="5400000">
            <a:off x="5431536" y="2907792"/>
            <a:ext cx="128016" cy="128016"/>
          </a:xfrm>
          <a:prstGeom prst="triangle">
            <a:avLst/>
          </a:prstGeom>
          <a:solidFill>
            <a:srgbClr val="2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30BB7B74-30EC-F8B4-0918-DCC509796D3B}"/>
              </a:ext>
            </a:extLst>
          </p:cNvPr>
          <p:cNvCxnSpPr/>
          <p:nvPr/>
        </p:nvCxnSpPr>
        <p:spPr>
          <a:xfrm>
            <a:off x="7315200" y="2971800"/>
            <a:ext cx="685800" cy="0"/>
          </a:xfrm>
          <a:prstGeom prst="line">
            <a:avLst/>
          </a:prstGeom>
          <a:ln w="25400">
            <a:solidFill>
              <a:srgbClr val="1FCD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3A5D077B-4393-098A-361F-14A2DE480E95}"/>
              </a:ext>
            </a:extLst>
          </p:cNvPr>
          <p:cNvSpPr/>
          <p:nvPr/>
        </p:nvSpPr>
        <p:spPr>
          <a:xfrm rot="5400000">
            <a:off x="7946136" y="2907792"/>
            <a:ext cx="128016" cy="128016"/>
          </a:xfrm>
          <a:prstGeom prst="triangle">
            <a:avLst/>
          </a:prstGeom>
          <a:solidFill>
            <a:srgbClr val="1FC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17473E48-4126-5190-4220-DC6713976FE2}"/>
              </a:ext>
            </a:extLst>
          </p:cNvPr>
          <p:cNvCxnSpPr/>
          <p:nvPr/>
        </p:nvCxnSpPr>
        <p:spPr>
          <a:xfrm>
            <a:off x="9829800" y="2971800"/>
            <a:ext cx="274320" cy="0"/>
          </a:xfrm>
          <a:prstGeom prst="line">
            <a:avLst/>
          </a:prstGeom>
          <a:ln w="25400">
            <a:solidFill>
              <a:srgbClr val="EE5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EA941B0-FC6E-BB21-D210-83F0C99B537B}"/>
              </a:ext>
            </a:extLst>
          </p:cNvPr>
          <p:cNvSpPr/>
          <p:nvPr/>
        </p:nvSpPr>
        <p:spPr>
          <a:xfrm rot="5400000">
            <a:off x="10049256" y="2907792"/>
            <a:ext cx="128016" cy="128016"/>
          </a:xfrm>
          <a:prstGeom prst="triangle">
            <a:avLst/>
          </a:prstGeom>
          <a:solidFill>
            <a:srgbClr val="EE5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7AC2F04-4F17-D55B-D4C3-2990AE149925}"/>
              </a:ext>
            </a:extLst>
          </p:cNvPr>
          <p:cNvSpPr/>
          <p:nvPr/>
        </p:nvSpPr>
        <p:spPr>
          <a:xfrm>
            <a:off x="914400" y="4160520"/>
            <a:ext cx="2926080" cy="100584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400" b="1">
                <a:solidFill>
                  <a:srgbClr val="F8FAFF"/>
                </a:solidFill>
                <a:latin typeface="Aptos Display"/>
              </a:defRPr>
            </a:pPr>
            <a:r>
              <a:t>SuccessFactors Credential</a:t>
            </a:r>
          </a:p>
          <a:p>
            <a:pPr>
              <a:spcBef>
                <a:spcPts val="700"/>
              </a:spcBef>
              <a:defRPr sz="1100">
                <a:solidFill>
                  <a:srgbClr val="E0E7F6"/>
                </a:solidFill>
                <a:latin typeface="Aptos"/>
              </a:defRPr>
            </a:pPr>
            <a:r>
              <a:t>SFCred_Laxmi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AB8919-F3AF-08AA-8CDC-978AC3F37F7A}"/>
              </a:ext>
            </a:extLst>
          </p:cNvPr>
          <p:cNvSpPr/>
          <p:nvPr/>
        </p:nvSpPr>
        <p:spPr>
          <a:xfrm>
            <a:off x="914400" y="4160520"/>
            <a:ext cx="64008" cy="1005840"/>
          </a:xfrm>
          <a:prstGeom prst="rect">
            <a:avLst/>
          </a:prstGeom>
          <a:solidFill>
            <a:srgbClr val="6F3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D9ACD41-D304-EDCB-0171-F3D080D7399B}"/>
              </a:ext>
            </a:extLst>
          </p:cNvPr>
          <p:cNvSpPr/>
          <p:nvPr/>
        </p:nvSpPr>
        <p:spPr>
          <a:xfrm>
            <a:off x="4206240" y="4160520"/>
            <a:ext cx="2926080" cy="100584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400" b="1">
                <a:solidFill>
                  <a:srgbClr val="F8FAFF"/>
                </a:solidFill>
                <a:latin typeface="Aptos Display"/>
              </a:defRPr>
            </a:pPr>
            <a:r>
              <a:t>S/4HANA OData Credential</a:t>
            </a:r>
          </a:p>
          <a:p>
            <a:pPr>
              <a:spcBef>
                <a:spcPts val="700"/>
              </a:spcBef>
              <a:defRPr sz="1100">
                <a:solidFill>
                  <a:srgbClr val="E0E7F6"/>
                </a:solidFill>
                <a:latin typeface="Aptos"/>
              </a:defRPr>
            </a:pPr>
            <a:r>
              <a:t>L4C_Cred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3C6ECB-36EE-5658-B406-AD691FFC2258}"/>
              </a:ext>
            </a:extLst>
          </p:cNvPr>
          <p:cNvSpPr/>
          <p:nvPr/>
        </p:nvSpPr>
        <p:spPr>
          <a:xfrm>
            <a:off x="4206240" y="4160520"/>
            <a:ext cx="64008" cy="1005840"/>
          </a:xfrm>
          <a:prstGeom prst="rect">
            <a:avLst/>
          </a:prstGeom>
          <a:solidFill>
            <a:srgbClr val="2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C010394-D49C-0103-6D51-B329F6662B1D}"/>
              </a:ext>
            </a:extLst>
          </p:cNvPr>
          <p:cNvSpPr/>
          <p:nvPr/>
        </p:nvSpPr>
        <p:spPr>
          <a:xfrm>
            <a:off x="7498079" y="4160520"/>
            <a:ext cx="1920240" cy="100584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400" b="1">
                <a:solidFill>
                  <a:srgbClr val="F8FAFF"/>
                </a:solidFill>
                <a:latin typeface="Aptos Display"/>
              </a:defRPr>
            </a:pPr>
            <a:r>
              <a:t>SFTP</a:t>
            </a:r>
          </a:p>
          <a:p>
            <a:pPr>
              <a:spcBef>
                <a:spcPts val="700"/>
              </a:spcBef>
              <a:defRPr sz="1100">
                <a:solidFill>
                  <a:srgbClr val="E0E7F6"/>
                </a:solidFill>
                <a:latin typeface="Aptos"/>
              </a:defRPr>
            </a:pPr>
            <a:r>
              <a:t>Personal account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17985B-FB25-170A-E338-D32C08721832}"/>
              </a:ext>
            </a:extLst>
          </p:cNvPr>
          <p:cNvSpPr/>
          <p:nvPr/>
        </p:nvSpPr>
        <p:spPr>
          <a:xfrm>
            <a:off x="7498079" y="4160520"/>
            <a:ext cx="64008" cy="1005840"/>
          </a:xfrm>
          <a:prstGeom prst="rect">
            <a:avLst/>
          </a:prstGeom>
          <a:solidFill>
            <a:srgbClr val="1FC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2D05992-358B-A29D-3252-C88C37D80D46}"/>
              </a:ext>
            </a:extLst>
          </p:cNvPr>
          <p:cNvSpPr/>
          <p:nvPr/>
        </p:nvSpPr>
        <p:spPr>
          <a:xfrm>
            <a:off x="9646920" y="4160520"/>
            <a:ext cx="1920240" cy="100584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400" b="1">
                <a:solidFill>
                  <a:srgbClr val="F8FAFF"/>
                </a:solidFill>
                <a:latin typeface="Aptos Display"/>
              </a:defRPr>
            </a:pPr>
            <a:r>
              <a:t>Mail</a:t>
            </a:r>
          </a:p>
          <a:p>
            <a:pPr>
              <a:spcBef>
                <a:spcPts val="700"/>
              </a:spcBef>
              <a:defRPr sz="1100">
                <a:solidFill>
                  <a:srgbClr val="E0E7F6"/>
                </a:solidFill>
                <a:latin typeface="Aptos"/>
              </a:defRPr>
            </a:pPr>
            <a:r>
              <a:t>Personal account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A1A3C43-7965-67B2-1F9B-63C7AC7D6DC3}"/>
              </a:ext>
            </a:extLst>
          </p:cNvPr>
          <p:cNvSpPr/>
          <p:nvPr/>
        </p:nvSpPr>
        <p:spPr>
          <a:xfrm>
            <a:off x="9646920" y="4160520"/>
            <a:ext cx="64008" cy="1005840"/>
          </a:xfrm>
          <a:prstGeom prst="rect">
            <a:avLst/>
          </a:prstGeom>
          <a:solidFill>
            <a:srgbClr val="EE5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162EDD-76D5-B852-13CC-D40B04A4C7E5}"/>
              </a:ext>
            </a:extLst>
          </p:cNvPr>
          <p:cNvSpPr txBox="1"/>
          <p:nvPr/>
        </p:nvSpPr>
        <p:spPr>
          <a:xfrm>
            <a:off x="658368" y="6473952"/>
            <a:ext cx="326563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084AA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Employee Data Synchronization  |  SAP Integration Suite Capstone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F4ED00-9C9D-08C7-1D3B-227E15EB68A5}"/>
              </a:ext>
            </a:extLst>
          </p:cNvPr>
          <p:cNvSpPr txBox="1"/>
          <p:nvPr/>
        </p:nvSpPr>
        <p:spPr>
          <a:xfrm>
            <a:off x="11201400" y="64190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8C5E0"/>
                </a:solidFill>
                <a:latin typeface="Aptos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31089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54896-74F2-F742-3EA5-62BC6AF43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>
            <a:extLst>
              <a:ext uri="{FF2B5EF4-FFF2-40B4-BE49-F238E27FC236}">
                <a16:creationId xmlns:a16="http://schemas.microsoft.com/office/drawing/2014/main" id="{1F0A7960-0943-29FD-E505-8B7114F34C28}"/>
              </a:ext>
            </a:extLst>
          </p:cNvPr>
          <p:cNvCxnSpPr/>
          <p:nvPr/>
        </p:nvCxnSpPr>
        <p:spPr>
          <a:xfrm>
            <a:off x="9326880" y="228600"/>
            <a:ext cx="2651760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70D511A9-0371-952D-08F5-338633826772}"/>
              </a:ext>
            </a:extLst>
          </p:cNvPr>
          <p:cNvCxnSpPr/>
          <p:nvPr/>
        </p:nvCxnSpPr>
        <p:spPr>
          <a:xfrm>
            <a:off x="9674352" y="301752"/>
            <a:ext cx="2304288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0AE6702-670D-39D5-8C53-3E346FB1A67C}"/>
              </a:ext>
            </a:extLst>
          </p:cNvPr>
          <p:cNvCxnSpPr/>
          <p:nvPr/>
        </p:nvCxnSpPr>
        <p:spPr>
          <a:xfrm>
            <a:off x="10021824" y="374904"/>
            <a:ext cx="1956816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CF312326-92A3-5852-5409-09ED8C5959FF}"/>
              </a:ext>
            </a:extLst>
          </p:cNvPr>
          <p:cNvCxnSpPr/>
          <p:nvPr/>
        </p:nvCxnSpPr>
        <p:spPr>
          <a:xfrm>
            <a:off x="10369296" y="448056"/>
            <a:ext cx="1609344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0613F27D-3F1E-411A-90C9-5519F5E864C3}"/>
              </a:ext>
            </a:extLst>
          </p:cNvPr>
          <p:cNvCxnSpPr/>
          <p:nvPr/>
        </p:nvCxnSpPr>
        <p:spPr>
          <a:xfrm>
            <a:off x="10716767" y="521208"/>
            <a:ext cx="1261873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44B568D2-9130-DCA7-58A7-183379BA1BA0}"/>
              </a:ext>
            </a:extLst>
          </p:cNvPr>
          <p:cNvCxnSpPr/>
          <p:nvPr/>
        </p:nvCxnSpPr>
        <p:spPr>
          <a:xfrm>
            <a:off x="11064240" y="594360"/>
            <a:ext cx="914400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948978A5-B5DE-3E68-D8E3-0CBC6C72E9D3}"/>
              </a:ext>
            </a:extLst>
          </p:cNvPr>
          <p:cNvCxnSpPr/>
          <p:nvPr/>
        </p:nvCxnSpPr>
        <p:spPr>
          <a:xfrm>
            <a:off x="11411712" y="667512"/>
            <a:ext cx="566928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rc 8">
            <a:extLst>
              <a:ext uri="{FF2B5EF4-FFF2-40B4-BE49-F238E27FC236}">
                <a16:creationId xmlns:a16="http://schemas.microsoft.com/office/drawing/2014/main" id="{E299EB51-C192-0C44-D7B2-53ADBC1F780D}"/>
              </a:ext>
            </a:extLst>
          </p:cNvPr>
          <p:cNvSpPr/>
          <p:nvPr/>
        </p:nvSpPr>
        <p:spPr>
          <a:xfrm>
            <a:off x="-731520" y="5989320"/>
            <a:ext cx="7315200" cy="1280160"/>
          </a:xfrm>
          <a:prstGeom prst="arc">
            <a:avLst/>
          </a:prstGeom>
          <a:noFill/>
          <a:ln w="25400">
            <a:solidFill>
              <a:srgbClr val="6F3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26F4A401-F163-A8A5-8644-0719BD7E0DD6}"/>
              </a:ext>
            </a:extLst>
          </p:cNvPr>
          <p:cNvSpPr/>
          <p:nvPr/>
        </p:nvSpPr>
        <p:spPr>
          <a:xfrm>
            <a:off x="-594360" y="6099048"/>
            <a:ext cx="7315200" cy="1280160"/>
          </a:xfrm>
          <a:prstGeom prst="arc">
            <a:avLst/>
          </a:prstGeom>
          <a:noFill/>
          <a:ln w="25400">
            <a:solidFill>
              <a:srgbClr val="27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72224622-6BD6-42E8-272A-D57E7BDEBD28}"/>
              </a:ext>
            </a:extLst>
          </p:cNvPr>
          <p:cNvSpPr/>
          <p:nvPr/>
        </p:nvSpPr>
        <p:spPr>
          <a:xfrm>
            <a:off x="-457200" y="6208776"/>
            <a:ext cx="7315200" cy="1280160"/>
          </a:xfrm>
          <a:prstGeom prst="arc">
            <a:avLst/>
          </a:prstGeom>
          <a:noFill/>
          <a:ln w="25400">
            <a:solidFill>
              <a:srgbClr val="96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3DD885-6AE9-21A3-E682-D3469E8CDCB9}"/>
              </a:ext>
            </a:extLst>
          </p:cNvPr>
          <p:cNvSpPr txBox="1"/>
          <p:nvPr/>
        </p:nvSpPr>
        <p:spPr>
          <a:xfrm>
            <a:off x="640080" y="411480"/>
            <a:ext cx="544899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F"/>
                </a:solidFill>
                <a:latin typeface="Aptos Display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Consolidated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iFlow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Architecture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40D130-3309-8334-5F6A-3F9C289CDD33}"/>
              </a:ext>
            </a:extLst>
          </p:cNvPr>
          <p:cNvSpPr txBox="1"/>
          <p:nvPr/>
        </p:nvSpPr>
        <p:spPr>
          <a:xfrm>
            <a:off x="658368" y="987552"/>
            <a:ext cx="7467301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B8C5E0"/>
                </a:solidFill>
                <a:latin typeface="Aptos"/>
              </a:defRPr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</a:rPr>
              <a:t>One deployed iFlow combines employee synchronization, payroll delivery and exception handling.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950658-39F9-F3EA-30CB-8FB510F7B64B}"/>
              </a:ext>
            </a:extLst>
          </p:cNvPr>
          <p:cNvSpPr/>
          <p:nvPr/>
        </p:nvSpPr>
        <p:spPr>
          <a:xfrm>
            <a:off x="658368" y="1417320"/>
            <a:ext cx="1051560" cy="41148"/>
          </a:xfrm>
          <a:prstGeom prst="rect">
            <a:avLst/>
          </a:prstGeom>
          <a:solidFill>
            <a:srgbClr val="96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45AFC6A-3A01-EAAB-CCA4-7CFEF9CD6A06}"/>
              </a:ext>
            </a:extLst>
          </p:cNvPr>
          <p:cNvSpPr/>
          <p:nvPr/>
        </p:nvSpPr>
        <p:spPr>
          <a:xfrm>
            <a:off x="685800" y="1920240"/>
            <a:ext cx="1874519" cy="868680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8FAFF"/>
                </a:solidFill>
                <a:latin typeface="Aptos Display"/>
              </a:defRPr>
            </a:pPr>
            <a:r>
              <a:t>SuccessFactors</a:t>
            </a:r>
          </a:p>
          <a:p>
            <a:pPr algn="ctr">
              <a:defRPr sz="950">
                <a:solidFill>
                  <a:srgbClr val="B8C5E0"/>
                </a:solidFill>
                <a:latin typeface="Aptos"/>
              </a:defRPr>
            </a:pPr>
            <a:r>
              <a:t>OData V2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01445DB-20CC-6BB3-B0F1-4DE696EA8603}"/>
              </a:ext>
            </a:extLst>
          </p:cNvPr>
          <p:cNvSpPr/>
          <p:nvPr/>
        </p:nvSpPr>
        <p:spPr>
          <a:xfrm>
            <a:off x="10021824" y="2048256"/>
            <a:ext cx="1874519" cy="86868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8FAFF"/>
                </a:solidFill>
                <a:latin typeface="Aptos Display"/>
              </a:defRPr>
            </a:pPr>
            <a:r>
              <a:t>S/4HANA</a:t>
            </a:r>
          </a:p>
          <a:p>
            <a:pPr algn="ctr">
              <a:defRPr sz="950">
                <a:solidFill>
                  <a:srgbClr val="B8C5E0"/>
                </a:solidFill>
                <a:latin typeface="Aptos"/>
              </a:defRPr>
            </a:pPr>
            <a:r>
              <a:t>OData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2CAFE28-B434-DCEB-400F-3EE653939480}"/>
              </a:ext>
            </a:extLst>
          </p:cNvPr>
          <p:cNvSpPr/>
          <p:nvPr/>
        </p:nvSpPr>
        <p:spPr>
          <a:xfrm>
            <a:off x="2606040" y="1600200"/>
            <a:ext cx="6675120" cy="406908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7AA353-E7AC-43CC-C017-B20F73B27C77}"/>
              </a:ext>
            </a:extLst>
          </p:cNvPr>
          <p:cNvSpPr txBox="1"/>
          <p:nvPr/>
        </p:nvSpPr>
        <p:spPr>
          <a:xfrm>
            <a:off x="2788920" y="175564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F"/>
                </a:solidFill>
                <a:latin typeface="Aptos Display"/>
              </a:defRPr>
            </a:pPr>
            <a:r>
              <a:t>Integration Process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E5D07AB-AB46-3DB5-29C1-EEF92C4AFE67}"/>
              </a:ext>
            </a:extLst>
          </p:cNvPr>
          <p:cNvSpPr/>
          <p:nvPr/>
        </p:nvSpPr>
        <p:spPr>
          <a:xfrm>
            <a:off x="2880360" y="2514600"/>
            <a:ext cx="822960" cy="749808"/>
          </a:xfrm>
          <a:prstGeom prst="roundRect">
            <a:avLst/>
          </a:prstGeom>
          <a:solidFill>
            <a:srgbClr val="0D2348"/>
          </a:solidFill>
          <a:ln w="19050">
            <a:solidFill>
              <a:srgbClr val="6F3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8FAFF"/>
                </a:solidFill>
                <a:latin typeface="Aptos Display"/>
              </a:defRPr>
            </a:pPr>
            <a:r>
              <a:t>Start Timer 1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183A825-6C1D-53EB-3369-B0616CCD3051}"/>
              </a:ext>
            </a:extLst>
          </p:cNvPr>
          <p:cNvSpPr/>
          <p:nvPr/>
        </p:nvSpPr>
        <p:spPr>
          <a:xfrm>
            <a:off x="3794760" y="2514600"/>
            <a:ext cx="822960" cy="749808"/>
          </a:xfrm>
          <a:prstGeom prst="roundRect">
            <a:avLst/>
          </a:prstGeom>
          <a:solidFill>
            <a:srgbClr val="0D2348"/>
          </a:solidFill>
          <a:ln w="19050">
            <a:solidFill>
              <a:srgbClr val="27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8FAFF"/>
                </a:solidFill>
                <a:latin typeface="Aptos Display"/>
              </a:defRPr>
            </a:pPr>
            <a:r>
              <a:t>Fetch / Request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71D0A70-C362-EEEF-C03C-35D26A3DAB85}"/>
              </a:ext>
            </a:extLst>
          </p:cNvPr>
          <p:cNvSpPr/>
          <p:nvPr/>
        </p:nvSpPr>
        <p:spPr>
          <a:xfrm>
            <a:off x="4709160" y="2514600"/>
            <a:ext cx="822960" cy="749808"/>
          </a:xfrm>
          <a:prstGeom prst="roundRect">
            <a:avLst/>
          </a:prstGeom>
          <a:solidFill>
            <a:srgbClr val="0D2348"/>
          </a:solidFill>
          <a:ln w="19050">
            <a:solidFill>
              <a:srgbClr val="96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8FAFF"/>
                </a:solidFill>
                <a:latin typeface="Aptos Display"/>
              </a:defRPr>
            </a:pPr>
            <a:r>
              <a:t>Transform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F98A4C5-F0B1-B589-9EBE-3499FAF4F8CC}"/>
              </a:ext>
            </a:extLst>
          </p:cNvPr>
          <p:cNvSpPr/>
          <p:nvPr/>
        </p:nvSpPr>
        <p:spPr>
          <a:xfrm>
            <a:off x="5623560" y="2514600"/>
            <a:ext cx="822960" cy="749808"/>
          </a:xfrm>
          <a:prstGeom prst="roundRect">
            <a:avLst/>
          </a:prstGeom>
          <a:solidFill>
            <a:srgbClr val="0D2348"/>
          </a:solidFill>
          <a:ln w="19050">
            <a:solidFill>
              <a:srgbClr val="1FC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8FAFF"/>
                </a:solidFill>
                <a:latin typeface="Aptos Display"/>
              </a:defRPr>
            </a:pPr>
            <a:r>
              <a:t>Post to S/4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506D1D1-A5F5-7A09-70C9-13D1C1F083FE}"/>
              </a:ext>
            </a:extLst>
          </p:cNvPr>
          <p:cNvSpPr/>
          <p:nvPr/>
        </p:nvSpPr>
        <p:spPr>
          <a:xfrm>
            <a:off x="6537960" y="2514600"/>
            <a:ext cx="822960" cy="749808"/>
          </a:xfrm>
          <a:prstGeom prst="roundRect">
            <a:avLst/>
          </a:prstGeom>
          <a:solidFill>
            <a:srgbClr val="0D2348"/>
          </a:solidFill>
          <a:ln w="19050">
            <a:solidFill>
              <a:srgbClr val="27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8FAFF"/>
                </a:solidFill>
                <a:latin typeface="Aptos Display"/>
              </a:defRPr>
            </a:pPr>
            <a:r>
              <a:t>CSV Convert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D40A36C-1C2C-8346-BD23-1E692667C8DA}"/>
              </a:ext>
            </a:extLst>
          </p:cNvPr>
          <p:cNvSpPr/>
          <p:nvPr/>
        </p:nvSpPr>
        <p:spPr>
          <a:xfrm>
            <a:off x="7452360" y="2514600"/>
            <a:ext cx="822960" cy="749808"/>
          </a:xfrm>
          <a:prstGeom prst="roundRect">
            <a:avLst/>
          </a:prstGeom>
          <a:solidFill>
            <a:srgbClr val="0D2348"/>
          </a:solidFill>
          <a:ln w="19050">
            <a:solidFill>
              <a:srgbClr val="1FC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8FAFF"/>
                </a:solidFill>
                <a:latin typeface="Aptos Display"/>
              </a:defRPr>
            </a:pPr>
            <a:r>
              <a:t>SFTP Delivery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563135F-9AF1-3F70-5F75-BC535C5FB1B6}"/>
              </a:ext>
            </a:extLst>
          </p:cNvPr>
          <p:cNvSpPr/>
          <p:nvPr/>
        </p:nvSpPr>
        <p:spPr>
          <a:xfrm>
            <a:off x="8366760" y="2514600"/>
            <a:ext cx="822960" cy="749808"/>
          </a:xfrm>
          <a:prstGeom prst="roundRect">
            <a:avLst/>
          </a:prstGeom>
          <a:solidFill>
            <a:srgbClr val="0D2348"/>
          </a:solidFill>
          <a:ln w="19050">
            <a:solidFill>
              <a:srgbClr val="6F3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8FAFF"/>
                </a:solidFill>
                <a:latin typeface="Aptos Display"/>
              </a:defRPr>
            </a:pPr>
            <a:r>
              <a:t>End</a:t>
            </a:r>
          </a:p>
        </p:txBody>
      </p: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E0696C0B-0635-6DB6-8FB8-0B59859E2364}"/>
              </a:ext>
            </a:extLst>
          </p:cNvPr>
          <p:cNvCxnSpPr/>
          <p:nvPr/>
        </p:nvCxnSpPr>
        <p:spPr>
          <a:xfrm>
            <a:off x="3703320" y="2889504"/>
            <a:ext cx="91440" cy="0"/>
          </a:xfrm>
          <a:prstGeom prst="line">
            <a:avLst/>
          </a:prstGeom>
          <a:ln w="17780">
            <a:solidFill>
              <a:srgbClr val="56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A1F28712-94BF-AE83-7015-535BA5319263}"/>
              </a:ext>
            </a:extLst>
          </p:cNvPr>
          <p:cNvSpPr/>
          <p:nvPr/>
        </p:nvSpPr>
        <p:spPr>
          <a:xfrm rot="5400000">
            <a:off x="3739896" y="2825496"/>
            <a:ext cx="128016" cy="128016"/>
          </a:xfrm>
          <a:prstGeom prst="triangle">
            <a:avLst/>
          </a:prstGeom>
          <a:solidFill>
            <a:srgbClr val="56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>
            <a:extLst>
              <a:ext uri="{FF2B5EF4-FFF2-40B4-BE49-F238E27FC236}">
                <a16:creationId xmlns:a16="http://schemas.microsoft.com/office/drawing/2014/main" id="{3ECAE9FD-4905-C614-088F-6401F51333FC}"/>
              </a:ext>
            </a:extLst>
          </p:cNvPr>
          <p:cNvCxnSpPr/>
          <p:nvPr/>
        </p:nvCxnSpPr>
        <p:spPr>
          <a:xfrm>
            <a:off x="4617720" y="2889504"/>
            <a:ext cx="91440" cy="0"/>
          </a:xfrm>
          <a:prstGeom prst="line">
            <a:avLst/>
          </a:prstGeom>
          <a:ln w="17780">
            <a:solidFill>
              <a:srgbClr val="56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3F127709-9296-549B-DC15-7363631C16EE}"/>
              </a:ext>
            </a:extLst>
          </p:cNvPr>
          <p:cNvSpPr/>
          <p:nvPr/>
        </p:nvSpPr>
        <p:spPr>
          <a:xfrm rot="5400000">
            <a:off x="4654296" y="2825496"/>
            <a:ext cx="128016" cy="128016"/>
          </a:xfrm>
          <a:prstGeom prst="triangle">
            <a:avLst/>
          </a:prstGeom>
          <a:solidFill>
            <a:srgbClr val="56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5B54D8A0-36AE-5B0E-1BB7-78CA46B497C0}"/>
              </a:ext>
            </a:extLst>
          </p:cNvPr>
          <p:cNvCxnSpPr/>
          <p:nvPr/>
        </p:nvCxnSpPr>
        <p:spPr>
          <a:xfrm>
            <a:off x="5532120" y="2889504"/>
            <a:ext cx="91440" cy="0"/>
          </a:xfrm>
          <a:prstGeom prst="line">
            <a:avLst/>
          </a:prstGeom>
          <a:ln w="17780">
            <a:solidFill>
              <a:srgbClr val="56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F81F795E-8C56-815D-B8AF-5912EEE131A0}"/>
              </a:ext>
            </a:extLst>
          </p:cNvPr>
          <p:cNvSpPr/>
          <p:nvPr/>
        </p:nvSpPr>
        <p:spPr>
          <a:xfrm rot="5400000">
            <a:off x="5568696" y="2825496"/>
            <a:ext cx="128016" cy="128016"/>
          </a:xfrm>
          <a:prstGeom prst="triangle">
            <a:avLst/>
          </a:prstGeom>
          <a:solidFill>
            <a:srgbClr val="56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>
            <a:extLst>
              <a:ext uri="{FF2B5EF4-FFF2-40B4-BE49-F238E27FC236}">
                <a16:creationId xmlns:a16="http://schemas.microsoft.com/office/drawing/2014/main" id="{FB264720-C2C1-FAF5-52D7-44086035A718}"/>
              </a:ext>
            </a:extLst>
          </p:cNvPr>
          <p:cNvCxnSpPr/>
          <p:nvPr/>
        </p:nvCxnSpPr>
        <p:spPr>
          <a:xfrm>
            <a:off x="6446520" y="2889504"/>
            <a:ext cx="91440" cy="0"/>
          </a:xfrm>
          <a:prstGeom prst="line">
            <a:avLst/>
          </a:prstGeom>
          <a:ln w="17780">
            <a:solidFill>
              <a:srgbClr val="56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FA1FB188-1687-7F28-FC80-F5DE24AE4079}"/>
              </a:ext>
            </a:extLst>
          </p:cNvPr>
          <p:cNvSpPr/>
          <p:nvPr/>
        </p:nvSpPr>
        <p:spPr>
          <a:xfrm rot="5400000">
            <a:off x="6483096" y="2825496"/>
            <a:ext cx="128016" cy="128016"/>
          </a:xfrm>
          <a:prstGeom prst="triangle">
            <a:avLst/>
          </a:prstGeom>
          <a:solidFill>
            <a:srgbClr val="56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4FBBB91D-E4A9-E63D-A2CC-84672426E0E7}"/>
              </a:ext>
            </a:extLst>
          </p:cNvPr>
          <p:cNvCxnSpPr/>
          <p:nvPr/>
        </p:nvCxnSpPr>
        <p:spPr>
          <a:xfrm>
            <a:off x="7360920" y="2889504"/>
            <a:ext cx="91440" cy="0"/>
          </a:xfrm>
          <a:prstGeom prst="line">
            <a:avLst/>
          </a:prstGeom>
          <a:ln w="17780">
            <a:solidFill>
              <a:srgbClr val="56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367516A3-A10C-BCD9-88A5-3EA9BCA84BD6}"/>
              </a:ext>
            </a:extLst>
          </p:cNvPr>
          <p:cNvSpPr/>
          <p:nvPr/>
        </p:nvSpPr>
        <p:spPr>
          <a:xfrm rot="5400000">
            <a:off x="7397496" y="2825496"/>
            <a:ext cx="128016" cy="128016"/>
          </a:xfrm>
          <a:prstGeom prst="triangle">
            <a:avLst/>
          </a:prstGeom>
          <a:solidFill>
            <a:srgbClr val="56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" name="Connector 35">
            <a:extLst>
              <a:ext uri="{FF2B5EF4-FFF2-40B4-BE49-F238E27FC236}">
                <a16:creationId xmlns:a16="http://schemas.microsoft.com/office/drawing/2014/main" id="{15A1EF58-1F63-EA93-7CCE-934FEC474981}"/>
              </a:ext>
            </a:extLst>
          </p:cNvPr>
          <p:cNvCxnSpPr/>
          <p:nvPr/>
        </p:nvCxnSpPr>
        <p:spPr>
          <a:xfrm>
            <a:off x="8275320" y="2889504"/>
            <a:ext cx="91440" cy="0"/>
          </a:xfrm>
          <a:prstGeom prst="line">
            <a:avLst/>
          </a:prstGeom>
          <a:ln w="17780">
            <a:solidFill>
              <a:srgbClr val="56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55489C13-7375-6485-1E43-35F218B2648D}"/>
              </a:ext>
            </a:extLst>
          </p:cNvPr>
          <p:cNvSpPr/>
          <p:nvPr/>
        </p:nvSpPr>
        <p:spPr>
          <a:xfrm rot="5400000">
            <a:off x="8311896" y="2825496"/>
            <a:ext cx="128016" cy="128016"/>
          </a:xfrm>
          <a:prstGeom prst="triangle">
            <a:avLst/>
          </a:prstGeom>
          <a:solidFill>
            <a:srgbClr val="56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E9D125A7-09BE-31FA-F59A-0821DB2DB841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560320" y="2331720"/>
            <a:ext cx="320040" cy="557784"/>
          </a:xfrm>
          <a:prstGeom prst="line">
            <a:avLst/>
          </a:prstGeom>
          <a:ln w="20320">
            <a:solidFill>
              <a:srgbClr val="9655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0B83DC53-F63B-8393-B5D1-DCEF6CDE9024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9281160" y="2482596"/>
            <a:ext cx="740664" cy="397764"/>
          </a:xfrm>
          <a:prstGeom prst="line">
            <a:avLst/>
          </a:prstGeom>
          <a:ln w="20320">
            <a:solidFill>
              <a:srgbClr val="27B4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83FE1474-4AD1-7BD6-399B-E8DB88EDBC04}"/>
              </a:ext>
            </a:extLst>
          </p:cNvPr>
          <p:cNvSpPr/>
          <p:nvPr/>
        </p:nvSpPr>
        <p:spPr>
          <a:xfrm>
            <a:off x="3794760" y="3977639"/>
            <a:ext cx="4389120" cy="114300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201168" tIns="137160" rIns="146304" bIns="109728" rtlCol="0" anchor="ctr"/>
          <a:lstStyle/>
          <a:p>
            <a:pPr algn="ctr">
              <a:defRPr sz="1500" b="1">
                <a:solidFill>
                  <a:srgbClr val="F8FAFF"/>
                </a:solidFill>
                <a:latin typeface="Aptos Display"/>
              </a:defRPr>
            </a:pPr>
            <a:r>
              <a:t>Exception Subprocess</a:t>
            </a:r>
          </a:p>
          <a:p>
            <a:pPr>
              <a:spcBef>
                <a:spcPts val="700"/>
              </a:spcBef>
              <a:defRPr sz="1150">
                <a:solidFill>
                  <a:srgbClr val="E0E7F6"/>
                </a:solidFill>
                <a:latin typeface="Aptos"/>
              </a:defRPr>
            </a:pPr>
            <a:r>
              <a:t>Error Start → Content Modifier → Error End → Mail notification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EA2638C-FDEB-B39A-4587-4B654DB56B4F}"/>
              </a:ext>
            </a:extLst>
          </p:cNvPr>
          <p:cNvSpPr/>
          <p:nvPr/>
        </p:nvSpPr>
        <p:spPr>
          <a:xfrm>
            <a:off x="3794760" y="3977639"/>
            <a:ext cx="64008" cy="1143000"/>
          </a:xfrm>
          <a:prstGeom prst="rect">
            <a:avLst/>
          </a:prstGeom>
          <a:solidFill>
            <a:srgbClr val="EE5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A7B0EDE-A0B0-CA8C-0C55-9F168DCDC6D3}"/>
              </a:ext>
            </a:extLst>
          </p:cNvPr>
          <p:cNvSpPr/>
          <p:nvPr/>
        </p:nvSpPr>
        <p:spPr>
          <a:xfrm>
            <a:off x="9326880" y="4343400"/>
            <a:ext cx="1965960" cy="86868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8FAFF"/>
                </a:solidFill>
                <a:latin typeface="Aptos Display"/>
              </a:defRPr>
            </a:pPr>
            <a:r>
              <a:rPr dirty="0"/>
              <a:t>Gmail / Mail</a:t>
            </a:r>
          </a:p>
          <a:p>
            <a:pPr algn="ctr">
              <a:defRPr sz="950">
                <a:solidFill>
                  <a:srgbClr val="B8C5E0"/>
                </a:solidFill>
                <a:latin typeface="Aptos"/>
              </a:defRPr>
            </a:pPr>
            <a:r>
              <a:rPr dirty="0"/>
              <a:t>Admin notification</a:t>
            </a:r>
          </a:p>
        </p:txBody>
      </p: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D747ADA0-C799-0964-7DAE-5B44DF2A6A5E}"/>
              </a:ext>
            </a:extLst>
          </p:cNvPr>
          <p:cNvCxnSpPr/>
          <p:nvPr/>
        </p:nvCxnSpPr>
        <p:spPr>
          <a:xfrm>
            <a:off x="8183879" y="4553712"/>
            <a:ext cx="1143001" cy="201168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7323B738-DA10-5B6C-C511-38F924E662C4}"/>
              </a:ext>
            </a:extLst>
          </p:cNvPr>
          <p:cNvSpPr/>
          <p:nvPr/>
        </p:nvSpPr>
        <p:spPr>
          <a:xfrm rot="5400000">
            <a:off x="9272015" y="4690872"/>
            <a:ext cx="128016" cy="128016"/>
          </a:xfrm>
          <a:prstGeom prst="triangle">
            <a:avLst/>
          </a:prstGeom>
          <a:solidFill>
            <a:srgbClr val="EE5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B68B9E-4C47-3C62-203C-D9A2F66EE593}"/>
              </a:ext>
            </a:extLst>
          </p:cNvPr>
          <p:cNvSpPr txBox="1"/>
          <p:nvPr/>
        </p:nvSpPr>
        <p:spPr>
          <a:xfrm>
            <a:off x="658368" y="6473952"/>
            <a:ext cx="326563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084AA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Employee Data Synchronization  |  SAP Integration Suite Capstone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C382A1-2773-F7E2-79BF-B23CA180FA89}"/>
              </a:ext>
            </a:extLst>
          </p:cNvPr>
          <p:cNvSpPr txBox="1"/>
          <p:nvPr/>
        </p:nvSpPr>
        <p:spPr>
          <a:xfrm>
            <a:off x="11201400" y="64190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8C5E0"/>
                </a:solidFill>
                <a:latin typeface="Aptos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13468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1">
            <a:extLst>
              <a:ext uri="{FF2B5EF4-FFF2-40B4-BE49-F238E27FC236}">
                <a16:creationId xmlns:a16="http://schemas.microsoft.com/office/drawing/2014/main" id="{0DD28180-6504-930A-880A-87CE78F197B2}"/>
              </a:ext>
            </a:extLst>
          </p:cNvPr>
          <p:cNvCxnSpPr/>
          <p:nvPr/>
        </p:nvCxnSpPr>
        <p:spPr>
          <a:xfrm>
            <a:off x="9326880" y="228600"/>
            <a:ext cx="2651760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2">
            <a:extLst>
              <a:ext uri="{FF2B5EF4-FFF2-40B4-BE49-F238E27FC236}">
                <a16:creationId xmlns:a16="http://schemas.microsoft.com/office/drawing/2014/main" id="{B5A08341-63FE-E08A-EAAF-80A735A44923}"/>
              </a:ext>
            </a:extLst>
          </p:cNvPr>
          <p:cNvCxnSpPr/>
          <p:nvPr/>
        </p:nvCxnSpPr>
        <p:spPr>
          <a:xfrm>
            <a:off x="9674352" y="301752"/>
            <a:ext cx="2304288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3">
            <a:extLst>
              <a:ext uri="{FF2B5EF4-FFF2-40B4-BE49-F238E27FC236}">
                <a16:creationId xmlns:a16="http://schemas.microsoft.com/office/drawing/2014/main" id="{FA55DBAA-D7AB-878C-4E36-D0667AC5BEED}"/>
              </a:ext>
            </a:extLst>
          </p:cNvPr>
          <p:cNvCxnSpPr/>
          <p:nvPr/>
        </p:nvCxnSpPr>
        <p:spPr>
          <a:xfrm>
            <a:off x="10021824" y="374904"/>
            <a:ext cx="1956816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4">
            <a:extLst>
              <a:ext uri="{FF2B5EF4-FFF2-40B4-BE49-F238E27FC236}">
                <a16:creationId xmlns:a16="http://schemas.microsoft.com/office/drawing/2014/main" id="{5DFDE513-A4F9-38ED-D4BE-C06D5B53603C}"/>
              </a:ext>
            </a:extLst>
          </p:cNvPr>
          <p:cNvCxnSpPr/>
          <p:nvPr/>
        </p:nvCxnSpPr>
        <p:spPr>
          <a:xfrm>
            <a:off x="10369296" y="448056"/>
            <a:ext cx="1609344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0FADDB99-830C-DB0C-E45D-416C53B13B9F}"/>
              </a:ext>
            </a:extLst>
          </p:cNvPr>
          <p:cNvCxnSpPr/>
          <p:nvPr/>
        </p:nvCxnSpPr>
        <p:spPr>
          <a:xfrm>
            <a:off x="10716767" y="521208"/>
            <a:ext cx="1261873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6">
            <a:extLst>
              <a:ext uri="{FF2B5EF4-FFF2-40B4-BE49-F238E27FC236}">
                <a16:creationId xmlns:a16="http://schemas.microsoft.com/office/drawing/2014/main" id="{509342B3-F98C-2A59-F632-555F0B9CF323}"/>
              </a:ext>
            </a:extLst>
          </p:cNvPr>
          <p:cNvCxnSpPr/>
          <p:nvPr/>
        </p:nvCxnSpPr>
        <p:spPr>
          <a:xfrm>
            <a:off x="11064240" y="594360"/>
            <a:ext cx="914400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7">
            <a:extLst>
              <a:ext uri="{FF2B5EF4-FFF2-40B4-BE49-F238E27FC236}">
                <a16:creationId xmlns:a16="http://schemas.microsoft.com/office/drawing/2014/main" id="{77A8B73F-CF02-8483-437E-0336C48D8ACA}"/>
              </a:ext>
            </a:extLst>
          </p:cNvPr>
          <p:cNvCxnSpPr/>
          <p:nvPr/>
        </p:nvCxnSpPr>
        <p:spPr>
          <a:xfrm>
            <a:off x="11411712" y="667512"/>
            <a:ext cx="566928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Arc 10">
            <a:extLst>
              <a:ext uri="{FF2B5EF4-FFF2-40B4-BE49-F238E27FC236}">
                <a16:creationId xmlns:a16="http://schemas.microsoft.com/office/drawing/2014/main" id="{B3AD96D8-892D-03FF-69E5-49C2A981DBD0}"/>
              </a:ext>
            </a:extLst>
          </p:cNvPr>
          <p:cNvSpPr/>
          <p:nvPr/>
        </p:nvSpPr>
        <p:spPr>
          <a:xfrm>
            <a:off x="-731520" y="5989320"/>
            <a:ext cx="7315200" cy="1280160"/>
          </a:xfrm>
          <a:prstGeom prst="arc">
            <a:avLst/>
          </a:prstGeom>
          <a:noFill/>
          <a:ln w="25400">
            <a:solidFill>
              <a:srgbClr val="6F3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2DCFDD13-E019-6651-0154-E3439A0DAE38}"/>
              </a:ext>
            </a:extLst>
          </p:cNvPr>
          <p:cNvSpPr/>
          <p:nvPr/>
        </p:nvSpPr>
        <p:spPr>
          <a:xfrm>
            <a:off x="-594360" y="6099048"/>
            <a:ext cx="7315200" cy="1280160"/>
          </a:xfrm>
          <a:prstGeom prst="arc">
            <a:avLst/>
          </a:prstGeom>
          <a:noFill/>
          <a:ln w="25400">
            <a:solidFill>
              <a:srgbClr val="27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1AA877FB-7126-77E9-DC4A-7B9A97F7DF7F}"/>
              </a:ext>
            </a:extLst>
          </p:cNvPr>
          <p:cNvSpPr/>
          <p:nvPr/>
        </p:nvSpPr>
        <p:spPr>
          <a:xfrm>
            <a:off x="-457200" y="6208776"/>
            <a:ext cx="7315200" cy="1280160"/>
          </a:xfrm>
          <a:prstGeom prst="arc">
            <a:avLst/>
          </a:prstGeom>
          <a:noFill/>
          <a:ln w="25400">
            <a:solidFill>
              <a:srgbClr val="96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009C93-7560-5099-93B0-16B8F5971906}"/>
              </a:ext>
            </a:extLst>
          </p:cNvPr>
          <p:cNvSpPr txBox="1"/>
          <p:nvPr/>
        </p:nvSpPr>
        <p:spPr>
          <a:xfrm>
            <a:off x="640080" y="411480"/>
            <a:ext cx="478727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F"/>
                </a:solidFill>
                <a:latin typeface="Aptos Display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End-to-End Processing Flow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DBAF55-C0AF-B611-6BD4-93F2AE0A85A8}"/>
              </a:ext>
            </a:extLst>
          </p:cNvPr>
          <p:cNvSpPr txBox="1"/>
          <p:nvPr/>
        </p:nvSpPr>
        <p:spPr>
          <a:xfrm>
            <a:off x="658368" y="987552"/>
            <a:ext cx="4449744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B8C5E0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Business sequence implemented in the completed </a:t>
            </a:r>
            <a:r>
              <a:rPr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iFlow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838F2B-C9E8-FFCF-57BE-3B1FB7964E78}"/>
              </a:ext>
            </a:extLst>
          </p:cNvPr>
          <p:cNvSpPr/>
          <p:nvPr/>
        </p:nvSpPr>
        <p:spPr>
          <a:xfrm>
            <a:off x="658368" y="1417320"/>
            <a:ext cx="1051560" cy="41148"/>
          </a:xfrm>
          <a:prstGeom prst="rect">
            <a:avLst/>
          </a:prstGeom>
          <a:solidFill>
            <a:srgbClr val="96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2ECBF7C-D833-BC62-E51B-CCC2D94938D2}"/>
              </a:ext>
            </a:extLst>
          </p:cNvPr>
          <p:cNvSpPr/>
          <p:nvPr/>
        </p:nvSpPr>
        <p:spPr>
          <a:xfrm>
            <a:off x="594360" y="1828800"/>
            <a:ext cx="566928" cy="566928"/>
          </a:xfrm>
          <a:prstGeom prst="ellipse">
            <a:avLst/>
          </a:prstGeom>
          <a:solidFill>
            <a:srgbClr val="6F36F5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18" name="Rounded Rectangle 15">
            <a:extLst>
              <a:ext uri="{FF2B5EF4-FFF2-40B4-BE49-F238E27FC236}">
                <a16:creationId xmlns:a16="http://schemas.microsoft.com/office/drawing/2014/main" id="{2FD3A592-79F7-CBAA-247E-3CDB31630083}"/>
              </a:ext>
            </a:extLst>
          </p:cNvPr>
          <p:cNvSpPr/>
          <p:nvPr/>
        </p:nvSpPr>
        <p:spPr>
          <a:xfrm>
            <a:off x="548640" y="2606040"/>
            <a:ext cx="1554480" cy="160020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400" b="1">
                <a:solidFill>
                  <a:srgbClr val="F8FAFF"/>
                </a:solidFill>
                <a:latin typeface="Aptos Display"/>
              </a:defRPr>
            </a:pPr>
            <a:r>
              <a:t>Timer</a:t>
            </a:r>
          </a:p>
          <a:p>
            <a:pPr>
              <a:spcBef>
                <a:spcPts val="700"/>
              </a:spcBef>
              <a:defRPr sz="1050">
                <a:solidFill>
                  <a:srgbClr val="E0E7F6"/>
                </a:solidFill>
                <a:latin typeface="Aptos"/>
              </a:defRPr>
            </a:pPr>
            <a:r>
              <a:t>Starts scheduled processing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BEEF4C-1EB8-1E2A-E1D3-3CF6A303AB95}"/>
              </a:ext>
            </a:extLst>
          </p:cNvPr>
          <p:cNvSpPr/>
          <p:nvPr/>
        </p:nvSpPr>
        <p:spPr>
          <a:xfrm>
            <a:off x="548640" y="2606040"/>
            <a:ext cx="64008" cy="1600200"/>
          </a:xfrm>
          <a:prstGeom prst="rect">
            <a:avLst/>
          </a:prstGeom>
          <a:solidFill>
            <a:srgbClr val="6F3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7">
            <a:extLst>
              <a:ext uri="{FF2B5EF4-FFF2-40B4-BE49-F238E27FC236}">
                <a16:creationId xmlns:a16="http://schemas.microsoft.com/office/drawing/2014/main" id="{47F5DA03-CBBE-D8BA-5F47-9E2457608662}"/>
              </a:ext>
            </a:extLst>
          </p:cNvPr>
          <p:cNvCxnSpPr/>
          <p:nvPr/>
        </p:nvCxnSpPr>
        <p:spPr>
          <a:xfrm>
            <a:off x="2103120" y="3401568"/>
            <a:ext cx="320040" cy="0"/>
          </a:xfrm>
          <a:prstGeom prst="line">
            <a:avLst/>
          </a:prstGeom>
          <a:ln w="19050">
            <a:solidFill>
              <a:srgbClr val="4F8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B847DD36-67B9-B610-4E63-2C4C9C40F5DD}"/>
              </a:ext>
            </a:extLst>
          </p:cNvPr>
          <p:cNvSpPr/>
          <p:nvPr/>
        </p:nvSpPr>
        <p:spPr>
          <a:xfrm rot="5400000">
            <a:off x="2368296" y="3337560"/>
            <a:ext cx="128016" cy="128016"/>
          </a:xfrm>
          <a:prstGeom prst="triangle">
            <a:avLst/>
          </a:prstGeom>
          <a:solidFill>
            <a:srgbClr val="4F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5C7E027-BCDE-DA72-638D-82837E5E3FB6}"/>
              </a:ext>
            </a:extLst>
          </p:cNvPr>
          <p:cNvSpPr/>
          <p:nvPr/>
        </p:nvSpPr>
        <p:spPr>
          <a:xfrm>
            <a:off x="2240280" y="1828800"/>
            <a:ext cx="566928" cy="566928"/>
          </a:xfrm>
          <a:prstGeom prst="ellipse">
            <a:avLst/>
          </a:prstGeom>
          <a:solidFill>
            <a:srgbClr val="9655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23" name="Rounded Rectangle 20">
            <a:extLst>
              <a:ext uri="{FF2B5EF4-FFF2-40B4-BE49-F238E27FC236}">
                <a16:creationId xmlns:a16="http://schemas.microsoft.com/office/drawing/2014/main" id="{238BBA32-688E-F1FD-9B2A-6976FB01A519}"/>
              </a:ext>
            </a:extLst>
          </p:cNvPr>
          <p:cNvSpPr/>
          <p:nvPr/>
        </p:nvSpPr>
        <p:spPr>
          <a:xfrm>
            <a:off x="2194560" y="2606040"/>
            <a:ext cx="1554480" cy="160020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400" b="1">
                <a:solidFill>
                  <a:srgbClr val="F8FAFF"/>
                </a:solidFill>
                <a:latin typeface="Aptos Display"/>
              </a:defRPr>
            </a:pPr>
            <a:r>
              <a:t>SuccessFactors</a:t>
            </a:r>
          </a:p>
          <a:p>
            <a:pPr>
              <a:spcBef>
                <a:spcPts val="700"/>
              </a:spcBef>
              <a:defRPr sz="1050">
                <a:solidFill>
                  <a:srgbClr val="E0E7F6"/>
                </a:solidFill>
                <a:latin typeface="Aptos"/>
              </a:defRPr>
            </a:pPr>
            <a:r>
              <a:t>Reads employee records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153ED1-5B55-EC97-6EA1-0D42E2F4713F}"/>
              </a:ext>
            </a:extLst>
          </p:cNvPr>
          <p:cNvSpPr/>
          <p:nvPr/>
        </p:nvSpPr>
        <p:spPr>
          <a:xfrm>
            <a:off x="2194560" y="2606040"/>
            <a:ext cx="64008" cy="1600200"/>
          </a:xfrm>
          <a:prstGeom prst="rect">
            <a:avLst/>
          </a:prstGeom>
          <a:solidFill>
            <a:srgbClr val="96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2">
            <a:extLst>
              <a:ext uri="{FF2B5EF4-FFF2-40B4-BE49-F238E27FC236}">
                <a16:creationId xmlns:a16="http://schemas.microsoft.com/office/drawing/2014/main" id="{67923AC9-CB99-7337-9FAE-3BDD2EEA8B93}"/>
              </a:ext>
            </a:extLst>
          </p:cNvPr>
          <p:cNvCxnSpPr/>
          <p:nvPr/>
        </p:nvCxnSpPr>
        <p:spPr>
          <a:xfrm>
            <a:off x="3749039" y="3401568"/>
            <a:ext cx="320041" cy="0"/>
          </a:xfrm>
          <a:prstGeom prst="line">
            <a:avLst/>
          </a:prstGeom>
          <a:ln w="19050">
            <a:solidFill>
              <a:srgbClr val="4F8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9A6398C3-4D1C-C837-CA15-5E3E9943979E}"/>
              </a:ext>
            </a:extLst>
          </p:cNvPr>
          <p:cNvSpPr/>
          <p:nvPr/>
        </p:nvSpPr>
        <p:spPr>
          <a:xfrm rot="5400000">
            <a:off x="4014216" y="3337560"/>
            <a:ext cx="128016" cy="128016"/>
          </a:xfrm>
          <a:prstGeom prst="triangle">
            <a:avLst/>
          </a:prstGeom>
          <a:solidFill>
            <a:srgbClr val="4F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987AEEB-3EB6-A13D-4584-8E54F6EC3A82}"/>
              </a:ext>
            </a:extLst>
          </p:cNvPr>
          <p:cNvSpPr/>
          <p:nvPr/>
        </p:nvSpPr>
        <p:spPr>
          <a:xfrm>
            <a:off x="3886200" y="1828800"/>
            <a:ext cx="566928" cy="566928"/>
          </a:xfrm>
          <a:prstGeom prst="ellipse">
            <a:avLst/>
          </a:prstGeom>
          <a:solidFill>
            <a:srgbClr val="27B4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28" name="Rounded Rectangle 25">
            <a:extLst>
              <a:ext uri="{FF2B5EF4-FFF2-40B4-BE49-F238E27FC236}">
                <a16:creationId xmlns:a16="http://schemas.microsoft.com/office/drawing/2014/main" id="{7C55E38A-A537-0F7E-E7D7-3BDF1C65B05C}"/>
              </a:ext>
            </a:extLst>
          </p:cNvPr>
          <p:cNvSpPr/>
          <p:nvPr/>
        </p:nvSpPr>
        <p:spPr>
          <a:xfrm>
            <a:off x="3840480" y="2606040"/>
            <a:ext cx="1554480" cy="160020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400" b="1">
                <a:solidFill>
                  <a:srgbClr val="F8FAFF"/>
                </a:solidFill>
                <a:latin typeface="Aptos Display"/>
              </a:defRPr>
            </a:pPr>
            <a:r>
              <a:t>Mapping</a:t>
            </a:r>
          </a:p>
          <a:p>
            <a:pPr>
              <a:spcBef>
                <a:spcPts val="700"/>
              </a:spcBef>
              <a:defRPr sz="1050">
                <a:solidFill>
                  <a:srgbClr val="E0E7F6"/>
                </a:solidFill>
                <a:latin typeface="Aptos"/>
              </a:defRPr>
            </a:pPr>
            <a:r>
              <a:t>Creates target employee structure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ACC7AE-19BA-22A0-066E-DB0107D1368C}"/>
              </a:ext>
            </a:extLst>
          </p:cNvPr>
          <p:cNvSpPr/>
          <p:nvPr/>
        </p:nvSpPr>
        <p:spPr>
          <a:xfrm>
            <a:off x="3840480" y="2606040"/>
            <a:ext cx="64008" cy="1600200"/>
          </a:xfrm>
          <a:prstGeom prst="rect">
            <a:avLst/>
          </a:prstGeom>
          <a:solidFill>
            <a:srgbClr val="2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7">
            <a:extLst>
              <a:ext uri="{FF2B5EF4-FFF2-40B4-BE49-F238E27FC236}">
                <a16:creationId xmlns:a16="http://schemas.microsoft.com/office/drawing/2014/main" id="{6B3A82BB-446F-D038-8C30-5ECD97D1E047}"/>
              </a:ext>
            </a:extLst>
          </p:cNvPr>
          <p:cNvCxnSpPr/>
          <p:nvPr/>
        </p:nvCxnSpPr>
        <p:spPr>
          <a:xfrm>
            <a:off x="5394960" y="3401568"/>
            <a:ext cx="320040" cy="0"/>
          </a:xfrm>
          <a:prstGeom prst="line">
            <a:avLst/>
          </a:prstGeom>
          <a:ln w="19050">
            <a:solidFill>
              <a:srgbClr val="4F8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ADFD3744-3695-8570-6697-C0C670E1F227}"/>
              </a:ext>
            </a:extLst>
          </p:cNvPr>
          <p:cNvSpPr/>
          <p:nvPr/>
        </p:nvSpPr>
        <p:spPr>
          <a:xfrm rot="5400000">
            <a:off x="5660136" y="3337560"/>
            <a:ext cx="128016" cy="128016"/>
          </a:xfrm>
          <a:prstGeom prst="triangle">
            <a:avLst/>
          </a:prstGeom>
          <a:solidFill>
            <a:srgbClr val="4F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8CD20B3-C3A4-5DDC-B227-B62B0E4C0812}"/>
              </a:ext>
            </a:extLst>
          </p:cNvPr>
          <p:cNvSpPr/>
          <p:nvPr/>
        </p:nvSpPr>
        <p:spPr>
          <a:xfrm>
            <a:off x="5532120" y="1828800"/>
            <a:ext cx="566928" cy="566928"/>
          </a:xfrm>
          <a:prstGeom prst="ellipse">
            <a:avLst/>
          </a:prstGeom>
          <a:solidFill>
            <a:srgbClr val="1FCDB0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33" name="Rounded Rectangle 30">
            <a:extLst>
              <a:ext uri="{FF2B5EF4-FFF2-40B4-BE49-F238E27FC236}">
                <a16:creationId xmlns:a16="http://schemas.microsoft.com/office/drawing/2014/main" id="{55FB4F96-17D0-20F7-B6E9-105D8545A15E}"/>
              </a:ext>
            </a:extLst>
          </p:cNvPr>
          <p:cNvSpPr/>
          <p:nvPr/>
        </p:nvSpPr>
        <p:spPr>
          <a:xfrm>
            <a:off x="5486400" y="2606040"/>
            <a:ext cx="1554480" cy="160020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400" b="1">
                <a:solidFill>
                  <a:srgbClr val="F8FAFF"/>
                </a:solidFill>
                <a:latin typeface="Aptos Display"/>
              </a:defRPr>
            </a:pPr>
            <a:r>
              <a:t>S/4HANA</a:t>
            </a:r>
          </a:p>
          <a:p>
            <a:pPr>
              <a:spcBef>
                <a:spcPts val="700"/>
              </a:spcBef>
              <a:defRPr sz="1050">
                <a:solidFill>
                  <a:srgbClr val="E0E7F6"/>
                </a:solidFill>
                <a:latin typeface="Aptos"/>
              </a:defRPr>
            </a:pPr>
            <a:r>
              <a:t>Posts transformed employee data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B1C301-3FC6-7409-F0DD-9E42D2469CA1}"/>
              </a:ext>
            </a:extLst>
          </p:cNvPr>
          <p:cNvSpPr/>
          <p:nvPr/>
        </p:nvSpPr>
        <p:spPr>
          <a:xfrm>
            <a:off x="5486400" y="2606040"/>
            <a:ext cx="64008" cy="1600200"/>
          </a:xfrm>
          <a:prstGeom prst="rect">
            <a:avLst/>
          </a:prstGeom>
          <a:solidFill>
            <a:srgbClr val="1FC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Connector 32">
            <a:extLst>
              <a:ext uri="{FF2B5EF4-FFF2-40B4-BE49-F238E27FC236}">
                <a16:creationId xmlns:a16="http://schemas.microsoft.com/office/drawing/2014/main" id="{8B46336D-CC39-E44C-46ED-43BF43D12558}"/>
              </a:ext>
            </a:extLst>
          </p:cNvPr>
          <p:cNvCxnSpPr/>
          <p:nvPr/>
        </p:nvCxnSpPr>
        <p:spPr>
          <a:xfrm>
            <a:off x="7040879" y="3401568"/>
            <a:ext cx="320041" cy="0"/>
          </a:xfrm>
          <a:prstGeom prst="line">
            <a:avLst/>
          </a:prstGeom>
          <a:ln w="19050">
            <a:solidFill>
              <a:srgbClr val="4F8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334A222C-421E-E2F2-4AAD-7FF100F8C5A1}"/>
              </a:ext>
            </a:extLst>
          </p:cNvPr>
          <p:cNvSpPr/>
          <p:nvPr/>
        </p:nvSpPr>
        <p:spPr>
          <a:xfrm rot="5400000">
            <a:off x="7306056" y="3337560"/>
            <a:ext cx="128016" cy="128016"/>
          </a:xfrm>
          <a:prstGeom prst="triangle">
            <a:avLst/>
          </a:prstGeom>
          <a:solidFill>
            <a:srgbClr val="4F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CF98582-6ABE-5EBA-1BF0-3ED479485C02}"/>
              </a:ext>
            </a:extLst>
          </p:cNvPr>
          <p:cNvSpPr/>
          <p:nvPr/>
        </p:nvSpPr>
        <p:spPr>
          <a:xfrm>
            <a:off x="7178040" y="1828800"/>
            <a:ext cx="566928" cy="566928"/>
          </a:xfrm>
          <a:prstGeom prst="ellipse">
            <a:avLst/>
          </a:prstGeom>
          <a:solidFill>
            <a:srgbClr val="27B4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38" name="Rounded Rectangle 35">
            <a:extLst>
              <a:ext uri="{FF2B5EF4-FFF2-40B4-BE49-F238E27FC236}">
                <a16:creationId xmlns:a16="http://schemas.microsoft.com/office/drawing/2014/main" id="{D76B95CF-65FE-12E0-A98D-888B0AA3AC78}"/>
              </a:ext>
            </a:extLst>
          </p:cNvPr>
          <p:cNvSpPr/>
          <p:nvPr/>
        </p:nvSpPr>
        <p:spPr>
          <a:xfrm>
            <a:off x="7132320" y="2606040"/>
            <a:ext cx="1554480" cy="160020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400" b="1">
                <a:solidFill>
                  <a:srgbClr val="F8FAFF"/>
                </a:solidFill>
                <a:latin typeface="Aptos Display"/>
              </a:defRPr>
            </a:pPr>
            <a:r>
              <a:t>CSV</a:t>
            </a:r>
          </a:p>
          <a:p>
            <a:pPr>
              <a:spcBef>
                <a:spcPts val="700"/>
              </a:spcBef>
              <a:defRPr sz="1050">
                <a:solidFill>
                  <a:srgbClr val="E0E7F6"/>
                </a:solidFill>
                <a:latin typeface="Aptos"/>
              </a:defRPr>
            </a:pPr>
            <a:r>
              <a:t>Converts employee data to CSV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B45AF0F-50B4-3B79-13E6-3DB65B28D13D}"/>
              </a:ext>
            </a:extLst>
          </p:cNvPr>
          <p:cNvSpPr/>
          <p:nvPr/>
        </p:nvSpPr>
        <p:spPr>
          <a:xfrm>
            <a:off x="7132320" y="2606040"/>
            <a:ext cx="64008" cy="1600200"/>
          </a:xfrm>
          <a:prstGeom prst="rect">
            <a:avLst/>
          </a:prstGeom>
          <a:solidFill>
            <a:srgbClr val="2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7">
            <a:extLst>
              <a:ext uri="{FF2B5EF4-FFF2-40B4-BE49-F238E27FC236}">
                <a16:creationId xmlns:a16="http://schemas.microsoft.com/office/drawing/2014/main" id="{FE1D3EBF-3297-EF76-461F-9AA2E976F9F0}"/>
              </a:ext>
            </a:extLst>
          </p:cNvPr>
          <p:cNvCxnSpPr/>
          <p:nvPr/>
        </p:nvCxnSpPr>
        <p:spPr>
          <a:xfrm>
            <a:off x="8686800" y="3401568"/>
            <a:ext cx="320040" cy="0"/>
          </a:xfrm>
          <a:prstGeom prst="line">
            <a:avLst/>
          </a:prstGeom>
          <a:ln w="19050">
            <a:solidFill>
              <a:srgbClr val="4F8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40355240-8625-6F09-6384-CFE0D9931C7C}"/>
              </a:ext>
            </a:extLst>
          </p:cNvPr>
          <p:cNvSpPr/>
          <p:nvPr/>
        </p:nvSpPr>
        <p:spPr>
          <a:xfrm rot="5400000">
            <a:off x="8951976" y="3337560"/>
            <a:ext cx="128016" cy="128016"/>
          </a:xfrm>
          <a:prstGeom prst="triangle">
            <a:avLst/>
          </a:prstGeom>
          <a:solidFill>
            <a:srgbClr val="4F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B682EB4-EC4D-3A28-3D18-11437DAC3E1E}"/>
              </a:ext>
            </a:extLst>
          </p:cNvPr>
          <p:cNvSpPr/>
          <p:nvPr/>
        </p:nvSpPr>
        <p:spPr>
          <a:xfrm>
            <a:off x="8823960" y="1828800"/>
            <a:ext cx="566928" cy="566928"/>
          </a:xfrm>
          <a:prstGeom prst="ellipse">
            <a:avLst/>
          </a:prstGeom>
          <a:solidFill>
            <a:srgbClr val="1FCDB0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F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43" name="Rounded Rectangle 40">
            <a:extLst>
              <a:ext uri="{FF2B5EF4-FFF2-40B4-BE49-F238E27FC236}">
                <a16:creationId xmlns:a16="http://schemas.microsoft.com/office/drawing/2014/main" id="{200F7574-FFF1-8E63-CF1D-832F47F0C120}"/>
              </a:ext>
            </a:extLst>
          </p:cNvPr>
          <p:cNvSpPr/>
          <p:nvPr/>
        </p:nvSpPr>
        <p:spPr>
          <a:xfrm>
            <a:off x="8778240" y="2606040"/>
            <a:ext cx="1554480" cy="160020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400" b="1">
                <a:solidFill>
                  <a:srgbClr val="F8FAFF"/>
                </a:solidFill>
                <a:latin typeface="Aptos Display"/>
              </a:defRPr>
            </a:pPr>
            <a:r>
              <a:t>SFTP</a:t>
            </a:r>
          </a:p>
          <a:p>
            <a:pPr>
              <a:spcBef>
                <a:spcPts val="700"/>
              </a:spcBef>
              <a:defRPr sz="1050">
                <a:solidFill>
                  <a:srgbClr val="E0E7F6"/>
                </a:solidFill>
                <a:latin typeface="Aptos"/>
              </a:defRPr>
            </a:pPr>
            <a:r>
              <a:t>Transfers payroll-ready file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A1BD247-BA1F-460E-B2C5-C4DBC921FFFE}"/>
              </a:ext>
            </a:extLst>
          </p:cNvPr>
          <p:cNvSpPr/>
          <p:nvPr/>
        </p:nvSpPr>
        <p:spPr>
          <a:xfrm>
            <a:off x="8778240" y="2606040"/>
            <a:ext cx="64008" cy="1600200"/>
          </a:xfrm>
          <a:prstGeom prst="rect">
            <a:avLst/>
          </a:prstGeom>
          <a:solidFill>
            <a:srgbClr val="1FC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2">
            <a:extLst>
              <a:ext uri="{FF2B5EF4-FFF2-40B4-BE49-F238E27FC236}">
                <a16:creationId xmlns:a16="http://schemas.microsoft.com/office/drawing/2014/main" id="{BA835A4E-05F4-E9E2-DA08-CFDD361D3ADB}"/>
              </a:ext>
            </a:extLst>
          </p:cNvPr>
          <p:cNvCxnSpPr/>
          <p:nvPr/>
        </p:nvCxnSpPr>
        <p:spPr>
          <a:xfrm>
            <a:off x="10332720" y="3401568"/>
            <a:ext cx="320040" cy="0"/>
          </a:xfrm>
          <a:prstGeom prst="line">
            <a:avLst/>
          </a:prstGeom>
          <a:ln w="19050">
            <a:solidFill>
              <a:srgbClr val="4F8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08EE8B62-4CC1-7BCD-D37E-F8771DDC1F00}"/>
              </a:ext>
            </a:extLst>
          </p:cNvPr>
          <p:cNvSpPr/>
          <p:nvPr/>
        </p:nvSpPr>
        <p:spPr>
          <a:xfrm rot="5400000">
            <a:off x="10597896" y="3337560"/>
            <a:ext cx="128016" cy="128016"/>
          </a:xfrm>
          <a:prstGeom prst="triangle">
            <a:avLst/>
          </a:prstGeom>
          <a:solidFill>
            <a:srgbClr val="4F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B829651-8AA7-FBA7-102D-6D88890D458E}"/>
              </a:ext>
            </a:extLst>
          </p:cNvPr>
          <p:cNvSpPr/>
          <p:nvPr/>
        </p:nvSpPr>
        <p:spPr>
          <a:xfrm>
            <a:off x="10469880" y="1828800"/>
            <a:ext cx="566928" cy="566928"/>
          </a:xfrm>
          <a:prstGeom prst="ellipse">
            <a:avLst/>
          </a:prstGeom>
          <a:solidFill>
            <a:srgbClr val="EE5869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F"/>
                </a:solidFill>
                <a:latin typeface="Aptos Display"/>
              </a:defRPr>
            </a:pPr>
            <a:r>
              <a:t>7</a:t>
            </a:r>
          </a:p>
        </p:txBody>
      </p:sp>
      <p:sp>
        <p:nvSpPr>
          <p:cNvPr id="48" name="Rounded Rectangle 45">
            <a:extLst>
              <a:ext uri="{FF2B5EF4-FFF2-40B4-BE49-F238E27FC236}">
                <a16:creationId xmlns:a16="http://schemas.microsoft.com/office/drawing/2014/main" id="{37E117FC-30DA-D034-90D4-44C786DA9372}"/>
              </a:ext>
            </a:extLst>
          </p:cNvPr>
          <p:cNvSpPr/>
          <p:nvPr/>
        </p:nvSpPr>
        <p:spPr>
          <a:xfrm>
            <a:off x="10424160" y="2606040"/>
            <a:ext cx="1554480" cy="160020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400" b="1">
                <a:solidFill>
                  <a:srgbClr val="F8FAFF"/>
                </a:solidFill>
                <a:latin typeface="Aptos Display"/>
              </a:defRPr>
            </a:pPr>
            <a:r>
              <a:t>Mail</a:t>
            </a:r>
          </a:p>
          <a:p>
            <a:pPr>
              <a:spcBef>
                <a:spcPts val="700"/>
              </a:spcBef>
              <a:defRPr sz="1050">
                <a:solidFill>
                  <a:srgbClr val="E0E7F6"/>
                </a:solidFill>
                <a:latin typeface="Aptos"/>
              </a:defRPr>
            </a:pPr>
            <a:r>
              <a:t>Notifies admin on failure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81E8903-8D40-BD6C-2637-E87872041E24}"/>
              </a:ext>
            </a:extLst>
          </p:cNvPr>
          <p:cNvSpPr/>
          <p:nvPr/>
        </p:nvSpPr>
        <p:spPr>
          <a:xfrm>
            <a:off x="10424160" y="2606040"/>
            <a:ext cx="64008" cy="1600200"/>
          </a:xfrm>
          <a:prstGeom prst="rect">
            <a:avLst/>
          </a:prstGeom>
          <a:solidFill>
            <a:srgbClr val="EE5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7">
            <a:extLst>
              <a:ext uri="{FF2B5EF4-FFF2-40B4-BE49-F238E27FC236}">
                <a16:creationId xmlns:a16="http://schemas.microsoft.com/office/drawing/2014/main" id="{75095056-A982-7BD6-A7D6-959F2183EB14}"/>
              </a:ext>
            </a:extLst>
          </p:cNvPr>
          <p:cNvSpPr/>
          <p:nvPr/>
        </p:nvSpPr>
        <p:spPr>
          <a:xfrm>
            <a:off x="1965960" y="4800600"/>
            <a:ext cx="8229600" cy="82296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400" b="1">
                <a:solidFill>
                  <a:srgbClr val="F8FAFF"/>
                </a:solidFill>
                <a:latin typeface="Aptos Display"/>
              </a:defRPr>
            </a:pPr>
            <a:r>
              <a:t>Control Point</a:t>
            </a:r>
          </a:p>
          <a:p>
            <a:pPr>
              <a:spcBef>
                <a:spcPts val="700"/>
              </a:spcBef>
              <a:defRPr sz="1150">
                <a:solidFill>
                  <a:srgbClr val="E0E7F6"/>
                </a:solidFill>
                <a:latin typeface="Aptos"/>
              </a:defRPr>
            </a:pPr>
            <a:r>
              <a:t>If any processing step fails, the Exception Subprocess captures the error and routes an email notification.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BBC870B-AF05-F2F3-E0FD-56450A700215}"/>
              </a:ext>
            </a:extLst>
          </p:cNvPr>
          <p:cNvSpPr/>
          <p:nvPr/>
        </p:nvSpPr>
        <p:spPr>
          <a:xfrm>
            <a:off x="1965960" y="4800600"/>
            <a:ext cx="64008" cy="822960"/>
          </a:xfrm>
          <a:prstGeom prst="rect">
            <a:avLst/>
          </a:prstGeom>
          <a:solidFill>
            <a:srgbClr val="EE5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87EAA3-7C02-DE4F-8011-971A82CD2720}"/>
              </a:ext>
            </a:extLst>
          </p:cNvPr>
          <p:cNvSpPr txBox="1"/>
          <p:nvPr/>
        </p:nvSpPr>
        <p:spPr>
          <a:xfrm>
            <a:off x="658368" y="6473952"/>
            <a:ext cx="326563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084AA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Employee Data Synchronization  |  SAP Integration Suite Capstone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ADE54EE-D40E-2D58-7F6F-61812F69137A}"/>
              </a:ext>
            </a:extLst>
          </p:cNvPr>
          <p:cNvSpPr txBox="1"/>
          <p:nvPr/>
        </p:nvSpPr>
        <p:spPr>
          <a:xfrm>
            <a:off x="11201400" y="64190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8C5E0"/>
                </a:solidFill>
                <a:latin typeface="Aptos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3331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928321-A33F-4313-FC73-872E78CF9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096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1">
            <a:extLst>
              <a:ext uri="{FF2B5EF4-FFF2-40B4-BE49-F238E27FC236}">
                <a16:creationId xmlns:a16="http://schemas.microsoft.com/office/drawing/2014/main" id="{2103A777-854E-7F8F-C40F-ACDD1A06110E}"/>
              </a:ext>
            </a:extLst>
          </p:cNvPr>
          <p:cNvCxnSpPr/>
          <p:nvPr/>
        </p:nvCxnSpPr>
        <p:spPr>
          <a:xfrm>
            <a:off x="9326880" y="228600"/>
            <a:ext cx="2651760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2">
            <a:extLst>
              <a:ext uri="{FF2B5EF4-FFF2-40B4-BE49-F238E27FC236}">
                <a16:creationId xmlns:a16="http://schemas.microsoft.com/office/drawing/2014/main" id="{9F583EE1-39C1-C616-B384-8D574A3DBD64}"/>
              </a:ext>
            </a:extLst>
          </p:cNvPr>
          <p:cNvCxnSpPr/>
          <p:nvPr/>
        </p:nvCxnSpPr>
        <p:spPr>
          <a:xfrm>
            <a:off x="9674352" y="301752"/>
            <a:ext cx="2304288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3">
            <a:extLst>
              <a:ext uri="{FF2B5EF4-FFF2-40B4-BE49-F238E27FC236}">
                <a16:creationId xmlns:a16="http://schemas.microsoft.com/office/drawing/2014/main" id="{2203DB46-ACBA-183E-EFFE-6673FACD8A72}"/>
              </a:ext>
            </a:extLst>
          </p:cNvPr>
          <p:cNvCxnSpPr/>
          <p:nvPr/>
        </p:nvCxnSpPr>
        <p:spPr>
          <a:xfrm>
            <a:off x="10021824" y="374904"/>
            <a:ext cx="1956816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4">
            <a:extLst>
              <a:ext uri="{FF2B5EF4-FFF2-40B4-BE49-F238E27FC236}">
                <a16:creationId xmlns:a16="http://schemas.microsoft.com/office/drawing/2014/main" id="{8CB6036B-8692-EADB-5CC8-4A8BA3844D64}"/>
              </a:ext>
            </a:extLst>
          </p:cNvPr>
          <p:cNvCxnSpPr/>
          <p:nvPr/>
        </p:nvCxnSpPr>
        <p:spPr>
          <a:xfrm>
            <a:off x="10369296" y="448056"/>
            <a:ext cx="1609344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EE09511F-FC2C-0262-A921-1F592CFB5407}"/>
              </a:ext>
            </a:extLst>
          </p:cNvPr>
          <p:cNvCxnSpPr/>
          <p:nvPr/>
        </p:nvCxnSpPr>
        <p:spPr>
          <a:xfrm>
            <a:off x="10716767" y="521208"/>
            <a:ext cx="1261873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6">
            <a:extLst>
              <a:ext uri="{FF2B5EF4-FFF2-40B4-BE49-F238E27FC236}">
                <a16:creationId xmlns:a16="http://schemas.microsoft.com/office/drawing/2014/main" id="{2362C5BE-D600-C794-D23C-65916C98580B}"/>
              </a:ext>
            </a:extLst>
          </p:cNvPr>
          <p:cNvCxnSpPr/>
          <p:nvPr/>
        </p:nvCxnSpPr>
        <p:spPr>
          <a:xfrm>
            <a:off x="11064240" y="594360"/>
            <a:ext cx="914400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7">
            <a:extLst>
              <a:ext uri="{FF2B5EF4-FFF2-40B4-BE49-F238E27FC236}">
                <a16:creationId xmlns:a16="http://schemas.microsoft.com/office/drawing/2014/main" id="{C627FB37-4E0A-20E3-12AD-713AD077DF3E}"/>
              </a:ext>
            </a:extLst>
          </p:cNvPr>
          <p:cNvCxnSpPr/>
          <p:nvPr/>
        </p:nvCxnSpPr>
        <p:spPr>
          <a:xfrm>
            <a:off x="11411712" y="667512"/>
            <a:ext cx="566928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Arc 10">
            <a:extLst>
              <a:ext uri="{FF2B5EF4-FFF2-40B4-BE49-F238E27FC236}">
                <a16:creationId xmlns:a16="http://schemas.microsoft.com/office/drawing/2014/main" id="{3E6C081A-0DCB-7FA8-4787-8CC81F1BB1EB}"/>
              </a:ext>
            </a:extLst>
          </p:cNvPr>
          <p:cNvSpPr/>
          <p:nvPr/>
        </p:nvSpPr>
        <p:spPr>
          <a:xfrm>
            <a:off x="-731520" y="5989320"/>
            <a:ext cx="7315200" cy="1280160"/>
          </a:xfrm>
          <a:prstGeom prst="arc">
            <a:avLst/>
          </a:prstGeom>
          <a:noFill/>
          <a:ln w="25400">
            <a:solidFill>
              <a:srgbClr val="6F3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443783A3-3C83-8791-58A2-593AE8060495}"/>
              </a:ext>
            </a:extLst>
          </p:cNvPr>
          <p:cNvSpPr/>
          <p:nvPr/>
        </p:nvSpPr>
        <p:spPr>
          <a:xfrm>
            <a:off x="-594360" y="6099048"/>
            <a:ext cx="7315200" cy="1280160"/>
          </a:xfrm>
          <a:prstGeom prst="arc">
            <a:avLst/>
          </a:prstGeom>
          <a:noFill/>
          <a:ln w="25400">
            <a:solidFill>
              <a:srgbClr val="27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2B925028-C863-9630-9772-0A6D0739FCCD}"/>
              </a:ext>
            </a:extLst>
          </p:cNvPr>
          <p:cNvSpPr/>
          <p:nvPr/>
        </p:nvSpPr>
        <p:spPr>
          <a:xfrm>
            <a:off x="-457200" y="6208776"/>
            <a:ext cx="7315200" cy="1280160"/>
          </a:xfrm>
          <a:prstGeom prst="arc">
            <a:avLst/>
          </a:prstGeom>
          <a:noFill/>
          <a:ln w="25400">
            <a:solidFill>
              <a:srgbClr val="96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56A998-CE65-4E08-C1FB-3202AE53E624}"/>
              </a:ext>
            </a:extLst>
          </p:cNvPr>
          <p:cNvSpPr txBox="1"/>
          <p:nvPr/>
        </p:nvSpPr>
        <p:spPr>
          <a:xfrm>
            <a:off x="640080" y="411480"/>
            <a:ext cx="826886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F"/>
                </a:solidFill>
                <a:latin typeface="Aptos Display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Message Mapping — SuccessFactors to S/4HANA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002489-85CD-6106-5645-6691AB556D78}"/>
              </a:ext>
            </a:extLst>
          </p:cNvPr>
          <p:cNvSpPr txBox="1"/>
          <p:nvPr/>
        </p:nvSpPr>
        <p:spPr>
          <a:xfrm>
            <a:off x="658368" y="987552"/>
            <a:ext cx="4072525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B8C5E0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Mapping logic follows the assessment specification.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86BFB3-D1DF-F72C-096C-D90E165419CB}"/>
              </a:ext>
            </a:extLst>
          </p:cNvPr>
          <p:cNvSpPr/>
          <p:nvPr/>
        </p:nvSpPr>
        <p:spPr>
          <a:xfrm>
            <a:off x="658368" y="1417320"/>
            <a:ext cx="1051560" cy="41148"/>
          </a:xfrm>
          <a:prstGeom prst="rect">
            <a:avLst/>
          </a:prstGeom>
          <a:solidFill>
            <a:srgbClr val="96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8BA1348-0965-BA67-03FA-73DC63AA97B1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783080"/>
          <a:ext cx="10835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Target Field</a:t>
                      </a:r>
                    </a:p>
                  </a:txBody>
                  <a:tcPr marL="64008" marR="64008" marT="36576" marB="36576">
                    <a:solidFill>
                      <a:srgbClr val="122A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Source Field</a:t>
                      </a:r>
                    </a:p>
                  </a:txBody>
                  <a:tcPr marL="64008" marR="64008" marT="36576" marB="36576">
                    <a:solidFill>
                      <a:srgbClr val="122A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Mapping Logic</a:t>
                      </a:r>
                    </a:p>
                  </a:txBody>
                  <a:tcPr marL="64008" marR="64008" marT="36576" marB="36576">
                    <a:solidFill>
                      <a:srgbClr val="122A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Requirement</a:t>
                      </a:r>
                    </a:p>
                  </a:txBody>
                  <a:tcPr marL="64008" marR="64008" marT="36576" marB="36576">
                    <a:solidFill>
                      <a:srgbClr val="122A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0E7F6"/>
                          </a:solidFill>
                          <a:latin typeface="Aptos"/>
                        </a:defRPr>
                      </a:pPr>
                      <a:r>
                        <a:t>Mandt</a:t>
                      </a:r>
                    </a:p>
                  </a:txBody>
                  <a:tcPr marL="64008" marR="64008" marT="36576" marB="36576">
                    <a:solidFill>
                      <a:srgbClr val="0A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0E7F6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0A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0E7F6"/>
                          </a:solidFill>
                          <a:latin typeface="Aptos"/>
                        </a:defRPr>
                      </a:pPr>
                      <a:r>
                        <a:t>Hardcode 500</a:t>
                      </a:r>
                    </a:p>
                  </a:txBody>
                  <a:tcPr marL="64008" marR="64008" marT="36576" marB="36576">
                    <a:solidFill>
                      <a:srgbClr val="0A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0E7F6"/>
                          </a:solidFill>
                          <a:latin typeface="Aptos"/>
                        </a:defRPr>
                      </a:pPr>
                      <a:r>
                        <a:t>Static SAP client</a:t>
                      </a:r>
                    </a:p>
                  </a:txBody>
                  <a:tcPr marL="64008" marR="64008" marT="36576" marB="36576">
                    <a:solidFill>
                      <a:srgbClr val="0A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0E7F6"/>
                          </a:solidFill>
                          <a:latin typeface="Aptos"/>
                        </a:defRPr>
                      </a:pPr>
                      <a:r>
                        <a:t>Participantid</a:t>
                      </a:r>
                    </a:p>
                  </a:txBody>
                  <a:tcPr marL="64008" marR="64008" marT="36576" marB="36576">
                    <a:solidFill>
                      <a:srgbClr val="0A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0E7F6"/>
                          </a:solidFill>
                          <a:latin typeface="Aptos"/>
                        </a:defRPr>
                      </a:pPr>
                      <a:r>
                        <a:t>firstName + lastName</a:t>
                      </a:r>
                    </a:p>
                  </a:txBody>
                  <a:tcPr marL="64008" marR="64008" marT="36576" marB="36576">
                    <a:solidFill>
                      <a:srgbClr val="0A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0E7F6"/>
                          </a:solidFill>
                          <a:latin typeface="Aptos"/>
                        </a:defRPr>
                      </a:pPr>
                      <a:r>
                        <a:t>Concatenate with space</a:t>
                      </a:r>
                    </a:p>
                  </a:txBody>
                  <a:tcPr marL="64008" marR="64008" marT="36576" marB="36576">
                    <a:solidFill>
                      <a:srgbClr val="0A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0E7F6"/>
                          </a:solidFill>
                          <a:latin typeface="Aptos"/>
                        </a:defRPr>
                      </a:pPr>
                      <a:r>
                        <a:t>Required</a:t>
                      </a:r>
                    </a:p>
                  </a:txBody>
                  <a:tcPr marL="64008" marR="64008" marT="36576" marB="36576">
                    <a:solidFill>
                      <a:srgbClr val="0A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0E7F6"/>
                          </a:solidFill>
                          <a:latin typeface="Aptos"/>
                        </a:defRPr>
                      </a:pPr>
                      <a:r>
                        <a:t>Country</a:t>
                      </a:r>
                    </a:p>
                  </a:txBody>
                  <a:tcPr marL="64008" marR="64008" marT="36576" marB="36576">
                    <a:solidFill>
                      <a:srgbClr val="0A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0E7F6"/>
                          </a:solidFill>
                          <a:latin typeface="Aptos"/>
                        </a:defRPr>
                      </a:pPr>
                      <a:r>
                        <a:t>country</a:t>
                      </a:r>
                    </a:p>
                  </a:txBody>
                  <a:tcPr marL="64008" marR="64008" marT="36576" marB="36576">
                    <a:solidFill>
                      <a:srgbClr val="0A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0E7F6"/>
                          </a:solidFill>
                          <a:latin typeface="Aptos"/>
                        </a:defRPr>
                      </a:pPr>
                      <a:r>
                        <a:rPr dirty="0"/>
                        <a:t>Direct mapping</a:t>
                      </a:r>
                    </a:p>
                  </a:txBody>
                  <a:tcPr marL="64008" marR="64008" marT="36576" marB="36576">
                    <a:solidFill>
                      <a:srgbClr val="0A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0E7F6"/>
                          </a:solidFill>
                          <a:latin typeface="Aptos"/>
                        </a:defRPr>
                      </a:pPr>
                      <a:r>
                        <a:t>Uppercase if required</a:t>
                      </a:r>
                    </a:p>
                  </a:txBody>
                  <a:tcPr marL="64008" marR="64008" marT="36576" marB="36576">
                    <a:solidFill>
                      <a:srgbClr val="0A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0E7F6"/>
                          </a:solidFill>
                          <a:latin typeface="Aptos"/>
                        </a:defRPr>
                      </a:pPr>
                      <a:r>
                        <a:t>Sfempname</a:t>
                      </a:r>
                    </a:p>
                  </a:txBody>
                  <a:tcPr marL="64008" marR="64008" marT="36576" marB="36576">
                    <a:solidFill>
                      <a:srgbClr val="0A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0E7F6"/>
                          </a:solidFill>
                          <a:latin typeface="Aptos"/>
                        </a:defRPr>
                      </a:pPr>
                      <a:r>
                        <a:t>firstName + lastName</a:t>
                      </a:r>
                    </a:p>
                  </a:txBody>
                  <a:tcPr marL="64008" marR="64008" marT="36576" marB="36576">
                    <a:solidFill>
                      <a:srgbClr val="0A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0E7F6"/>
                          </a:solidFill>
                          <a:latin typeface="Aptos"/>
                        </a:defRPr>
                      </a:pPr>
                      <a:r>
                        <a:t>Concatenate with space</a:t>
                      </a:r>
                    </a:p>
                  </a:txBody>
                  <a:tcPr marL="64008" marR="64008" marT="36576" marB="36576">
                    <a:solidFill>
                      <a:srgbClr val="0A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0E7F6"/>
                          </a:solidFill>
                          <a:latin typeface="Aptos"/>
                        </a:defRPr>
                      </a:pPr>
                      <a:r>
                        <a:t>Same as Participantid</a:t>
                      </a:r>
                    </a:p>
                  </a:txBody>
                  <a:tcPr marL="64008" marR="64008" marT="36576" marB="36576">
                    <a:solidFill>
                      <a:srgbClr val="0A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0E7F6"/>
                          </a:solidFill>
                          <a:latin typeface="Aptos"/>
                        </a:defRPr>
                      </a:pPr>
                      <a:r>
                        <a:t>City</a:t>
                      </a:r>
                    </a:p>
                  </a:txBody>
                  <a:tcPr marL="64008" marR="64008" marT="36576" marB="36576">
                    <a:solidFill>
                      <a:srgbClr val="0A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0E7F6"/>
                          </a:solidFill>
                          <a:latin typeface="Aptos"/>
                        </a:defRPr>
                      </a:pPr>
                      <a:r>
                        <a:t>city</a:t>
                      </a:r>
                    </a:p>
                  </a:txBody>
                  <a:tcPr marL="64008" marR="64008" marT="36576" marB="36576">
                    <a:solidFill>
                      <a:srgbClr val="0A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0E7F6"/>
                          </a:solidFill>
                          <a:latin typeface="Aptos"/>
                        </a:defRPr>
                      </a:pPr>
                      <a:r>
                        <a:t>Direct mapping</a:t>
                      </a:r>
                    </a:p>
                  </a:txBody>
                  <a:tcPr marL="64008" marR="64008" marT="36576" marB="36576">
                    <a:solidFill>
                      <a:srgbClr val="0A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0E7F6"/>
                          </a:solidFill>
                          <a:latin typeface="Aptos"/>
                        </a:defRPr>
                      </a:pPr>
                      <a:r>
                        <a:rPr dirty="0"/>
                        <a:t>From SuccessFactors</a:t>
                      </a:r>
                    </a:p>
                  </a:txBody>
                  <a:tcPr marL="64008" marR="64008" marT="36576" marB="36576">
                    <a:solidFill>
                      <a:srgbClr val="0A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Rounded Rectangle 15">
            <a:extLst>
              <a:ext uri="{FF2B5EF4-FFF2-40B4-BE49-F238E27FC236}">
                <a16:creationId xmlns:a16="http://schemas.microsoft.com/office/drawing/2014/main" id="{976484F4-EF8F-65DC-760C-9CAE4266B3E9}"/>
              </a:ext>
            </a:extLst>
          </p:cNvPr>
          <p:cNvSpPr/>
          <p:nvPr/>
        </p:nvSpPr>
        <p:spPr>
          <a:xfrm>
            <a:off x="1005840" y="5440680"/>
            <a:ext cx="9966960" cy="68580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300" b="1">
                <a:solidFill>
                  <a:srgbClr val="F8FAFF"/>
                </a:solidFill>
                <a:latin typeface="Aptos Display"/>
              </a:defRPr>
            </a:pPr>
            <a:r>
              <a:t>Example</a:t>
            </a:r>
          </a:p>
          <a:p>
            <a:pPr>
              <a:spcBef>
                <a:spcPts val="700"/>
              </a:spcBef>
              <a:defRPr sz="1050">
                <a:solidFill>
                  <a:srgbClr val="E0E7F6"/>
                </a:solidFill>
                <a:latin typeface="Aptos"/>
              </a:defRPr>
            </a:pPr>
            <a:r>
              <a:t>Erik + Hansen → Participantid = “Erik Hansen” | Mandt = “500” | Country and City copied from source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BE6396-84F0-DD16-4C1A-FBDC57A6CFEC}"/>
              </a:ext>
            </a:extLst>
          </p:cNvPr>
          <p:cNvSpPr/>
          <p:nvPr/>
        </p:nvSpPr>
        <p:spPr>
          <a:xfrm>
            <a:off x="1005840" y="5440680"/>
            <a:ext cx="64008" cy="685800"/>
          </a:xfrm>
          <a:prstGeom prst="rect">
            <a:avLst/>
          </a:prstGeom>
          <a:solidFill>
            <a:srgbClr val="6F3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B1FDBE-5EFC-0B25-6D07-06CD0307C4D3}"/>
              </a:ext>
            </a:extLst>
          </p:cNvPr>
          <p:cNvSpPr txBox="1"/>
          <p:nvPr/>
        </p:nvSpPr>
        <p:spPr>
          <a:xfrm>
            <a:off x="658368" y="6473952"/>
            <a:ext cx="326563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084AA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Employee Data Synchronization  |  SAP Integration Suite Capstone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598F2B-EAEE-7BBE-2DF7-E552FFF09897}"/>
              </a:ext>
            </a:extLst>
          </p:cNvPr>
          <p:cNvSpPr txBox="1"/>
          <p:nvPr/>
        </p:nvSpPr>
        <p:spPr>
          <a:xfrm>
            <a:off x="11201400" y="64190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8C5E0"/>
                </a:solidFill>
                <a:latin typeface="Aptos"/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05440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7FB6B-A96E-5D09-7F8F-2143EBA20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1">
            <a:extLst>
              <a:ext uri="{FF2B5EF4-FFF2-40B4-BE49-F238E27FC236}">
                <a16:creationId xmlns:a16="http://schemas.microsoft.com/office/drawing/2014/main" id="{4FB94D68-82DF-7974-BF4A-CE4FEC638845}"/>
              </a:ext>
            </a:extLst>
          </p:cNvPr>
          <p:cNvCxnSpPr/>
          <p:nvPr/>
        </p:nvCxnSpPr>
        <p:spPr>
          <a:xfrm>
            <a:off x="9326880" y="228600"/>
            <a:ext cx="2651760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2">
            <a:extLst>
              <a:ext uri="{FF2B5EF4-FFF2-40B4-BE49-F238E27FC236}">
                <a16:creationId xmlns:a16="http://schemas.microsoft.com/office/drawing/2014/main" id="{FF048911-2E70-BB37-4E65-13FA25002AF1}"/>
              </a:ext>
            </a:extLst>
          </p:cNvPr>
          <p:cNvCxnSpPr/>
          <p:nvPr/>
        </p:nvCxnSpPr>
        <p:spPr>
          <a:xfrm>
            <a:off x="9674352" y="301752"/>
            <a:ext cx="2304288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3">
            <a:extLst>
              <a:ext uri="{FF2B5EF4-FFF2-40B4-BE49-F238E27FC236}">
                <a16:creationId xmlns:a16="http://schemas.microsoft.com/office/drawing/2014/main" id="{B76A3CCB-4047-E19A-D8F0-79820024F9A3}"/>
              </a:ext>
            </a:extLst>
          </p:cNvPr>
          <p:cNvCxnSpPr/>
          <p:nvPr/>
        </p:nvCxnSpPr>
        <p:spPr>
          <a:xfrm>
            <a:off x="10021824" y="374904"/>
            <a:ext cx="1956816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4">
            <a:extLst>
              <a:ext uri="{FF2B5EF4-FFF2-40B4-BE49-F238E27FC236}">
                <a16:creationId xmlns:a16="http://schemas.microsoft.com/office/drawing/2014/main" id="{308F2570-8A14-4B43-5A24-48114E13089C}"/>
              </a:ext>
            </a:extLst>
          </p:cNvPr>
          <p:cNvCxnSpPr/>
          <p:nvPr/>
        </p:nvCxnSpPr>
        <p:spPr>
          <a:xfrm>
            <a:off x="10369296" y="448056"/>
            <a:ext cx="1609344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85F776CE-C998-8C6D-8C62-3D6F10BFA8FF}"/>
              </a:ext>
            </a:extLst>
          </p:cNvPr>
          <p:cNvCxnSpPr/>
          <p:nvPr/>
        </p:nvCxnSpPr>
        <p:spPr>
          <a:xfrm>
            <a:off x="10716767" y="521208"/>
            <a:ext cx="1261873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6">
            <a:extLst>
              <a:ext uri="{FF2B5EF4-FFF2-40B4-BE49-F238E27FC236}">
                <a16:creationId xmlns:a16="http://schemas.microsoft.com/office/drawing/2014/main" id="{5E0978B5-6882-0BE4-0035-8633B8A91072}"/>
              </a:ext>
            </a:extLst>
          </p:cNvPr>
          <p:cNvCxnSpPr/>
          <p:nvPr/>
        </p:nvCxnSpPr>
        <p:spPr>
          <a:xfrm>
            <a:off x="11064240" y="594360"/>
            <a:ext cx="914400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7">
            <a:extLst>
              <a:ext uri="{FF2B5EF4-FFF2-40B4-BE49-F238E27FC236}">
                <a16:creationId xmlns:a16="http://schemas.microsoft.com/office/drawing/2014/main" id="{51900899-BE55-515D-583C-2A075DC3FC88}"/>
              </a:ext>
            </a:extLst>
          </p:cNvPr>
          <p:cNvCxnSpPr/>
          <p:nvPr/>
        </p:nvCxnSpPr>
        <p:spPr>
          <a:xfrm>
            <a:off x="11411712" y="667512"/>
            <a:ext cx="566928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Arc 10">
            <a:extLst>
              <a:ext uri="{FF2B5EF4-FFF2-40B4-BE49-F238E27FC236}">
                <a16:creationId xmlns:a16="http://schemas.microsoft.com/office/drawing/2014/main" id="{F00344E2-DEBB-AC4C-9ED7-2D42B3F72835}"/>
              </a:ext>
            </a:extLst>
          </p:cNvPr>
          <p:cNvSpPr/>
          <p:nvPr/>
        </p:nvSpPr>
        <p:spPr>
          <a:xfrm>
            <a:off x="-731520" y="5989320"/>
            <a:ext cx="7315200" cy="1280160"/>
          </a:xfrm>
          <a:prstGeom prst="arc">
            <a:avLst/>
          </a:prstGeom>
          <a:noFill/>
          <a:ln w="25400">
            <a:solidFill>
              <a:srgbClr val="6F3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C372B6C-6617-4FFD-0DEE-239EEB1AE18F}"/>
              </a:ext>
            </a:extLst>
          </p:cNvPr>
          <p:cNvSpPr/>
          <p:nvPr/>
        </p:nvSpPr>
        <p:spPr>
          <a:xfrm>
            <a:off x="-594360" y="6099048"/>
            <a:ext cx="7315200" cy="1280160"/>
          </a:xfrm>
          <a:prstGeom prst="arc">
            <a:avLst/>
          </a:prstGeom>
          <a:noFill/>
          <a:ln w="25400">
            <a:solidFill>
              <a:srgbClr val="27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28A570F4-DA39-686A-A09D-D291FE9C07AF}"/>
              </a:ext>
            </a:extLst>
          </p:cNvPr>
          <p:cNvSpPr/>
          <p:nvPr/>
        </p:nvSpPr>
        <p:spPr>
          <a:xfrm>
            <a:off x="-457200" y="6208776"/>
            <a:ext cx="7315200" cy="1280160"/>
          </a:xfrm>
          <a:prstGeom prst="arc">
            <a:avLst/>
          </a:prstGeom>
          <a:noFill/>
          <a:ln w="25400">
            <a:solidFill>
              <a:srgbClr val="96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D97E80-F16C-DBD8-C257-4B93F4BCC584}"/>
              </a:ext>
            </a:extLst>
          </p:cNvPr>
          <p:cNvSpPr txBox="1"/>
          <p:nvPr/>
        </p:nvSpPr>
        <p:spPr>
          <a:xfrm>
            <a:off x="640080" y="411480"/>
            <a:ext cx="595977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F"/>
                </a:solidFill>
                <a:latin typeface="Aptos Display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Exception Handling &amp; Reprocessing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DCBA2B-0852-1A61-6B13-D9F9CA81DD16}"/>
              </a:ext>
            </a:extLst>
          </p:cNvPr>
          <p:cNvSpPr txBox="1"/>
          <p:nvPr/>
        </p:nvSpPr>
        <p:spPr>
          <a:xfrm>
            <a:off x="658368" y="987552"/>
            <a:ext cx="4788811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B8C5E0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Failure notifications are isolated from the main business path.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38EE78-77F5-7619-0874-9109C60277AF}"/>
              </a:ext>
            </a:extLst>
          </p:cNvPr>
          <p:cNvSpPr/>
          <p:nvPr/>
        </p:nvSpPr>
        <p:spPr>
          <a:xfrm>
            <a:off x="658368" y="1417320"/>
            <a:ext cx="1051560" cy="41148"/>
          </a:xfrm>
          <a:prstGeom prst="rect">
            <a:avLst/>
          </a:prstGeom>
          <a:solidFill>
            <a:srgbClr val="96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4">
            <a:extLst>
              <a:ext uri="{FF2B5EF4-FFF2-40B4-BE49-F238E27FC236}">
                <a16:creationId xmlns:a16="http://schemas.microsoft.com/office/drawing/2014/main" id="{A886CF7F-5E9D-A98B-DE52-A7BE77919401}"/>
              </a:ext>
            </a:extLst>
          </p:cNvPr>
          <p:cNvSpPr/>
          <p:nvPr/>
        </p:nvSpPr>
        <p:spPr>
          <a:xfrm>
            <a:off x="731520" y="1828800"/>
            <a:ext cx="3063240" cy="237744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800" b="1">
                <a:solidFill>
                  <a:srgbClr val="F8FAFF"/>
                </a:solidFill>
                <a:latin typeface="Aptos Display"/>
              </a:defRPr>
            </a:pPr>
            <a:r>
              <a:t>Error Start</a:t>
            </a:r>
          </a:p>
          <a:p>
            <a:pPr>
              <a:spcBef>
                <a:spcPts val="700"/>
              </a:spcBef>
              <a:defRPr sz="1400">
                <a:solidFill>
                  <a:srgbClr val="E0E7F6"/>
                </a:solidFill>
                <a:latin typeface="Aptos"/>
              </a:defRPr>
            </a:pPr>
            <a:r>
              <a:t>Any message-processing exception enters the Exception Subprocess.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5851B0-DD07-ECEC-4ADC-55C719E0A9EF}"/>
              </a:ext>
            </a:extLst>
          </p:cNvPr>
          <p:cNvSpPr/>
          <p:nvPr/>
        </p:nvSpPr>
        <p:spPr>
          <a:xfrm>
            <a:off x="731520" y="1828800"/>
            <a:ext cx="64008" cy="2377440"/>
          </a:xfrm>
          <a:prstGeom prst="rect">
            <a:avLst/>
          </a:prstGeom>
          <a:solidFill>
            <a:srgbClr val="EE5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6">
            <a:extLst>
              <a:ext uri="{FF2B5EF4-FFF2-40B4-BE49-F238E27FC236}">
                <a16:creationId xmlns:a16="http://schemas.microsoft.com/office/drawing/2014/main" id="{57F27C8B-DAF7-2555-B607-553540F4BB21}"/>
              </a:ext>
            </a:extLst>
          </p:cNvPr>
          <p:cNvSpPr/>
          <p:nvPr/>
        </p:nvSpPr>
        <p:spPr>
          <a:xfrm>
            <a:off x="4526280" y="1828800"/>
            <a:ext cx="3063240" cy="237744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800" b="1">
                <a:solidFill>
                  <a:srgbClr val="F8FAFF"/>
                </a:solidFill>
                <a:latin typeface="Aptos Display"/>
              </a:defRPr>
            </a:pPr>
            <a:r>
              <a:t>Content Modifier</a:t>
            </a:r>
          </a:p>
          <a:p>
            <a:pPr>
              <a:spcBef>
                <a:spcPts val="700"/>
              </a:spcBef>
              <a:defRPr sz="1400">
                <a:solidFill>
                  <a:srgbClr val="E0E7F6"/>
                </a:solidFill>
                <a:latin typeface="Aptos"/>
              </a:defRPr>
            </a:pPr>
            <a:r>
              <a:t>Builds the administrator notification payload using error/context information.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0B1336-BFDE-8D43-960E-58ACA6C47112}"/>
              </a:ext>
            </a:extLst>
          </p:cNvPr>
          <p:cNvSpPr/>
          <p:nvPr/>
        </p:nvSpPr>
        <p:spPr>
          <a:xfrm>
            <a:off x="4526280" y="1828800"/>
            <a:ext cx="64008" cy="2377440"/>
          </a:xfrm>
          <a:prstGeom prst="rect">
            <a:avLst/>
          </a:prstGeom>
          <a:solidFill>
            <a:srgbClr val="96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18">
            <a:extLst>
              <a:ext uri="{FF2B5EF4-FFF2-40B4-BE49-F238E27FC236}">
                <a16:creationId xmlns:a16="http://schemas.microsoft.com/office/drawing/2014/main" id="{96EA5F0F-87C9-686D-4026-8E7A78DEB2C8}"/>
              </a:ext>
            </a:extLst>
          </p:cNvPr>
          <p:cNvSpPr/>
          <p:nvPr/>
        </p:nvSpPr>
        <p:spPr>
          <a:xfrm>
            <a:off x="8321040" y="1828800"/>
            <a:ext cx="3063240" cy="237744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800" b="1">
                <a:solidFill>
                  <a:srgbClr val="F8FAFF"/>
                </a:solidFill>
                <a:latin typeface="Aptos Display"/>
              </a:defRPr>
            </a:pPr>
            <a:r>
              <a:t>Mail Adapter</a:t>
            </a:r>
          </a:p>
          <a:p>
            <a:pPr>
              <a:spcBef>
                <a:spcPts val="700"/>
              </a:spcBef>
              <a:defRPr sz="1400">
                <a:solidFill>
                  <a:srgbClr val="E0E7F6"/>
                </a:solidFill>
                <a:latin typeface="Aptos"/>
              </a:defRPr>
            </a:pPr>
            <a:r>
              <a:t>Sends the notification through the configured personal Gmail/SMTP setup.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05BC5B-0EE2-2CA9-F1B4-FE9541BBAC12}"/>
              </a:ext>
            </a:extLst>
          </p:cNvPr>
          <p:cNvSpPr/>
          <p:nvPr/>
        </p:nvSpPr>
        <p:spPr>
          <a:xfrm>
            <a:off x="8321040" y="1828800"/>
            <a:ext cx="64008" cy="2377440"/>
          </a:xfrm>
          <a:prstGeom prst="rect">
            <a:avLst/>
          </a:prstGeom>
          <a:solidFill>
            <a:srgbClr val="2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0">
            <a:extLst>
              <a:ext uri="{FF2B5EF4-FFF2-40B4-BE49-F238E27FC236}">
                <a16:creationId xmlns:a16="http://schemas.microsoft.com/office/drawing/2014/main" id="{85573DD0-6997-0FF5-7A18-3A10EBD759F8}"/>
              </a:ext>
            </a:extLst>
          </p:cNvPr>
          <p:cNvCxnSpPr/>
          <p:nvPr/>
        </p:nvCxnSpPr>
        <p:spPr>
          <a:xfrm>
            <a:off x="3794760" y="3017520"/>
            <a:ext cx="731520" cy="0"/>
          </a:xfrm>
          <a:prstGeom prst="line">
            <a:avLst/>
          </a:prstGeom>
          <a:ln w="25400">
            <a:solidFill>
              <a:srgbClr val="EE5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ABC9042-5A4B-1755-4BA8-FB4EFBE77FBD}"/>
              </a:ext>
            </a:extLst>
          </p:cNvPr>
          <p:cNvSpPr/>
          <p:nvPr/>
        </p:nvSpPr>
        <p:spPr>
          <a:xfrm rot="5400000">
            <a:off x="4471416" y="2953512"/>
            <a:ext cx="128016" cy="128016"/>
          </a:xfrm>
          <a:prstGeom prst="triangle">
            <a:avLst/>
          </a:prstGeom>
          <a:solidFill>
            <a:srgbClr val="EE5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2">
            <a:extLst>
              <a:ext uri="{FF2B5EF4-FFF2-40B4-BE49-F238E27FC236}">
                <a16:creationId xmlns:a16="http://schemas.microsoft.com/office/drawing/2014/main" id="{0BF8ECFA-1705-BD13-EADB-987E7A5782A0}"/>
              </a:ext>
            </a:extLst>
          </p:cNvPr>
          <p:cNvCxnSpPr/>
          <p:nvPr/>
        </p:nvCxnSpPr>
        <p:spPr>
          <a:xfrm>
            <a:off x="7589520" y="3017520"/>
            <a:ext cx="731520" cy="0"/>
          </a:xfrm>
          <a:prstGeom prst="line">
            <a:avLst/>
          </a:prstGeom>
          <a:ln w="25400">
            <a:solidFill>
              <a:srgbClr val="96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941733E6-A719-3584-8EFC-F0F5D8CA915F}"/>
              </a:ext>
            </a:extLst>
          </p:cNvPr>
          <p:cNvSpPr/>
          <p:nvPr/>
        </p:nvSpPr>
        <p:spPr>
          <a:xfrm rot="5400000">
            <a:off x="8266175" y="2953512"/>
            <a:ext cx="128016" cy="128016"/>
          </a:xfrm>
          <a:prstGeom prst="triangle">
            <a:avLst/>
          </a:prstGeom>
          <a:solidFill>
            <a:srgbClr val="96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4">
            <a:extLst>
              <a:ext uri="{FF2B5EF4-FFF2-40B4-BE49-F238E27FC236}">
                <a16:creationId xmlns:a16="http://schemas.microsoft.com/office/drawing/2014/main" id="{13A29EE8-AE37-D2FB-9D12-CA0A53FE4163}"/>
              </a:ext>
            </a:extLst>
          </p:cNvPr>
          <p:cNvSpPr/>
          <p:nvPr/>
        </p:nvSpPr>
        <p:spPr>
          <a:xfrm>
            <a:off x="2057400" y="4709160"/>
            <a:ext cx="8092440" cy="86868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400" b="1">
                <a:solidFill>
                  <a:srgbClr val="F8FAFF"/>
                </a:solidFill>
                <a:latin typeface="Aptos Display"/>
              </a:defRPr>
            </a:pPr>
            <a:r>
              <a:t>Operational Benefit</a:t>
            </a:r>
          </a:p>
          <a:p>
            <a:pPr>
              <a:spcBef>
                <a:spcPts val="700"/>
              </a:spcBef>
              <a:defRPr sz="1150">
                <a:solidFill>
                  <a:srgbClr val="E0E7F6"/>
                </a:solidFill>
                <a:latin typeface="Aptos"/>
              </a:defRPr>
            </a:pPr>
            <a:r>
              <a:t>The main flow remains focused on business processing while failures become visible, actionable and easier to troubleshoot.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956E93-2D01-24D3-EA5D-C6EF8E683464}"/>
              </a:ext>
            </a:extLst>
          </p:cNvPr>
          <p:cNvSpPr/>
          <p:nvPr/>
        </p:nvSpPr>
        <p:spPr>
          <a:xfrm>
            <a:off x="2057400" y="4709160"/>
            <a:ext cx="64008" cy="868680"/>
          </a:xfrm>
          <a:prstGeom prst="rect">
            <a:avLst/>
          </a:prstGeom>
          <a:solidFill>
            <a:srgbClr val="1FC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01C0DF-2EF3-2857-F884-A1532EC00534}"/>
              </a:ext>
            </a:extLst>
          </p:cNvPr>
          <p:cNvSpPr txBox="1"/>
          <p:nvPr/>
        </p:nvSpPr>
        <p:spPr>
          <a:xfrm>
            <a:off x="658368" y="6473952"/>
            <a:ext cx="326563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084AA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Employee Data Synchronization  |  SAP Integration Suite Capstone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5F7CBD-DD3E-31FE-A2BE-EF0ADA95C9C4}"/>
              </a:ext>
            </a:extLst>
          </p:cNvPr>
          <p:cNvSpPr txBox="1"/>
          <p:nvPr/>
        </p:nvSpPr>
        <p:spPr>
          <a:xfrm>
            <a:off x="11201400" y="64190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8C5E0"/>
                </a:solidFill>
                <a:latin typeface="Aptos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47070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1">
            <a:extLst>
              <a:ext uri="{FF2B5EF4-FFF2-40B4-BE49-F238E27FC236}">
                <a16:creationId xmlns:a16="http://schemas.microsoft.com/office/drawing/2014/main" id="{17BAE5B8-6760-E935-4367-4EA1BFB02821}"/>
              </a:ext>
            </a:extLst>
          </p:cNvPr>
          <p:cNvCxnSpPr/>
          <p:nvPr/>
        </p:nvCxnSpPr>
        <p:spPr>
          <a:xfrm>
            <a:off x="9326880" y="228600"/>
            <a:ext cx="2651760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2">
            <a:extLst>
              <a:ext uri="{FF2B5EF4-FFF2-40B4-BE49-F238E27FC236}">
                <a16:creationId xmlns:a16="http://schemas.microsoft.com/office/drawing/2014/main" id="{C4B53764-A70E-B74A-E005-96A8A435E6C3}"/>
              </a:ext>
            </a:extLst>
          </p:cNvPr>
          <p:cNvCxnSpPr/>
          <p:nvPr/>
        </p:nvCxnSpPr>
        <p:spPr>
          <a:xfrm>
            <a:off x="9674352" y="301752"/>
            <a:ext cx="2304288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3">
            <a:extLst>
              <a:ext uri="{FF2B5EF4-FFF2-40B4-BE49-F238E27FC236}">
                <a16:creationId xmlns:a16="http://schemas.microsoft.com/office/drawing/2014/main" id="{A8A117F5-72F9-0E71-0D6D-3366F7C66106}"/>
              </a:ext>
            </a:extLst>
          </p:cNvPr>
          <p:cNvCxnSpPr/>
          <p:nvPr/>
        </p:nvCxnSpPr>
        <p:spPr>
          <a:xfrm>
            <a:off x="10021824" y="374904"/>
            <a:ext cx="1956816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4">
            <a:extLst>
              <a:ext uri="{FF2B5EF4-FFF2-40B4-BE49-F238E27FC236}">
                <a16:creationId xmlns:a16="http://schemas.microsoft.com/office/drawing/2014/main" id="{1DBC997C-FC54-1497-DC44-67159ED92452}"/>
              </a:ext>
            </a:extLst>
          </p:cNvPr>
          <p:cNvCxnSpPr/>
          <p:nvPr/>
        </p:nvCxnSpPr>
        <p:spPr>
          <a:xfrm>
            <a:off x="10369296" y="448056"/>
            <a:ext cx="1609344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8F9317F6-F28B-116E-3978-B5DC83802123}"/>
              </a:ext>
            </a:extLst>
          </p:cNvPr>
          <p:cNvCxnSpPr/>
          <p:nvPr/>
        </p:nvCxnSpPr>
        <p:spPr>
          <a:xfrm>
            <a:off x="10716767" y="521208"/>
            <a:ext cx="1261873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6">
            <a:extLst>
              <a:ext uri="{FF2B5EF4-FFF2-40B4-BE49-F238E27FC236}">
                <a16:creationId xmlns:a16="http://schemas.microsoft.com/office/drawing/2014/main" id="{D48E271A-64E0-F3B3-EB61-446C264A9085}"/>
              </a:ext>
            </a:extLst>
          </p:cNvPr>
          <p:cNvCxnSpPr/>
          <p:nvPr/>
        </p:nvCxnSpPr>
        <p:spPr>
          <a:xfrm>
            <a:off x="11064240" y="594360"/>
            <a:ext cx="914400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7">
            <a:extLst>
              <a:ext uri="{FF2B5EF4-FFF2-40B4-BE49-F238E27FC236}">
                <a16:creationId xmlns:a16="http://schemas.microsoft.com/office/drawing/2014/main" id="{72A18122-AF25-EDB7-1223-B735C32CCBBF}"/>
              </a:ext>
            </a:extLst>
          </p:cNvPr>
          <p:cNvCxnSpPr/>
          <p:nvPr/>
        </p:nvCxnSpPr>
        <p:spPr>
          <a:xfrm>
            <a:off x="11411712" y="667512"/>
            <a:ext cx="566928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Arc 10">
            <a:extLst>
              <a:ext uri="{FF2B5EF4-FFF2-40B4-BE49-F238E27FC236}">
                <a16:creationId xmlns:a16="http://schemas.microsoft.com/office/drawing/2014/main" id="{E17CF4D8-70F2-FED7-0625-C465A0592472}"/>
              </a:ext>
            </a:extLst>
          </p:cNvPr>
          <p:cNvSpPr/>
          <p:nvPr/>
        </p:nvSpPr>
        <p:spPr>
          <a:xfrm>
            <a:off x="-731520" y="5989320"/>
            <a:ext cx="7315200" cy="1280160"/>
          </a:xfrm>
          <a:prstGeom prst="arc">
            <a:avLst/>
          </a:prstGeom>
          <a:noFill/>
          <a:ln w="25400">
            <a:solidFill>
              <a:srgbClr val="6F3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ADE4BDC-707B-93A1-DDC7-A972B7D2D669}"/>
              </a:ext>
            </a:extLst>
          </p:cNvPr>
          <p:cNvSpPr/>
          <p:nvPr/>
        </p:nvSpPr>
        <p:spPr>
          <a:xfrm>
            <a:off x="-594360" y="6099048"/>
            <a:ext cx="7315200" cy="1280160"/>
          </a:xfrm>
          <a:prstGeom prst="arc">
            <a:avLst/>
          </a:prstGeom>
          <a:noFill/>
          <a:ln w="25400">
            <a:solidFill>
              <a:srgbClr val="27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35079707-D224-94A5-D008-98D8BEBAD93C}"/>
              </a:ext>
            </a:extLst>
          </p:cNvPr>
          <p:cNvSpPr/>
          <p:nvPr/>
        </p:nvSpPr>
        <p:spPr>
          <a:xfrm>
            <a:off x="-457200" y="6208776"/>
            <a:ext cx="7315200" cy="1280160"/>
          </a:xfrm>
          <a:prstGeom prst="arc">
            <a:avLst/>
          </a:prstGeom>
          <a:noFill/>
          <a:ln w="25400">
            <a:solidFill>
              <a:srgbClr val="96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DE8099-C496-1E09-8CEB-15EAA65718CC}"/>
              </a:ext>
            </a:extLst>
          </p:cNvPr>
          <p:cNvSpPr txBox="1"/>
          <p:nvPr/>
        </p:nvSpPr>
        <p:spPr>
          <a:xfrm>
            <a:off x="640080" y="411480"/>
            <a:ext cx="401584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F"/>
                </a:solidFill>
                <a:latin typeface="Aptos Display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Connectivity &amp; Security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C32CFA-8C8F-4FA2-1062-5BAB7E5D8907}"/>
              </a:ext>
            </a:extLst>
          </p:cNvPr>
          <p:cNvSpPr txBox="1"/>
          <p:nvPr/>
        </p:nvSpPr>
        <p:spPr>
          <a:xfrm>
            <a:off x="658368" y="987552"/>
            <a:ext cx="6214650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B8C5E0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Credential artifacts are referenced by the </a:t>
            </a:r>
            <a:r>
              <a:rPr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iFlow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instead of embedding passwords.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47E8BC-1BAE-BE7A-0A68-AF4B740CEAE9}"/>
              </a:ext>
            </a:extLst>
          </p:cNvPr>
          <p:cNvSpPr/>
          <p:nvPr/>
        </p:nvSpPr>
        <p:spPr>
          <a:xfrm>
            <a:off x="658368" y="1417320"/>
            <a:ext cx="1051560" cy="41148"/>
          </a:xfrm>
          <a:prstGeom prst="rect">
            <a:avLst/>
          </a:prstGeom>
          <a:solidFill>
            <a:srgbClr val="96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4">
            <a:extLst>
              <a:ext uri="{FF2B5EF4-FFF2-40B4-BE49-F238E27FC236}">
                <a16:creationId xmlns:a16="http://schemas.microsoft.com/office/drawing/2014/main" id="{734CF28D-82D0-6EBE-69EF-5F00E7F278CD}"/>
              </a:ext>
            </a:extLst>
          </p:cNvPr>
          <p:cNvSpPr/>
          <p:nvPr/>
        </p:nvSpPr>
        <p:spPr>
          <a:xfrm>
            <a:off x="731520" y="1783080"/>
            <a:ext cx="3246120" cy="310896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800" b="1">
                <a:solidFill>
                  <a:srgbClr val="F8FAFF"/>
                </a:solidFill>
                <a:latin typeface="Aptos Display"/>
              </a:defRPr>
            </a:pPr>
            <a:r>
              <a:t>SuccessFactors</a:t>
            </a:r>
          </a:p>
          <a:p>
            <a:pPr>
              <a:spcBef>
                <a:spcPts val="700"/>
              </a:spcBef>
              <a:defRPr sz="1300">
                <a:solidFill>
                  <a:srgbClr val="E0E7F6"/>
                </a:solidFill>
                <a:latin typeface="Aptos"/>
              </a:defRPr>
            </a:pPr>
            <a:r>
              <a:t>Credential artifact: SFCred_Laxmi</a:t>
            </a:r>
            <a:br/>
            <a:br/>
            <a:r>
              <a:t>Adapter: OData V2</a:t>
            </a:r>
            <a:br/>
            <a:r>
              <a:t>Purpose: Read employee master data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93939F-B82A-9607-ADEF-C6699CE7233A}"/>
              </a:ext>
            </a:extLst>
          </p:cNvPr>
          <p:cNvSpPr/>
          <p:nvPr/>
        </p:nvSpPr>
        <p:spPr>
          <a:xfrm>
            <a:off x="731520" y="1783080"/>
            <a:ext cx="64008" cy="3108960"/>
          </a:xfrm>
          <a:prstGeom prst="rect">
            <a:avLst/>
          </a:prstGeom>
          <a:solidFill>
            <a:srgbClr val="6F3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6">
            <a:extLst>
              <a:ext uri="{FF2B5EF4-FFF2-40B4-BE49-F238E27FC236}">
                <a16:creationId xmlns:a16="http://schemas.microsoft.com/office/drawing/2014/main" id="{DBBCFF06-1D10-4DA2-F654-80F9E1D14CD8}"/>
              </a:ext>
            </a:extLst>
          </p:cNvPr>
          <p:cNvSpPr/>
          <p:nvPr/>
        </p:nvSpPr>
        <p:spPr>
          <a:xfrm>
            <a:off x="4251960" y="1783080"/>
            <a:ext cx="3246120" cy="310896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800" b="1">
                <a:solidFill>
                  <a:srgbClr val="F8FAFF"/>
                </a:solidFill>
                <a:latin typeface="Aptos Display"/>
              </a:defRPr>
            </a:pPr>
            <a:r>
              <a:t>S/4HANA</a:t>
            </a:r>
          </a:p>
          <a:p>
            <a:pPr>
              <a:spcBef>
                <a:spcPts val="700"/>
              </a:spcBef>
              <a:defRPr sz="1300">
                <a:solidFill>
                  <a:srgbClr val="E0E7F6"/>
                </a:solidFill>
                <a:latin typeface="Aptos"/>
              </a:defRPr>
            </a:pPr>
            <a:r>
              <a:t>Credential artifact: L4C_Cred</a:t>
            </a:r>
            <a:br/>
            <a:br/>
            <a:r>
              <a:t>Adapter: OData</a:t>
            </a:r>
            <a:br/>
            <a:r>
              <a:t>Purpose: Post/read employee data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85CF41-43D9-AF9F-75FA-CD3BF94F6A66}"/>
              </a:ext>
            </a:extLst>
          </p:cNvPr>
          <p:cNvSpPr/>
          <p:nvPr/>
        </p:nvSpPr>
        <p:spPr>
          <a:xfrm>
            <a:off x="4251960" y="1783080"/>
            <a:ext cx="64008" cy="3108960"/>
          </a:xfrm>
          <a:prstGeom prst="rect">
            <a:avLst/>
          </a:prstGeom>
          <a:solidFill>
            <a:srgbClr val="2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18">
            <a:extLst>
              <a:ext uri="{FF2B5EF4-FFF2-40B4-BE49-F238E27FC236}">
                <a16:creationId xmlns:a16="http://schemas.microsoft.com/office/drawing/2014/main" id="{AA69A5C2-B287-ECCA-1A62-40DB0A245D53}"/>
              </a:ext>
            </a:extLst>
          </p:cNvPr>
          <p:cNvSpPr/>
          <p:nvPr/>
        </p:nvSpPr>
        <p:spPr>
          <a:xfrm>
            <a:off x="7772400" y="1783080"/>
            <a:ext cx="3611880" cy="310896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800" b="1">
                <a:solidFill>
                  <a:srgbClr val="F8FAFF"/>
                </a:solidFill>
                <a:latin typeface="Aptos Display"/>
              </a:defRPr>
            </a:pPr>
            <a:r>
              <a:t>SFTP + Mail</a:t>
            </a:r>
          </a:p>
          <a:p>
            <a:pPr>
              <a:spcBef>
                <a:spcPts val="700"/>
              </a:spcBef>
              <a:defRPr sz="1300">
                <a:solidFill>
                  <a:srgbClr val="E0E7F6"/>
                </a:solidFill>
                <a:latin typeface="Aptos"/>
              </a:defRPr>
            </a:pPr>
            <a:r>
              <a:t>SFTP: personal training account</a:t>
            </a:r>
            <a:br/>
            <a:r>
              <a:t>Mail: personal account</a:t>
            </a:r>
            <a:br/>
            <a:br/>
            <a:r>
              <a:t>Purpose: payroll file exchange + error notification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E524F4-937D-3A10-AC44-68BE02D7BDD0}"/>
              </a:ext>
            </a:extLst>
          </p:cNvPr>
          <p:cNvSpPr/>
          <p:nvPr/>
        </p:nvSpPr>
        <p:spPr>
          <a:xfrm>
            <a:off x="7772400" y="1783080"/>
            <a:ext cx="64008" cy="3108960"/>
          </a:xfrm>
          <a:prstGeom prst="rect">
            <a:avLst/>
          </a:prstGeom>
          <a:solidFill>
            <a:srgbClr val="1FC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0">
            <a:extLst>
              <a:ext uri="{FF2B5EF4-FFF2-40B4-BE49-F238E27FC236}">
                <a16:creationId xmlns:a16="http://schemas.microsoft.com/office/drawing/2014/main" id="{3DE0E216-BA60-0122-2BDC-60F1D9498961}"/>
              </a:ext>
            </a:extLst>
          </p:cNvPr>
          <p:cNvSpPr/>
          <p:nvPr/>
        </p:nvSpPr>
        <p:spPr>
          <a:xfrm>
            <a:off x="2011680" y="5257800"/>
            <a:ext cx="1828800" cy="347472"/>
          </a:xfrm>
          <a:prstGeom prst="roundRect">
            <a:avLst/>
          </a:prstGeom>
          <a:solidFill>
            <a:srgbClr val="6F3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F"/>
                </a:solidFill>
                <a:latin typeface="Aptos"/>
              </a:defRPr>
            </a:pPr>
            <a:r>
              <a:t>SECURE ARTIFACTS</a:t>
            </a:r>
          </a:p>
        </p:txBody>
      </p:sp>
      <p:sp>
        <p:nvSpPr>
          <p:cNvPr id="24" name="Rounded Rectangle 21">
            <a:extLst>
              <a:ext uri="{FF2B5EF4-FFF2-40B4-BE49-F238E27FC236}">
                <a16:creationId xmlns:a16="http://schemas.microsoft.com/office/drawing/2014/main" id="{36AE67B2-042B-D7F8-B866-D0DEE6A73CCF}"/>
              </a:ext>
            </a:extLst>
          </p:cNvPr>
          <p:cNvSpPr/>
          <p:nvPr/>
        </p:nvSpPr>
        <p:spPr>
          <a:xfrm>
            <a:off x="4343400" y="5257800"/>
            <a:ext cx="1828800" cy="347472"/>
          </a:xfrm>
          <a:prstGeom prst="roundRect">
            <a:avLst/>
          </a:prstGeom>
          <a:solidFill>
            <a:srgbClr val="2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F"/>
                </a:solidFill>
                <a:latin typeface="Aptos"/>
              </a:defRPr>
            </a:pPr>
            <a:r>
              <a:t>NO PASSWORDS</a:t>
            </a:r>
          </a:p>
        </p:txBody>
      </p:sp>
      <p:sp>
        <p:nvSpPr>
          <p:cNvPr id="25" name="Rounded Rectangle 22">
            <a:extLst>
              <a:ext uri="{FF2B5EF4-FFF2-40B4-BE49-F238E27FC236}">
                <a16:creationId xmlns:a16="http://schemas.microsoft.com/office/drawing/2014/main" id="{B079834F-34D9-AFF4-CF37-C91167064DA0}"/>
              </a:ext>
            </a:extLst>
          </p:cNvPr>
          <p:cNvSpPr/>
          <p:nvPr/>
        </p:nvSpPr>
        <p:spPr>
          <a:xfrm>
            <a:off x="6675120" y="5257800"/>
            <a:ext cx="2057400" cy="347472"/>
          </a:xfrm>
          <a:prstGeom prst="roundRect">
            <a:avLst/>
          </a:prstGeom>
          <a:solidFill>
            <a:srgbClr val="1FC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F"/>
                </a:solidFill>
                <a:latin typeface="Aptos"/>
              </a:defRPr>
            </a:pPr>
            <a:r>
              <a:t>SEPARATION OF DUTIES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0C0062-E0B2-34F8-65E5-39005FA3B728}"/>
              </a:ext>
            </a:extLst>
          </p:cNvPr>
          <p:cNvSpPr txBox="1"/>
          <p:nvPr/>
        </p:nvSpPr>
        <p:spPr>
          <a:xfrm>
            <a:off x="658368" y="6473952"/>
            <a:ext cx="326563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084AA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Employee Data Synchronization  |  SAP Integration Suite Capstone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97676D-8810-C6E5-B513-5EB2D87B5AB4}"/>
              </a:ext>
            </a:extLst>
          </p:cNvPr>
          <p:cNvSpPr txBox="1"/>
          <p:nvPr/>
        </p:nvSpPr>
        <p:spPr>
          <a:xfrm>
            <a:off x="11201400" y="64190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8C5E0"/>
                </a:solidFill>
                <a:latin typeface="Aptos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229090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1B70A-A32B-2DA3-51B1-7C3D544AF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>
            <a:extLst>
              <a:ext uri="{FF2B5EF4-FFF2-40B4-BE49-F238E27FC236}">
                <a16:creationId xmlns:a16="http://schemas.microsoft.com/office/drawing/2014/main" id="{91AAA04E-662B-F5D7-AA32-F4CCE4F0D551}"/>
              </a:ext>
            </a:extLst>
          </p:cNvPr>
          <p:cNvCxnSpPr/>
          <p:nvPr/>
        </p:nvCxnSpPr>
        <p:spPr>
          <a:xfrm>
            <a:off x="9326880" y="228600"/>
            <a:ext cx="2651760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39C0FEC7-748B-ED31-D63A-3974880C068F}"/>
              </a:ext>
            </a:extLst>
          </p:cNvPr>
          <p:cNvCxnSpPr/>
          <p:nvPr/>
        </p:nvCxnSpPr>
        <p:spPr>
          <a:xfrm>
            <a:off x="9674352" y="301752"/>
            <a:ext cx="2304288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F7DC562A-E009-7020-B845-DB53481C8925}"/>
              </a:ext>
            </a:extLst>
          </p:cNvPr>
          <p:cNvCxnSpPr/>
          <p:nvPr/>
        </p:nvCxnSpPr>
        <p:spPr>
          <a:xfrm>
            <a:off x="10021824" y="374904"/>
            <a:ext cx="1956816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3D5D2C7D-8B3C-A377-74BA-8F09FB1352CA}"/>
              </a:ext>
            </a:extLst>
          </p:cNvPr>
          <p:cNvCxnSpPr/>
          <p:nvPr/>
        </p:nvCxnSpPr>
        <p:spPr>
          <a:xfrm>
            <a:off x="10369296" y="448056"/>
            <a:ext cx="1609344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DC6C6B6-D4E7-C4AD-A7A5-4826A158510E}"/>
              </a:ext>
            </a:extLst>
          </p:cNvPr>
          <p:cNvCxnSpPr/>
          <p:nvPr/>
        </p:nvCxnSpPr>
        <p:spPr>
          <a:xfrm>
            <a:off x="10716767" y="521208"/>
            <a:ext cx="1261873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6EBB34FB-2B07-F384-27D3-92C09A5F5A64}"/>
              </a:ext>
            </a:extLst>
          </p:cNvPr>
          <p:cNvCxnSpPr/>
          <p:nvPr/>
        </p:nvCxnSpPr>
        <p:spPr>
          <a:xfrm>
            <a:off x="11064240" y="594360"/>
            <a:ext cx="914400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0CA660B6-38DA-8167-477A-CA30D6FC51C7}"/>
              </a:ext>
            </a:extLst>
          </p:cNvPr>
          <p:cNvCxnSpPr/>
          <p:nvPr/>
        </p:nvCxnSpPr>
        <p:spPr>
          <a:xfrm>
            <a:off x="11411712" y="667512"/>
            <a:ext cx="566928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rc 8">
            <a:extLst>
              <a:ext uri="{FF2B5EF4-FFF2-40B4-BE49-F238E27FC236}">
                <a16:creationId xmlns:a16="http://schemas.microsoft.com/office/drawing/2014/main" id="{F2EABCCC-3CA1-EF79-42E4-3DA5ADA65BB0}"/>
              </a:ext>
            </a:extLst>
          </p:cNvPr>
          <p:cNvSpPr/>
          <p:nvPr/>
        </p:nvSpPr>
        <p:spPr>
          <a:xfrm>
            <a:off x="-731520" y="5989320"/>
            <a:ext cx="7315200" cy="1280160"/>
          </a:xfrm>
          <a:prstGeom prst="arc">
            <a:avLst/>
          </a:prstGeom>
          <a:noFill/>
          <a:ln w="25400">
            <a:solidFill>
              <a:srgbClr val="6F3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AC8D27AB-9E35-04F9-044B-84B27BD1655B}"/>
              </a:ext>
            </a:extLst>
          </p:cNvPr>
          <p:cNvSpPr/>
          <p:nvPr/>
        </p:nvSpPr>
        <p:spPr>
          <a:xfrm>
            <a:off x="-594360" y="6099048"/>
            <a:ext cx="7315200" cy="1280160"/>
          </a:xfrm>
          <a:prstGeom prst="arc">
            <a:avLst/>
          </a:prstGeom>
          <a:noFill/>
          <a:ln w="25400">
            <a:solidFill>
              <a:srgbClr val="27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4F3B63D-F2D0-77D4-1FFF-D9E613BCA758}"/>
              </a:ext>
            </a:extLst>
          </p:cNvPr>
          <p:cNvSpPr/>
          <p:nvPr/>
        </p:nvSpPr>
        <p:spPr>
          <a:xfrm>
            <a:off x="-457200" y="6208776"/>
            <a:ext cx="7315200" cy="1280160"/>
          </a:xfrm>
          <a:prstGeom prst="arc">
            <a:avLst/>
          </a:prstGeom>
          <a:noFill/>
          <a:ln w="25400">
            <a:solidFill>
              <a:srgbClr val="96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054335-93AC-9840-7F7D-55C73FA0E0B6}"/>
              </a:ext>
            </a:extLst>
          </p:cNvPr>
          <p:cNvSpPr txBox="1"/>
          <p:nvPr/>
        </p:nvSpPr>
        <p:spPr>
          <a:xfrm>
            <a:off x="640080" y="411480"/>
            <a:ext cx="617124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F"/>
                </a:solidFill>
                <a:latin typeface="Aptos Display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SDLC &amp; Agile Scrum Implementation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900433-A2D5-DF3C-3C33-F9D028EC0DF9}"/>
              </a:ext>
            </a:extLst>
          </p:cNvPr>
          <p:cNvSpPr txBox="1"/>
          <p:nvPr/>
        </p:nvSpPr>
        <p:spPr>
          <a:xfrm>
            <a:off x="658368" y="987552"/>
            <a:ext cx="4533805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B8C5E0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capstone is presented as an iterative delivery lifecycle.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BF57CE-70DB-67C6-B92C-47FB6A753602}"/>
              </a:ext>
            </a:extLst>
          </p:cNvPr>
          <p:cNvSpPr/>
          <p:nvPr/>
        </p:nvSpPr>
        <p:spPr>
          <a:xfrm>
            <a:off x="658368" y="1417320"/>
            <a:ext cx="1051560" cy="41148"/>
          </a:xfrm>
          <a:prstGeom prst="rect">
            <a:avLst/>
          </a:prstGeom>
          <a:solidFill>
            <a:srgbClr val="96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6934778-6B30-64A2-7B29-5FE92A61743D}"/>
              </a:ext>
            </a:extLst>
          </p:cNvPr>
          <p:cNvSpPr/>
          <p:nvPr/>
        </p:nvSpPr>
        <p:spPr>
          <a:xfrm>
            <a:off x="594360" y="1783080"/>
            <a:ext cx="548640" cy="548640"/>
          </a:xfrm>
          <a:prstGeom prst="ellipse">
            <a:avLst/>
          </a:prstGeom>
          <a:solidFill>
            <a:srgbClr val="6F36F5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95B1371-CA6B-0A63-C99E-DF0801066B1F}"/>
              </a:ext>
            </a:extLst>
          </p:cNvPr>
          <p:cNvSpPr/>
          <p:nvPr/>
        </p:nvSpPr>
        <p:spPr>
          <a:xfrm>
            <a:off x="1252728" y="1755648"/>
            <a:ext cx="2971800" cy="141732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500" b="1">
                <a:solidFill>
                  <a:srgbClr val="F8FAFF"/>
                </a:solidFill>
                <a:latin typeface="Aptos Display"/>
              </a:defRPr>
            </a:pPr>
            <a:r>
              <a:t>Requirement Analysis</a:t>
            </a:r>
          </a:p>
          <a:p>
            <a:pPr>
              <a:spcBef>
                <a:spcPts val="700"/>
              </a:spcBef>
              <a:defRPr sz="1100">
                <a:solidFill>
                  <a:srgbClr val="E0E7F6"/>
                </a:solidFill>
                <a:latin typeface="Aptos"/>
              </a:defRPr>
            </a:pPr>
            <a:r>
              <a:t>Business scenario, fields, systems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CA443D-F9DA-9E9A-E30F-F6D628AD50EE}"/>
              </a:ext>
            </a:extLst>
          </p:cNvPr>
          <p:cNvSpPr/>
          <p:nvPr/>
        </p:nvSpPr>
        <p:spPr>
          <a:xfrm>
            <a:off x="1252728" y="1755648"/>
            <a:ext cx="64008" cy="1417320"/>
          </a:xfrm>
          <a:prstGeom prst="rect">
            <a:avLst/>
          </a:prstGeom>
          <a:solidFill>
            <a:srgbClr val="6F3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0BC1A11-8782-DB1D-893F-622F6827656A}"/>
              </a:ext>
            </a:extLst>
          </p:cNvPr>
          <p:cNvSpPr/>
          <p:nvPr/>
        </p:nvSpPr>
        <p:spPr>
          <a:xfrm>
            <a:off x="4389120" y="1783080"/>
            <a:ext cx="548640" cy="548640"/>
          </a:xfrm>
          <a:prstGeom prst="ellipse">
            <a:avLst/>
          </a:prstGeom>
          <a:solidFill>
            <a:srgbClr val="27B4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2BF0B37-88AF-5DDA-92BA-412C8F4F06BE}"/>
              </a:ext>
            </a:extLst>
          </p:cNvPr>
          <p:cNvSpPr/>
          <p:nvPr/>
        </p:nvSpPr>
        <p:spPr>
          <a:xfrm>
            <a:off x="5047488" y="1755648"/>
            <a:ext cx="2971800" cy="141732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500" b="1">
                <a:solidFill>
                  <a:srgbClr val="F8FAFF"/>
                </a:solidFill>
                <a:latin typeface="Aptos Display"/>
              </a:defRPr>
            </a:pPr>
            <a:r>
              <a:t>Design</a:t>
            </a:r>
          </a:p>
          <a:p>
            <a:pPr>
              <a:spcBef>
                <a:spcPts val="700"/>
              </a:spcBef>
              <a:defRPr sz="1100">
                <a:solidFill>
                  <a:srgbClr val="E0E7F6"/>
                </a:solidFill>
                <a:latin typeface="Aptos"/>
              </a:defRPr>
            </a:pPr>
            <a:r>
              <a:t>Landscape, iFlow, mapping, exception path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184C8D-B32A-C51F-194F-488C0BC1C047}"/>
              </a:ext>
            </a:extLst>
          </p:cNvPr>
          <p:cNvSpPr/>
          <p:nvPr/>
        </p:nvSpPr>
        <p:spPr>
          <a:xfrm>
            <a:off x="5047488" y="1755648"/>
            <a:ext cx="64008" cy="1417320"/>
          </a:xfrm>
          <a:prstGeom prst="rect">
            <a:avLst/>
          </a:prstGeom>
          <a:solidFill>
            <a:srgbClr val="2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10DA505-3396-93FF-9F54-742FD9D1BE17}"/>
              </a:ext>
            </a:extLst>
          </p:cNvPr>
          <p:cNvSpPr/>
          <p:nvPr/>
        </p:nvSpPr>
        <p:spPr>
          <a:xfrm>
            <a:off x="8183880" y="1783080"/>
            <a:ext cx="548640" cy="548640"/>
          </a:xfrm>
          <a:prstGeom prst="ellipse">
            <a:avLst/>
          </a:prstGeom>
          <a:solidFill>
            <a:srgbClr val="9655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B9C1CB5-A2D0-AF83-AA4F-0AA6D698AF84}"/>
              </a:ext>
            </a:extLst>
          </p:cNvPr>
          <p:cNvSpPr/>
          <p:nvPr/>
        </p:nvSpPr>
        <p:spPr>
          <a:xfrm>
            <a:off x="8842248" y="1755648"/>
            <a:ext cx="2971800" cy="141732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500" b="1">
                <a:solidFill>
                  <a:srgbClr val="F8FAFF"/>
                </a:solidFill>
                <a:latin typeface="Aptos Display"/>
              </a:defRPr>
            </a:pPr>
            <a:r>
              <a:t>Development</a:t>
            </a:r>
          </a:p>
          <a:p>
            <a:pPr>
              <a:spcBef>
                <a:spcPts val="700"/>
              </a:spcBef>
              <a:defRPr sz="1100">
                <a:solidFill>
                  <a:srgbClr val="E0E7F6"/>
                </a:solidFill>
                <a:latin typeface="Aptos"/>
              </a:defRPr>
            </a:pPr>
            <a:r>
              <a:t>Adapters, mappings, converters, mail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E1AAA2-D169-E20C-0BEB-E7DB7F1E4910}"/>
              </a:ext>
            </a:extLst>
          </p:cNvPr>
          <p:cNvSpPr/>
          <p:nvPr/>
        </p:nvSpPr>
        <p:spPr>
          <a:xfrm>
            <a:off x="8842248" y="1755648"/>
            <a:ext cx="64008" cy="1417320"/>
          </a:xfrm>
          <a:prstGeom prst="rect">
            <a:avLst/>
          </a:prstGeom>
          <a:solidFill>
            <a:srgbClr val="96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3972EFD-B42C-CBBE-BE98-52CAF298D36C}"/>
              </a:ext>
            </a:extLst>
          </p:cNvPr>
          <p:cNvSpPr/>
          <p:nvPr/>
        </p:nvSpPr>
        <p:spPr>
          <a:xfrm>
            <a:off x="594360" y="4023360"/>
            <a:ext cx="548640" cy="548640"/>
          </a:xfrm>
          <a:prstGeom prst="ellipse">
            <a:avLst/>
          </a:prstGeom>
          <a:solidFill>
            <a:srgbClr val="1FCDB0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5633668-504C-1C21-76D8-DA81F62B83C2}"/>
              </a:ext>
            </a:extLst>
          </p:cNvPr>
          <p:cNvSpPr/>
          <p:nvPr/>
        </p:nvSpPr>
        <p:spPr>
          <a:xfrm>
            <a:off x="1252728" y="3995928"/>
            <a:ext cx="2971800" cy="141732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500" b="1">
                <a:solidFill>
                  <a:srgbClr val="F8FAFF"/>
                </a:solidFill>
                <a:latin typeface="Aptos Display"/>
              </a:defRPr>
            </a:pPr>
            <a:r>
              <a:t>Testing</a:t>
            </a:r>
          </a:p>
          <a:p>
            <a:pPr>
              <a:spcBef>
                <a:spcPts val="700"/>
              </a:spcBef>
              <a:defRPr sz="1100">
                <a:solidFill>
                  <a:srgbClr val="E0E7F6"/>
                </a:solidFill>
                <a:latin typeface="Aptos"/>
              </a:defRPr>
            </a:pPr>
            <a:r>
              <a:t>Positive + negative scenarios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E0ECE2F-F4F6-0C03-665E-D17AF690A74B}"/>
              </a:ext>
            </a:extLst>
          </p:cNvPr>
          <p:cNvSpPr/>
          <p:nvPr/>
        </p:nvSpPr>
        <p:spPr>
          <a:xfrm>
            <a:off x="1252728" y="3995928"/>
            <a:ext cx="64008" cy="1417320"/>
          </a:xfrm>
          <a:prstGeom prst="rect">
            <a:avLst/>
          </a:prstGeom>
          <a:solidFill>
            <a:srgbClr val="1FC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C10D333-AF20-F8A5-03E6-036FD83D79D5}"/>
              </a:ext>
            </a:extLst>
          </p:cNvPr>
          <p:cNvSpPr/>
          <p:nvPr/>
        </p:nvSpPr>
        <p:spPr>
          <a:xfrm>
            <a:off x="4389120" y="4023360"/>
            <a:ext cx="548640" cy="548640"/>
          </a:xfrm>
          <a:prstGeom prst="ellipse">
            <a:avLst/>
          </a:prstGeom>
          <a:solidFill>
            <a:srgbClr val="F5C542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845D1A5-7F5B-35C8-0897-74EF7A5E8FEE}"/>
              </a:ext>
            </a:extLst>
          </p:cNvPr>
          <p:cNvSpPr/>
          <p:nvPr/>
        </p:nvSpPr>
        <p:spPr>
          <a:xfrm>
            <a:off x="5047488" y="3995928"/>
            <a:ext cx="2971800" cy="141732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500" b="1">
                <a:solidFill>
                  <a:srgbClr val="F8FAFF"/>
                </a:solidFill>
                <a:latin typeface="Aptos Display"/>
              </a:defRPr>
            </a:pPr>
            <a:r>
              <a:t>Deployment</a:t>
            </a:r>
          </a:p>
          <a:p>
            <a:pPr>
              <a:spcBef>
                <a:spcPts val="700"/>
              </a:spcBef>
              <a:defRPr sz="1100">
                <a:solidFill>
                  <a:srgbClr val="E0E7F6"/>
                </a:solidFill>
                <a:latin typeface="Aptos"/>
              </a:defRPr>
            </a:pPr>
            <a:r>
              <a:t>Deploy and validate runtime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E0CA9DA-DA1A-E30E-894A-F2E4878C6D7F}"/>
              </a:ext>
            </a:extLst>
          </p:cNvPr>
          <p:cNvSpPr/>
          <p:nvPr/>
        </p:nvSpPr>
        <p:spPr>
          <a:xfrm>
            <a:off x="5047488" y="3995928"/>
            <a:ext cx="64008" cy="141732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CED1985-40D1-5DEE-2F16-03B019EA1046}"/>
              </a:ext>
            </a:extLst>
          </p:cNvPr>
          <p:cNvSpPr/>
          <p:nvPr/>
        </p:nvSpPr>
        <p:spPr>
          <a:xfrm>
            <a:off x="8183880" y="4023360"/>
            <a:ext cx="548640" cy="548640"/>
          </a:xfrm>
          <a:prstGeom prst="ellipse">
            <a:avLst/>
          </a:prstGeom>
          <a:solidFill>
            <a:srgbClr val="EE5869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F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6737723-966E-84A4-93F7-2387B8C79BD2}"/>
              </a:ext>
            </a:extLst>
          </p:cNvPr>
          <p:cNvSpPr/>
          <p:nvPr/>
        </p:nvSpPr>
        <p:spPr>
          <a:xfrm>
            <a:off x="8842248" y="3995928"/>
            <a:ext cx="2971800" cy="141732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500" b="1">
                <a:solidFill>
                  <a:srgbClr val="F8FAFF"/>
                </a:solidFill>
                <a:latin typeface="Aptos Display"/>
              </a:defRPr>
            </a:pPr>
            <a:r>
              <a:t>Maintenance</a:t>
            </a:r>
          </a:p>
          <a:p>
            <a:pPr>
              <a:spcBef>
                <a:spcPts val="700"/>
              </a:spcBef>
              <a:defRPr sz="1100">
                <a:solidFill>
                  <a:srgbClr val="E0E7F6"/>
                </a:solidFill>
                <a:latin typeface="Aptos"/>
              </a:defRPr>
            </a:pPr>
            <a:r>
              <a:t>Monitor, troubleshoot, improve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1533247-6F1F-A9CB-0CEF-5E2BBD1DFEC7}"/>
              </a:ext>
            </a:extLst>
          </p:cNvPr>
          <p:cNvSpPr/>
          <p:nvPr/>
        </p:nvSpPr>
        <p:spPr>
          <a:xfrm>
            <a:off x="8842248" y="3995928"/>
            <a:ext cx="64008" cy="1417320"/>
          </a:xfrm>
          <a:prstGeom prst="rect">
            <a:avLst/>
          </a:prstGeom>
          <a:solidFill>
            <a:srgbClr val="EE5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1880410-EF4E-DBE4-103B-763A74CCC77C}"/>
              </a:ext>
            </a:extLst>
          </p:cNvPr>
          <p:cNvSpPr/>
          <p:nvPr/>
        </p:nvSpPr>
        <p:spPr>
          <a:xfrm>
            <a:off x="1828800" y="5577840"/>
            <a:ext cx="8503920" cy="59436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250" b="1">
                <a:solidFill>
                  <a:srgbClr val="F8FAFF"/>
                </a:solidFill>
                <a:latin typeface="Aptos Display"/>
              </a:defRPr>
            </a:pPr>
            <a:r>
              <a:t>Agile Artifacts</a:t>
            </a:r>
          </a:p>
          <a:p>
            <a:pPr>
              <a:spcBef>
                <a:spcPts val="700"/>
              </a:spcBef>
              <a:defRPr sz="1050">
                <a:solidFill>
                  <a:srgbClr val="E0E7F6"/>
                </a:solidFill>
                <a:latin typeface="Aptos"/>
              </a:defRPr>
            </a:pPr>
            <a:r>
              <a:t>Product Backlog • Sprint Backlog • Burndown • Sprint Review • Retrospective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4497122-EF9B-A40D-302C-90164389680E}"/>
              </a:ext>
            </a:extLst>
          </p:cNvPr>
          <p:cNvSpPr/>
          <p:nvPr/>
        </p:nvSpPr>
        <p:spPr>
          <a:xfrm>
            <a:off x="1828800" y="5577840"/>
            <a:ext cx="64008" cy="594360"/>
          </a:xfrm>
          <a:prstGeom prst="rect">
            <a:avLst/>
          </a:prstGeom>
          <a:solidFill>
            <a:srgbClr val="96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0FD50C-DA24-9ACF-3A77-D479B33B6459}"/>
              </a:ext>
            </a:extLst>
          </p:cNvPr>
          <p:cNvSpPr txBox="1"/>
          <p:nvPr/>
        </p:nvSpPr>
        <p:spPr>
          <a:xfrm>
            <a:off x="658368" y="6473952"/>
            <a:ext cx="326563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084AA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Employee Data Synchronization  |  SAP Integration Suite Capstone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0936B9-23CF-1FA8-32C6-5DBD027524B9}"/>
              </a:ext>
            </a:extLst>
          </p:cNvPr>
          <p:cNvSpPr txBox="1"/>
          <p:nvPr/>
        </p:nvSpPr>
        <p:spPr>
          <a:xfrm>
            <a:off x="11201400" y="64190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8C5E0"/>
                </a:solidFill>
                <a:latin typeface="Aptos"/>
              </a:defRPr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688911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CFE69-7D4C-0191-2B7E-5C4DD75BD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>
            <a:extLst>
              <a:ext uri="{FF2B5EF4-FFF2-40B4-BE49-F238E27FC236}">
                <a16:creationId xmlns:a16="http://schemas.microsoft.com/office/drawing/2014/main" id="{8A7E4488-103C-40BC-5701-FF3186EB2905}"/>
              </a:ext>
            </a:extLst>
          </p:cNvPr>
          <p:cNvCxnSpPr/>
          <p:nvPr/>
        </p:nvCxnSpPr>
        <p:spPr>
          <a:xfrm>
            <a:off x="9326880" y="228600"/>
            <a:ext cx="2651760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9465B116-0A8F-8D78-3C1D-C07939F18A6A}"/>
              </a:ext>
            </a:extLst>
          </p:cNvPr>
          <p:cNvCxnSpPr/>
          <p:nvPr/>
        </p:nvCxnSpPr>
        <p:spPr>
          <a:xfrm>
            <a:off x="9674352" y="301752"/>
            <a:ext cx="2304288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C6F8B65-0966-0798-E11B-162CA400D373}"/>
              </a:ext>
            </a:extLst>
          </p:cNvPr>
          <p:cNvCxnSpPr/>
          <p:nvPr/>
        </p:nvCxnSpPr>
        <p:spPr>
          <a:xfrm>
            <a:off x="10021824" y="374904"/>
            <a:ext cx="1956816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51713F1-FEBF-8F4C-1094-9F269D064FCD}"/>
              </a:ext>
            </a:extLst>
          </p:cNvPr>
          <p:cNvCxnSpPr/>
          <p:nvPr/>
        </p:nvCxnSpPr>
        <p:spPr>
          <a:xfrm>
            <a:off x="10369296" y="448056"/>
            <a:ext cx="1609344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0CA09EB3-93E3-EBDA-9CD2-2D1155058185}"/>
              </a:ext>
            </a:extLst>
          </p:cNvPr>
          <p:cNvCxnSpPr/>
          <p:nvPr/>
        </p:nvCxnSpPr>
        <p:spPr>
          <a:xfrm>
            <a:off x="10716767" y="521208"/>
            <a:ext cx="1261873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4ECCEE8B-23F5-7DFB-BBBE-6A84CF918D3C}"/>
              </a:ext>
            </a:extLst>
          </p:cNvPr>
          <p:cNvCxnSpPr/>
          <p:nvPr/>
        </p:nvCxnSpPr>
        <p:spPr>
          <a:xfrm>
            <a:off x="11064240" y="594360"/>
            <a:ext cx="914400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F498483D-1942-A64D-C95D-9B72C9DFA7DC}"/>
              </a:ext>
            </a:extLst>
          </p:cNvPr>
          <p:cNvCxnSpPr/>
          <p:nvPr/>
        </p:nvCxnSpPr>
        <p:spPr>
          <a:xfrm>
            <a:off x="11411712" y="667512"/>
            <a:ext cx="566928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rc 8">
            <a:extLst>
              <a:ext uri="{FF2B5EF4-FFF2-40B4-BE49-F238E27FC236}">
                <a16:creationId xmlns:a16="http://schemas.microsoft.com/office/drawing/2014/main" id="{5D014B22-2E81-1F78-8A2C-0B125A651A79}"/>
              </a:ext>
            </a:extLst>
          </p:cNvPr>
          <p:cNvSpPr/>
          <p:nvPr/>
        </p:nvSpPr>
        <p:spPr>
          <a:xfrm>
            <a:off x="-731520" y="5989320"/>
            <a:ext cx="7315200" cy="1280160"/>
          </a:xfrm>
          <a:prstGeom prst="arc">
            <a:avLst/>
          </a:prstGeom>
          <a:noFill/>
          <a:ln w="25400">
            <a:solidFill>
              <a:srgbClr val="6F3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7EB1DE82-BD1C-CF74-7143-4B18FB4253BA}"/>
              </a:ext>
            </a:extLst>
          </p:cNvPr>
          <p:cNvSpPr/>
          <p:nvPr/>
        </p:nvSpPr>
        <p:spPr>
          <a:xfrm>
            <a:off x="-594360" y="6099048"/>
            <a:ext cx="7315200" cy="1280160"/>
          </a:xfrm>
          <a:prstGeom prst="arc">
            <a:avLst/>
          </a:prstGeom>
          <a:noFill/>
          <a:ln w="25400">
            <a:solidFill>
              <a:srgbClr val="27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9638C86A-8233-9040-B2D0-B13560941A57}"/>
              </a:ext>
            </a:extLst>
          </p:cNvPr>
          <p:cNvSpPr/>
          <p:nvPr/>
        </p:nvSpPr>
        <p:spPr>
          <a:xfrm>
            <a:off x="-457200" y="6208776"/>
            <a:ext cx="7315200" cy="1280160"/>
          </a:xfrm>
          <a:prstGeom prst="arc">
            <a:avLst/>
          </a:prstGeom>
          <a:noFill/>
          <a:ln w="25400">
            <a:solidFill>
              <a:srgbClr val="96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9DF716-B555-F371-61A7-BC04B61BDE2D}"/>
              </a:ext>
            </a:extLst>
          </p:cNvPr>
          <p:cNvSpPr txBox="1"/>
          <p:nvPr/>
        </p:nvSpPr>
        <p:spPr>
          <a:xfrm>
            <a:off x="640080" y="411480"/>
            <a:ext cx="204895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F"/>
                </a:solidFill>
                <a:latin typeface="Aptos Display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Conclusion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2F2810-0EEA-8354-1FAD-4CEC2A316B0D}"/>
              </a:ext>
            </a:extLst>
          </p:cNvPr>
          <p:cNvSpPr txBox="1"/>
          <p:nvPr/>
        </p:nvSpPr>
        <p:spPr>
          <a:xfrm>
            <a:off x="658368" y="987552"/>
            <a:ext cx="7330084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B8C5E0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A production-style integration pattern automates employee synchronization and payroll delivery.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ABC7CA-D9B7-9A3A-E5B5-3137B3C6B61C}"/>
              </a:ext>
            </a:extLst>
          </p:cNvPr>
          <p:cNvSpPr/>
          <p:nvPr/>
        </p:nvSpPr>
        <p:spPr>
          <a:xfrm>
            <a:off x="658368" y="1417320"/>
            <a:ext cx="1051560" cy="41148"/>
          </a:xfrm>
          <a:prstGeom prst="rect">
            <a:avLst/>
          </a:prstGeom>
          <a:solidFill>
            <a:srgbClr val="96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E417267-17F7-E3B0-D69A-E32B76A6CD8D}"/>
              </a:ext>
            </a:extLst>
          </p:cNvPr>
          <p:cNvSpPr/>
          <p:nvPr/>
        </p:nvSpPr>
        <p:spPr>
          <a:xfrm>
            <a:off x="731520" y="1828800"/>
            <a:ext cx="3246120" cy="196596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2000" b="1">
                <a:solidFill>
                  <a:srgbClr val="F8FAFF"/>
                </a:solidFill>
                <a:latin typeface="Aptos Display"/>
              </a:defRPr>
            </a:pPr>
            <a:r>
              <a:t>AUTOMATED</a:t>
            </a:r>
          </a:p>
          <a:p>
            <a:pPr>
              <a:spcBef>
                <a:spcPts val="700"/>
              </a:spcBef>
              <a:defRPr sz="1300">
                <a:solidFill>
                  <a:srgbClr val="E0E7F6"/>
                </a:solidFill>
                <a:latin typeface="Aptos"/>
              </a:defRPr>
            </a:pPr>
            <a:r>
              <a:t>Employee synchronization from SuccessFactors to S/4HANA reduces manual effort and improves consistency.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708A77-FDE6-8527-D68B-D556EEF5CAA5}"/>
              </a:ext>
            </a:extLst>
          </p:cNvPr>
          <p:cNvSpPr/>
          <p:nvPr/>
        </p:nvSpPr>
        <p:spPr>
          <a:xfrm>
            <a:off x="731520" y="1828800"/>
            <a:ext cx="64008" cy="1965960"/>
          </a:xfrm>
          <a:prstGeom prst="rect">
            <a:avLst/>
          </a:prstGeom>
          <a:solidFill>
            <a:srgbClr val="6F3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13D2815-16AA-D139-336C-E9F0F06A5EA8}"/>
              </a:ext>
            </a:extLst>
          </p:cNvPr>
          <p:cNvSpPr/>
          <p:nvPr/>
        </p:nvSpPr>
        <p:spPr>
          <a:xfrm>
            <a:off x="4251960" y="1828800"/>
            <a:ext cx="3246120" cy="196596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2000" b="1">
                <a:solidFill>
                  <a:srgbClr val="F8FAFF"/>
                </a:solidFill>
                <a:latin typeface="Aptos Display"/>
              </a:defRPr>
            </a:pPr>
            <a:r>
              <a:t>CONTROLLED</a:t>
            </a:r>
          </a:p>
          <a:p>
            <a:pPr>
              <a:spcBef>
                <a:spcPts val="700"/>
              </a:spcBef>
              <a:defRPr sz="1300">
                <a:solidFill>
                  <a:srgbClr val="E0E7F6"/>
                </a:solidFill>
                <a:latin typeface="Aptos"/>
              </a:defRPr>
            </a:pPr>
            <a:r>
              <a:t>Exception handling, monitoring and notifications provide operational visibility.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E90C2C-008B-D301-C147-4A639A651A00}"/>
              </a:ext>
            </a:extLst>
          </p:cNvPr>
          <p:cNvSpPr/>
          <p:nvPr/>
        </p:nvSpPr>
        <p:spPr>
          <a:xfrm>
            <a:off x="4251960" y="1828800"/>
            <a:ext cx="64008" cy="1965960"/>
          </a:xfrm>
          <a:prstGeom prst="rect">
            <a:avLst/>
          </a:prstGeom>
          <a:solidFill>
            <a:srgbClr val="2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7BCD13B-E14D-5A49-3D89-40F7DA0F4FF2}"/>
              </a:ext>
            </a:extLst>
          </p:cNvPr>
          <p:cNvSpPr/>
          <p:nvPr/>
        </p:nvSpPr>
        <p:spPr>
          <a:xfrm>
            <a:off x="7772400" y="1828800"/>
            <a:ext cx="3611880" cy="196596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2000" b="1">
                <a:solidFill>
                  <a:srgbClr val="F8FAFF"/>
                </a:solidFill>
                <a:latin typeface="Aptos Display"/>
              </a:defRPr>
            </a:pPr>
            <a:r>
              <a:t>CONNECTED</a:t>
            </a:r>
          </a:p>
          <a:p>
            <a:pPr>
              <a:spcBef>
                <a:spcPts val="700"/>
              </a:spcBef>
              <a:defRPr sz="1300">
                <a:solidFill>
                  <a:srgbClr val="E0E7F6"/>
                </a:solidFill>
                <a:latin typeface="Aptos"/>
              </a:defRPr>
            </a:pPr>
            <a:r>
              <a:t>Payroll-ready CSV delivery through SFTP completes the downstream integration.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594909-1EEA-2C95-7185-08D63FBAC049}"/>
              </a:ext>
            </a:extLst>
          </p:cNvPr>
          <p:cNvSpPr/>
          <p:nvPr/>
        </p:nvSpPr>
        <p:spPr>
          <a:xfrm>
            <a:off x="7772400" y="1828800"/>
            <a:ext cx="64008" cy="1965960"/>
          </a:xfrm>
          <a:prstGeom prst="rect">
            <a:avLst/>
          </a:prstGeom>
          <a:solidFill>
            <a:srgbClr val="1FC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98C7735-75A5-E323-903D-43FAD9DD5E4C}"/>
              </a:ext>
            </a:extLst>
          </p:cNvPr>
          <p:cNvSpPr/>
          <p:nvPr/>
        </p:nvSpPr>
        <p:spPr>
          <a:xfrm>
            <a:off x="4069080" y="4251960"/>
            <a:ext cx="4023360" cy="914400"/>
          </a:xfrm>
          <a:prstGeom prst="roundRect">
            <a:avLst/>
          </a:prstGeom>
          <a:solidFill>
            <a:srgbClr val="0D2348"/>
          </a:solidFill>
          <a:ln w="19050">
            <a:solidFill>
              <a:srgbClr val="96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8FAFF"/>
                </a:solidFill>
                <a:latin typeface="Aptos Display"/>
              </a:defRPr>
            </a:pPr>
            <a:r>
              <a:t>SAP CLOUD INTEGRATION</a:t>
            </a:r>
          </a:p>
          <a:p>
            <a:pPr algn="ctr">
              <a:defRPr sz="950">
                <a:solidFill>
                  <a:srgbClr val="B8C5E0"/>
                </a:solidFill>
                <a:latin typeface="Aptos"/>
              </a:defRPr>
            </a:pPr>
            <a:r>
              <a:t>HR  ↔  Finance  ↔  Payroll</a:t>
            </a:r>
          </a:p>
        </p:txBody>
      </p: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FC493390-8503-D9E8-6B4C-AFDE259F1576}"/>
              </a:ext>
            </a:extLst>
          </p:cNvPr>
          <p:cNvCxnSpPr/>
          <p:nvPr/>
        </p:nvCxnSpPr>
        <p:spPr>
          <a:xfrm>
            <a:off x="6080760" y="3794760"/>
            <a:ext cx="0" cy="457200"/>
          </a:xfrm>
          <a:prstGeom prst="line">
            <a:avLst/>
          </a:prstGeom>
          <a:ln w="25400">
            <a:solidFill>
              <a:srgbClr val="96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9F16B202-B863-47F0-E5FA-AC26946285CF}"/>
              </a:ext>
            </a:extLst>
          </p:cNvPr>
          <p:cNvSpPr/>
          <p:nvPr/>
        </p:nvSpPr>
        <p:spPr>
          <a:xfrm rot="5400000">
            <a:off x="6025896" y="4187952"/>
            <a:ext cx="128016" cy="128016"/>
          </a:xfrm>
          <a:prstGeom prst="triangle">
            <a:avLst/>
          </a:prstGeom>
          <a:solidFill>
            <a:srgbClr val="96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EE3AFDD-A267-1C0D-E498-8BE542D03F30}"/>
              </a:ext>
            </a:extLst>
          </p:cNvPr>
          <p:cNvSpPr/>
          <p:nvPr/>
        </p:nvSpPr>
        <p:spPr>
          <a:xfrm>
            <a:off x="2971800" y="5486400"/>
            <a:ext cx="1828800" cy="347472"/>
          </a:xfrm>
          <a:prstGeom prst="roundRect">
            <a:avLst/>
          </a:prstGeom>
          <a:solidFill>
            <a:srgbClr val="6F3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F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78BE3B8-A5C6-EEFF-FD17-1A3F7B5C24CA}"/>
              </a:ext>
            </a:extLst>
          </p:cNvPr>
          <p:cNvSpPr/>
          <p:nvPr/>
        </p:nvSpPr>
        <p:spPr>
          <a:xfrm>
            <a:off x="4983480" y="5486400"/>
            <a:ext cx="1828800" cy="347472"/>
          </a:xfrm>
          <a:prstGeom prst="roundRect">
            <a:avLst/>
          </a:prstGeom>
          <a:solidFill>
            <a:srgbClr val="2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F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0A15C5E-DB29-A3CC-FDF9-753B37FB1574}"/>
              </a:ext>
            </a:extLst>
          </p:cNvPr>
          <p:cNvSpPr/>
          <p:nvPr/>
        </p:nvSpPr>
        <p:spPr>
          <a:xfrm>
            <a:off x="6995160" y="5486400"/>
            <a:ext cx="1828800" cy="347472"/>
          </a:xfrm>
          <a:prstGeom prst="roundRect">
            <a:avLst/>
          </a:prstGeom>
          <a:solidFill>
            <a:srgbClr val="1FC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F"/>
                </a:solidFill>
                <a:latin typeface="Aptos"/>
              </a:defRPr>
            </a:pPr>
            <a:r>
              <a:t>AGILE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53B8C0-04F3-ADC5-1456-2B17EB7970E0}"/>
              </a:ext>
            </a:extLst>
          </p:cNvPr>
          <p:cNvSpPr txBox="1"/>
          <p:nvPr/>
        </p:nvSpPr>
        <p:spPr>
          <a:xfrm>
            <a:off x="658368" y="6473952"/>
            <a:ext cx="326563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084AA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Employee Data Synchronization  |  SAP Integration Suite Capstone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BB9965-7A77-2F3A-AD28-FF3507C75E7A}"/>
              </a:ext>
            </a:extLst>
          </p:cNvPr>
          <p:cNvSpPr txBox="1"/>
          <p:nvPr/>
        </p:nvSpPr>
        <p:spPr>
          <a:xfrm>
            <a:off x="11201400" y="64190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8C5E0"/>
                </a:solidFill>
                <a:latin typeface="Aptos"/>
              </a:defRPr>
            </a:pPr>
            <a: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196959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55D7065-E671-4D68-4172-216BA5EA8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506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894295-3890-B4FA-39C5-46A21AD8E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161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BB8FEC-A32A-09E3-C244-2BAC737C2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43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60D4B3-F04D-8802-B60C-8AE7A3340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904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44779-F1E4-B372-3D6C-32C722592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>
            <a:extLst>
              <a:ext uri="{FF2B5EF4-FFF2-40B4-BE49-F238E27FC236}">
                <a16:creationId xmlns:a16="http://schemas.microsoft.com/office/drawing/2014/main" id="{23F7E229-4309-C150-E79A-C8D0BAA069E6}"/>
              </a:ext>
            </a:extLst>
          </p:cNvPr>
          <p:cNvCxnSpPr/>
          <p:nvPr/>
        </p:nvCxnSpPr>
        <p:spPr>
          <a:xfrm>
            <a:off x="9326880" y="228600"/>
            <a:ext cx="2651760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4F7CDCDA-F697-BF9C-FFC3-627291282613}"/>
              </a:ext>
            </a:extLst>
          </p:cNvPr>
          <p:cNvCxnSpPr/>
          <p:nvPr/>
        </p:nvCxnSpPr>
        <p:spPr>
          <a:xfrm>
            <a:off x="9674352" y="301752"/>
            <a:ext cx="2304288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C8265C4D-76B8-7EA0-9D66-63CDEC920F03}"/>
              </a:ext>
            </a:extLst>
          </p:cNvPr>
          <p:cNvCxnSpPr/>
          <p:nvPr/>
        </p:nvCxnSpPr>
        <p:spPr>
          <a:xfrm>
            <a:off x="10021824" y="374904"/>
            <a:ext cx="1956816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3763A78E-E218-1707-EA07-37F8A3C82226}"/>
              </a:ext>
            </a:extLst>
          </p:cNvPr>
          <p:cNvCxnSpPr/>
          <p:nvPr/>
        </p:nvCxnSpPr>
        <p:spPr>
          <a:xfrm>
            <a:off x="10369296" y="448056"/>
            <a:ext cx="1609344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2EFC2A4C-D220-F71F-B694-8BC19609E56D}"/>
              </a:ext>
            </a:extLst>
          </p:cNvPr>
          <p:cNvCxnSpPr/>
          <p:nvPr/>
        </p:nvCxnSpPr>
        <p:spPr>
          <a:xfrm>
            <a:off x="10716767" y="521208"/>
            <a:ext cx="1261873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F6CF4758-E555-C5A1-395E-A407410F6EA0}"/>
              </a:ext>
            </a:extLst>
          </p:cNvPr>
          <p:cNvCxnSpPr/>
          <p:nvPr/>
        </p:nvCxnSpPr>
        <p:spPr>
          <a:xfrm>
            <a:off x="11064240" y="594360"/>
            <a:ext cx="914400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B474A402-E47C-C22F-2AD4-118D009BF16F}"/>
              </a:ext>
            </a:extLst>
          </p:cNvPr>
          <p:cNvCxnSpPr/>
          <p:nvPr/>
        </p:nvCxnSpPr>
        <p:spPr>
          <a:xfrm>
            <a:off x="11411712" y="667512"/>
            <a:ext cx="566928" cy="0"/>
          </a:xfrm>
          <a:prstGeom prst="line">
            <a:avLst/>
          </a:prstGeom>
          <a:ln w="12700">
            <a:solidFill>
              <a:srgbClr val="163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rc 8">
            <a:extLst>
              <a:ext uri="{FF2B5EF4-FFF2-40B4-BE49-F238E27FC236}">
                <a16:creationId xmlns:a16="http://schemas.microsoft.com/office/drawing/2014/main" id="{161B1E3E-66B9-E474-15F8-225BE6DCB77C}"/>
              </a:ext>
            </a:extLst>
          </p:cNvPr>
          <p:cNvSpPr/>
          <p:nvPr/>
        </p:nvSpPr>
        <p:spPr>
          <a:xfrm>
            <a:off x="-731520" y="5989320"/>
            <a:ext cx="7315200" cy="1280160"/>
          </a:xfrm>
          <a:prstGeom prst="arc">
            <a:avLst/>
          </a:prstGeom>
          <a:noFill/>
          <a:ln w="25400">
            <a:solidFill>
              <a:srgbClr val="6F3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9830FDC3-16DD-2870-7945-7A1FFC6FC18C}"/>
              </a:ext>
            </a:extLst>
          </p:cNvPr>
          <p:cNvSpPr/>
          <p:nvPr/>
        </p:nvSpPr>
        <p:spPr>
          <a:xfrm>
            <a:off x="-594360" y="6099048"/>
            <a:ext cx="7315200" cy="1280160"/>
          </a:xfrm>
          <a:prstGeom prst="arc">
            <a:avLst/>
          </a:prstGeom>
          <a:noFill/>
          <a:ln w="25400">
            <a:solidFill>
              <a:srgbClr val="27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8D5F56D3-EABC-A447-A672-55C3F2354B18}"/>
              </a:ext>
            </a:extLst>
          </p:cNvPr>
          <p:cNvSpPr/>
          <p:nvPr/>
        </p:nvSpPr>
        <p:spPr>
          <a:xfrm>
            <a:off x="-457200" y="6208776"/>
            <a:ext cx="7315200" cy="1280160"/>
          </a:xfrm>
          <a:prstGeom prst="arc">
            <a:avLst/>
          </a:prstGeom>
          <a:noFill/>
          <a:ln w="25400">
            <a:solidFill>
              <a:srgbClr val="96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645875-9BA1-5208-A97B-7745C4DF31AA}"/>
              </a:ext>
            </a:extLst>
          </p:cNvPr>
          <p:cNvSpPr txBox="1"/>
          <p:nvPr/>
        </p:nvSpPr>
        <p:spPr>
          <a:xfrm>
            <a:off x="822960" y="1325880"/>
            <a:ext cx="338855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8FAFF"/>
                </a:solidFill>
                <a:latin typeface="Aptos Display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THANK YOU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A64843-5C5E-BD25-EFE1-CE9EF560F580}"/>
              </a:ext>
            </a:extLst>
          </p:cNvPr>
          <p:cNvSpPr txBox="1"/>
          <p:nvPr/>
        </p:nvSpPr>
        <p:spPr>
          <a:xfrm>
            <a:off x="868680" y="2331720"/>
            <a:ext cx="5394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655FF"/>
                </a:solidFill>
                <a:latin typeface="Aptos"/>
              </a:defRPr>
            </a:pPr>
            <a:r>
              <a:t>Questions &amp; Demo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B0BF2EA-6513-7202-8F5D-46B767CCE666}"/>
              </a:ext>
            </a:extLst>
          </p:cNvPr>
          <p:cNvSpPr/>
          <p:nvPr/>
        </p:nvSpPr>
        <p:spPr>
          <a:xfrm>
            <a:off x="868680" y="3154680"/>
            <a:ext cx="5303520" cy="123444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2F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46304" bIns="109728" rtlCol="0" anchor="ctr"/>
          <a:lstStyle/>
          <a:p>
            <a:pPr algn="ctr">
              <a:defRPr sz="1600" b="1">
                <a:solidFill>
                  <a:srgbClr val="F8FAFF"/>
                </a:solidFill>
                <a:latin typeface="Aptos Display"/>
              </a:defRPr>
            </a:pPr>
            <a:r>
              <a:t>Employee Data Synchronization</a:t>
            </a:r>
          </a:p>
          <a:p>
            <a:pPr>
              <a:spcBef>
                <a:spcPts val="700"/>
              </a:spcBef>
              <a:defRPr sz="1200">
                <a:solidFill>
                  <a:srgbClr val="E0E7F6"/>
                </a:solidFill>
                <a:latin typeface="Aptos"/>
              </a:defRPr>
            </a:pPr>
            <a:r>
              <a:t>SAP Integration Suite Capstone Project</a:t>
            </a:r>
            <a:br/>
            <a:r>
              <a:t>Vinod Mudavath  |  SAP Integration Developer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9F8309-C55F-6BAD-1ADE-927A998143DC}"/>
              </a:ext>
            </a:extLst>
          </p:cNvPr>
          <p:cNvSpPr/>
          <p:nvPr/>
        </p:nvSpPr>
        <p:spPr>
          <a:xfrm>
            <a:off x="868680" y="3154680"/>
            <a:ext cx="64008" cy="1234440"/>
          </a:xfrm>
          <a:prstGeom prst="rect">
            <a:avLst/>
          </a:prstGeom>
          <a:solidFill>
            <a:srgbClr val="6F3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3F53716-2637-B3F1-D40E-BE6497479D91}"/>
              </a:ext>
            </a:extLst>
          </p:cNvPr>
          <p:cNvSpPr/>
          <p:nvPr/>
        </p:nvSpPr>
        <p:spPr>
          <a:xfrm>
            <a:off x="7543800" y="1417320"/>
            <a:ext cx="3108960" cy="1051560"/>
          </a:xfrm>
          <a:prstGeom prst="roundRect">
            <a:avLst/>
          </a:prstGeom>
          <a:solidFill>
            <a:srgbClr val="0D2348"/>
          </a:solidFill>
          <a:ln w="19050">
            <a:solidFill>
              <a:srgbClr val="27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8FAFF"/>
                </a:solidFill>
                <a:latin typeface="Aptos Display"/>
              </a:defRPr>
            </a:pPr>
            <a:r>
              <a:t>SAP CLOUD INTEGRATION</a:t>
            </a:r>
          </a:p>
          <a:p>
            <a:pPr algn="ctr">
              <a:defRPr sz="950">
                <a:solidFill>
                  <a:srgbClr val="B8C5E0"/>
                </a:solidFill>
                <a:latin typeface="Aptos"/>
              </a:defRPr>
            </a:pPr>
            <a:r>
              <a:t>End-to-End Integration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5F07C3E-51A2-6C5F-B9B9-24CCB1E437E7}"/>
              </a:ext>
            </a:extLst>
          </p:cNvPr>
          <p:cNvSpPr/>
          <p:nvPr/>
        </p:nvSpPr>
        <p:spPr>
          <a:xfrm>
            <a:off x="6629400" y="2926080"/>
            <a:ext cx="2011680" cy="914400"/>
          </a:xfrm>
          <a:prstGeom prst="roundRect">
            <a:avLst/>
          </a:prstGeom>
          <a:solidFill>
            <a:srgbClr val="0D2348"/>
          </a:solidFill>
          <a:ln w="19050">
            <a:solidFill>
              <a:srgbClr val="6F3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8FAFF"/>
                </a:solidFill>
                <a:latin typeface="Aptos Display"/>
              </a:defRPr>
            </a:pPr>
            <a:r>
              <a:t>SUCCESSFACTORS</a:t>
            </a:r>
          </a:p>
          <a:p>
            <a:pPr algn="ctr">
              <a:defRPr sz="950">
                <a:solidFill>
                  <a:srgbClr val="B8C5E0"/>
                </a:solidFill>
                <a:latin typeface="Aptos"/>
              </a:defRPr>
            </a:pPr>
            <a:r>
              <a:t>HR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D43F69E-B279-3517-3B93-719CCEC3EFA6}"/>
              </a:ext>
            </a:extLst>
          </p:cNvPr>
          <p:cNvSpPr/>
          <p:nvPr/>
        </p:nvSpPr>
        <p:spPr>
          <a:xfrm>
            <a:off x="9372600" y="2926080"/>
            <a:ext cx="2011680" cy="914400"/>
          </a:xfrm>
          <a:prstGeom prst="roundRect">
            <a:avLst/>
          </a:prstGeom>
          <a:solidFill>
            <a:srgbClr val="0D2348"/>
          </a:solidFill>
          <a:ln w="19050">
            <a:solidFill>
              <a:srgbClr val="27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8FAFF"/>
                </a:solidFill>
                <a:latin typeface="Aptos Display"/>
              </a:defRPr>
            </a:pPr>
            <a:r>
              <a:t>S/4HANA</a:t>
            </a:r>
          </a:p>
          <a:p>
            <a:pPr algn="ctr">
              <a:defRPr sz="950">
                <a:solidFill>
                  <a:srgbClr val="B8C5E0"/>
                </a:solidFill>
                <a:latin typeface="Aptos"/>
              </a:defRPr>
            </a:pPr>
            <a:r>
              <a:t>Finance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FCB72F4-A827-378E-8EF0-255F3BE25953}"/>
              </a:ext>
            </a:extLst>
          </p:cNvPr>
          <p:cNvSpPr/>
          <p:nvPr/>
        </p:nvSpPr>
        <p:spPr>
          <a:xfrm>
            <a:off x="8001000" y="4389120"/>
            <a:ext cx="2011680" cy="914400"/>
          </a:xfrm>
          <a:prstGeom prst="roundRect">
            <a:avLst/>
          </a:prstGeom>
          <a:solidFill>
            <a:srgbClr val="0D2348"/>
          </a:solidFill>
          <a:ln w="19050">
            <a:solidFill>
              <a:srgbClr val="1FC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8FAFF"/>
                </a:solidFill>
                <a:latin typeface="Aptos Display"/>
              </a:defRPr>
            </a:pPr>
            <a:r>
              <a:t>SFTP</a:t>
            </a:r>
          </a:p>
          <a:p>
            <a:pPr algn="ctr">
              <a:defRPr sz="950">
                <a:solidFill>
                  <a:srgbClr val="B8C5E0"/>
                </a:solidFill>
                <a:latin typeface="Aptos"/>
              </a:defRPr>
            </a:pPr>
            <a:r>
              <a:t>Payroll</a:t>
            </a: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14382A93-5A21-DAB4-1BB5-CAACE2A15353}"/>
              </a:ext>
            </a:extLst>
          </p:cNvPr>
          <p:cNvCxnSpPr/>
          <p:nvPr/>
        </p:nvCxnSpPr>
        <p:spPr>
          <a:xfrm flipH="1">
            <a:off x="7635240" y="2468880"/>
            <a:ext cx="914400" cy="457200"/>
          </a:xfrm>
          <a:prstGeom prst="line">
            <a:avLst/>
          </a:prstGeom>
          <a:ln w="22860">
            <a:solidFill>
              <a:srgbClr val="96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4D4B42D-DB3C-B080-03BB-BE55D052FAD2}"/>
              </a:ext>
            </a:extLst>
          </p:cNvPr>
          <p:cNvSpPr/>
          <p:nvPr/>
        </p:nvSpPr>
        <p:spPr>
          <a:xfrm rot="16200000">
            <a:off x="7580375" y="2862072"/>
            <a:ext cx="128016" cy="128016"/>
          </a:xfrm>
          <a:prstGeom prst="triangle">
            <a:avLst/>
          </a:prstGeom>
          <a:solidFill>
            <a:srgbClr val="96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174747E0-575E-8BDB-F148-E95885E1BD90}"/>
              </a:ext>
            </a:extLst>
          </p:cNvPr>
          <p:cNvCxnSpPr/>
          <p:nvPr/>
        </p:nvCxnSpPr>
        <p:spPr>
          <a:xfrm>
            <a:off x="9144000" y="2468880"/>
            <a:ext cx="1005840" cy="457200"/>
          </a:xfrm>
          <a:prstGeom prst="line">
            <a:avLst/>
          </a:prstGeom>
          <a:ln w="22860">
            <a:solidFill>
              <a:srgbClr val="27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67D99F51-20A1-5306-B45C-7DCB40E77F62}"/>
              </a:ext>
            </a:extLst>
          </p:cNvPr>
          <p:cNvSpPr/>
          <p:nvPr/>
        </p:nvSpPr>
        <p:spPr>
          <a:xfrm rot="5400000">
            <a:off x="10094976" y="2862072"/>
            <a:ext cx="128016" cy="128016"/>
          </a:xfrm>
          <a:prstGeom prst="triangle">
            <a:avLst/>
          </a:prstGeom>
          <a:solidFill>
            <a:srgbClr val="2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7EAE4F9D-A47B-320F-3E0E-6D0BD14D1612}"/>
              </a:ext>
            </a:extLst>
          </p:cNvPr>
          <p:cNvCxnSpPr/>
          <p:nvPr/>
        </p:nvCxnSpPr>
        <p:spPr>
          <a:xfrm flipH="1">
            <a:off x="9006840" y="3840480"/>
            <a:ext cx="91440" cy="548640"/>
          </a:xfrm>
          <a:prstGeom prst="line">
            <a:avLst/>
          </a:prstGeom>
          <a:ln w="22860">
            <a:solidFill>
              <a:srgbClr val="1FCD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9C8D27AF-00B6-41BE-873E-6AA6E2B091A0}"/>
              </a:ext>
            </a:extLst>
          </p:cNvPr>
          <p:cNvSpPr/>
          <p:nvPr/>
        </p:nvSpPr>
        <p:spPr>
          <a:xfrm rot="16200000">
            <a:off x="8951976" y="4325112"/>
            <a:ext cx="128016" cy="128016"/>
          </a:xfrm>
          <a:prstGeom prst="triangle">
            <a:avLst/>
          </a:prstGeom>
          <a:solidFill>
            <a:srgbClr val="1FC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92670BD-655D-3356-7322-B9E01D33AB84}"/>
              </a:ext>
            </a:extLst>
          </p:cNvPr>
          <p:cNvSpPr/>
          <p:nvPr/>
        </p:nvSpPr>
        <p:spPr>
          <a:xfrm>
            <a:off x="868680" y="5669280"/>
            <a:ext cx="1554480" cy="347472"/>
          </a:xfrm>
          <a:prstGeom prst="roundRect">
            <a:avLst/>
          </a:prstGeom>
          <a:solidFill>
            <a:srgbClr val="6F3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F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28E8FC7-F400-D7D1-E5C1-2FF560E58D87}"/>
              </a:ext>
            </a:extLst>
          </p:cNvPr>
          <p:cNvSpPr/>
          <p:nvPr/>
        </p:nvSpPr>
        <p:spPr>
          <a:xfrm>
            <a:off x="2560320" y="5669280"/>
            <a:ext cx="1371600" cy="347472"/>
          </a:xfrm>
          <a:prstGeom prst="roundRect">
            <a:avLst/>
          </a:prstGeom>
          <a:solidFill>
            <a:srgbClr val="2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F"/>
                </a:solidFill>
                <a:latin typeface="Aptos"/>
              </a:defRPr>
            </a:pPr>
            <a:r>
              <a:t>MAPPING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9378F40-64CA-C578-8E69-5E5036D6265B}"/>
              </a:ext>
            </a:extLst>
          </p:cNvPr>
          <p:cNvSpPr/>
          <p:nvPr/>
        </p:nvSpPr>
        <p:spPr>
          <a:xfrm>
            <a:off x="4069080" y="5669280"/>
            <a:ext cx="1874519" cy="347472"/>
          </a:xfrm>
          <a:prstGeom prst="roundRect">
            <a:avLst/>
          </a:prstGeom>
          <a:solidFill>
            <a:srgbClr val="EE5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F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FF2006E-652F-5063-C78F-0DFC2C300B56}"/>
              </a:ext>
            </a:extLst>
          </p:cNvPr>
          <p:cNvSpPr/>
          <p:nvPr/>
        </p:nvSpPr>
        <p:spPr>
          <a:xfrm>
            <a:off x="6080760" y="5669280"/>
            <a:ext cx="1508760" cy="347472"/>
          </a:xfrm>
          <a:prstGeom prst="roundRect">
            <a:avLst/>
          </a:prstGeom>
          <a:solidFill>
            <a:srgbClr val="1FC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F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8CB8183-131C-B565-A125-4CBE09DE528C}"/>
              </a:ext>
            </a:extLst>
          </p:cNvPr>
          <p:cNvSpPr/>
          <p:nvPr/>
        </p:nvSpPr>
        <p:spPr>
          <a:xfrm>
            <a:off x="7726679" y="5669280"/>
            <a:ext cx="1051560" cy="347472"/>
          </a:xfrm>
          <a:prstGeom prst="roundRect">
            <a:avLst/>
          </a:prstGeom>
          <a:solidFill>
            <a:srgbClr val="96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F"/>
                </a:solidFill>
                <a:latin typeface="Aptos"/>
              </a:defRPr>
            </a:pPr>
            <a:r>
              <a:t>AGILE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C53A5A-7EC9-206A-923C-AEDC81CDE037}"/>
              </a:ext>
            </a:extLst>
          </p:cNvPr>
          <p:cNvSpPr txBox="1"/>
          <p:nvPr/>
        </p:nvSpPr>
        <p:spPr>
          <a:xfrm>
            <a:off x="658368" y="6473952"/>
            <a:ext cx="326563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084AA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Employee Data Synchronization  |  SAP Integration Suite Capstone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B8BB95-4DB5-B7FB-6896-CE18DA61527A}"/>
              </a:ext>
            </a:extLst>
          </p:cNvPr>
          <p:cNvSpPr txBox="1"/>
          <p:nvPr/>
        </p:nvSpPr>
        <p:spPr>
          <a:xfrm>
            <a:off x="11201400" y="64190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8C5E0"/>
                </a:solidFill>
                <a:latin typeface="Aptos"/>
              </a:defRPr>
            </a:pPr>
            <a: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672058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884</Words>
  <Application>Microsoft Office PowerPoint</Application>
  <PresentationFormat>Widescreen</PresentationFormat>
  <Paragraphs>209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Vinod Mudavath</dc:creator>
  <cp:lastModifiedBy>Vinod Mudavath</cp:lastModifiedBy>
  <cp:revision>1</cp:revision>
  <dcterms:created xsi:type="dcterms:W3CDTF">2026-08-14T09:05:08Z</dcterms:created>
  <dcterms:modified xsi:type="dcterms:W3CDTF">2026-08-14T10:49:04Z</dcterms:modified>
</cp:coreProperties>
</file>