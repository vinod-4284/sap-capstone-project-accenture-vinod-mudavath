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nod Mudavath" initials="VM" lastIdx="1" clrIdx="0">
    <p:extLst>
      <p:ext uri="{19B8F6BF-5375-455C-9EA6-DF929625EA0E}">
        <p15:presenceInfo xmlns:p15="http://schemas.microsoft.com/office/powerpoint/2012/main" userId="be3b7605b9aa64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9" autoAdjust="0"/>
  </p:normalViewPr>
  <p:slideViewPr>
    <p:cSldViewPr snapToGrid="0">
      <p:cViewPr>
        <p:scale>
          <a:sx n="36" d="100"/>
          <a:sy n="36" d="100"/>
        </p:scale>
        <p:origin x="1844" y="5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d Mudavath" userId="be3b7605b9aa64f8" providerId="LiveId" clId="{C4641F04-7487-454D-BD43-62BDDE5AE930}"/>
    <pc:docChg chg="modSld">
      <pc:chgData name="Vinod Mudavath" userId="be3b7605b9aa64f8" providerId="LiveId" clId="{C4641F04-7487-454D-BD43-62BDDE5AE930}" dt="2026-08-14T07:53:55.846" v="2" actId="113"/>
      <pc:docMkLst>
        <pc:docMk/>
      </pc:docMkLst>
      <pc:sldChg chg="modSp mod">
        <pc:chgData name="Vinod Mudavath" userId="be3b7605b9aa64f8" providerId="LiveId" clId="{C4641F04-7487-454D-BD43-62BDDE5AE930}" dt="2026-08-14T07:53:55.846" v="2" actId="113"/>
        <pc:sldMkLst>
          <pc:docMk/>
          <pc:sldMk cId="1415795873" sldId="260"/>
        </pc:sldMkLst>
        <pc:spChg chg="mod">
          <ac:chgData name="Vinod Mudavath" userId="be3b7605b9aa64f8" providerId="LiveId" clId="{C4641F04-7487-454D-BD43-62BDDE5AE930}" dt="2026-08-14T07:53:55.846" v="2" actId="113"/>
          <ac:spMkLst>
            <pc:docMk/>
            <pc:sldMk cId="1415795873" sldId="260"/>
            <ac:spMk id="2" creationId="{9ECC68F1-0310-23D1-19DB-CC403C0313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EB308-13CB-458F-A387-EB5F0EC759A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17291-96AB-4C2E-A0E2-BF444F973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64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17291-96AB-4C2E-A0E2-BF444F973EA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6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50BE-AA1F-8ECD-BCC7-873E6BA39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63241-F693-653F-CF9B-94280183F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86EB2-658C-00DD-711F-AA15313C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ACF79-782D-C4F8-F810-0E309B46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F166-3C24-619A-7E29-08DF555C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4F7A-5FB5-E72E-6879-8136A6B3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C33CA-EC45-5A7C-C5AE-BDEA2901E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6E6A-FD1F-7B95-CACD-1D657DE3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28E93-798E-A076-F619-9F406135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00515-D633-9A8F-B0BB-2DBC076A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7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1C37-FF87-AE42-9B66-634839FD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9A9F1-9152-5E37-47BD-3A95C4CEC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6A911-B0C3-30F9-4B32-3A0140D1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5E026-BA75-EC83-9ABB-40D02816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5798F-1A8E-F5B7-D8E2-1D5D0A3F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83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ED4F-EFF8-7C27-63F7-621845C7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278F-CE71-35FB-1FF5-2DB6D1198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FAB91-45C2-AA9A-EFEC-98C170217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0E494-383C-59A8-8A06-ACFCFECD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6844-C748-7B94-DD83-008D288D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99B3A-C923-F462-9964-FE2FC88E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82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7A3A-F9CD-69CE-C97E-610C5508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F572D-BAB7-E100-160E-1BACC8361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CD0CE-DFC3-AEF3-641C-50AB84EE4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08D0E-3CCF-ABC6-628C-7E6C01707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0F6EB-3B57-3020-19FA-88A3E415C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3815-2E8A-CDDC-739E-CDD7F171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0082B-F3C4-410F-BB54-8C3434C49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140AB-5F51-4B0A-BE88-EB43DADE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0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1AE3-1EEA-E572-7CDD-1B00F65A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F2BA9-EE74-2048-31BE-2557E6D9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F905B-5698-85EC-DFDD-7D44B261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97099-7B61-0E12-9E32-AA3E7105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80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BBEBB-D5BE-1C61-8C90-6B10CF99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1EBFB-C71B-4597-C22B-0442CF74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8E0A2-58E2-D0D2-B94F-F90DADEC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36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A86D-F575-52E0-8F36-8E8EADA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6A92-A6FA-9CFE-F714-03064632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AA77E-B9CE-9289-169A-13FBE2F42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5E3F7-C4F9-D5A8-8DFB-AF6B6B9E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8FF14-C0B3-F409-BE15-19C0CBAB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1506-E5AB-F925-0731-DBEFA9CA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34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33A5-2D6F-C857-5619-528A1C73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8AC20-2DD5-8CFD-1466-ACA9376F2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C86D0-668E-DC48-7B2A-34E879E3A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3EA2E-A5DF-E7BB-54A3-792EFA70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90FA0-7D18-CDB1-57E1-C424ED85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DF279-D130-733C-CDAA-72226CAC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0675-A82A-49E9-D26E-11A785DD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C976E-FDF8-FA65-64CE-B0D7B94A8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4FADF-A112-EC89-A914-AA864B61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C9A0F-E3E0-1949-1954-4C616BAD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B6754-8B23-4072-9B4E-55EC5531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2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77A4C-DD4C-6B46-B0A9-04C3295EB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93513-F9E5-54F2-F41B-CE63DCBE3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AA0D7-65B7-A752-0741-C241B279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AD78-08A7-BF72-FED8-81163E19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15C43-37CA-1790-6C8C-0ECFBCF6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46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C16C2-D6DC-0E95-A422-64D07257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3B0C0-8A2A-1B23-D531-2298E441B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4FE1D-AA05-FD5F-D15C-D96482BB7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EF362-C373-4537-A341-13BC61611BC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14408-62A8-CA01-910B-8E5261488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0E53-B159-615A-6ED2-A801DFE88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EFA0F-F7E2-4A8C-B6DD-9616774E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6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81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94BC1A-9CA7-8568-5C39-31F5C5A5E6E1}"/>
              </a:ext>
            </a:extLst>
          </p:cNvPr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Business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605C8-B676-A7E8-7497-99ABC6A4DFD0}"/>
              </a:ext>
            </a:extLst>
          </p:cNvPr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D6723-72B4-76DE-3588-13146B53A514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209A2823-1E32-D9CD-2E5B-F5CACAB19484}"/>
              </a:ext>
            </a:extLst>
          </p:cNvPr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273AF-ED67-3C0F-E9CC-7F697C604709}"/>
              </a:ext>
            </a:extLst>
          </p:cNvPr>
          <p:cNvSpPr/>
          <p:nvPr/>
        </p:nvSpPr>
        <p:spPr>
          <a:xfrm>
            <a:off x="685800" y="1325880"/>
            <a:ext cx="64008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9B723-89AB-A7E6-6267-9E07656AC398}"/>
              </a:ext>
            </a:extLst>
          </p:cNvPr>
          <p:cNvSpPr txBox="1"/>
          <p:nvPr/>
        </p:nvSpPr>
        <p:spPr>
          <a:xfrm>
            <a:off x="886968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Fragmented employee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400BC-D0C3-CEED-CDA7-5E929D205040}"/>
              </a:ext>
            </a:extLst>
          </p:cNvPr>
          <p:cNvSpPr txBox="1"/>
          <p:nvPr/>
        </p:nvSpPr>
        <p:spPr>
          <a:xfrm>
            <a:off x="886968" y="1856231"/>
            <a:ext cx="26690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lang="en-US" dirty="0"/>
              <a:t>Employee master data originates in SuccessFactors and must reach the finance landscape reliably.</a:t>
            </a:r>
          </a:p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BFFEA22F-8A6C-E6A3-CF9E-FE3DFFB51E10}"/>
              </a:ext>
            </a:extLst>
          </p:cNvPr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D4C72-4EA0-5808-B0EF-82CDABD032DB}"/>
              </a:ext>
            </a:extLst>
          </p:cNvPr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6C64BD-7484-EDFF-BEA4-4E624E3A6029}"/>
              </a:ext>
            </a:extLst>
          </p:cNvPr>
          <p:cNvSpPr txBox="1"/>
          <p:nvPr/>
        </p:nvSpPr>
        <p:spPr>
          <a:xfrm>
            <a:off x="4590288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Manual handoffs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88E4B9-352E-188E-9227-3C4BA6D2BFB5}"/>
              </a:ext>
            </a:extLst>
          </p:cNvPr>
          <p:cNvSpPr txBox="1"/>
          <p:nvPr/>
        </p:nvSpPr>
        <p:spPr>
          <a:xfrm>
            <a:off x="4590288" y="1856231"/>
            <a:ext cx="29809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Manual extraction and file exchange create delays, inconsistency and operational effort.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9965BA2F-6BA6-10ED-828C-6EE57B6D3699}"/>
              </a:ext>
            </a:extLst>
          </p:cNvPr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CEBE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5CCC3-53A8-40F7-5C62-C17A3897AA8F}"/>
              </a:ext>
            </a:extLst>
          </p:cNvPr>
          <p:cNvSpPr/>
          <p:nvPr/>
        </p:nvSpPr>
        <p:spPr>
          <a:xfrm>
            <a:off x="8092440" y="1325880"/>
            <a:ext cx="64008" cy="182880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1B8D3-37BE-0F18-88E9-02CCDA9B6173}"/>
              </a:ext>
            </a:extLst>
          </p:cNvPr>
          <p:cNvSpPr txBox="1"/>
          <p:nvPr/>
        </p:nvSpPr>
        <p:spPr>
          <a:xfrm>
            <a:off x="8293608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Failure visibility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9BF083-C8EC-6D62-029E-EB0841217FB1}"/>
              </a:ext>
            </a:extLst>
          </p:cNvPr>
          <p:cNvSpPr txBox="1"/>
          <p:nvPr/>
        </p:nvSpPr>
        <p:spPr>
          <a:xfrm>
            <a:off x="8293608" y="1856231"/>
            <a:ext cx="27249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Processing errors need immediate administrator notification for diagnosis and recovery.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3E59C5B3-7B84-7A37-A933-B98668A89419}"/>
              </a:ext>
            </a:extLst>
          </p:cNvPr>
          <p:cNvSpPr/>
          <p:nvPr/>
        </p:nvSpPr>
        <p:spPr>
          <a:xfrm>
            <a:off x="685800" y="3520440"/>
            <a:ext cx="10835640" cy="141732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39A90D-7D88-3996-36F2-B5EA697F95AC}"/>
              </a:ext>
            </a:extLst>
          </p:cNvPr>
          <p:cNvSpPr/>
          <p:nvPr/>
        </p:nvSpPr>
        <p:spPr>
          <a:xfrm>
            <a:off x="685800" y="3520440"/>
            <a:ext cx="64008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0F261F-10E7-6480-3E4C-C7205D5C5223}"/>
              </a:ext>
            </a:extLst>
          </p:cNvPr>
          <p:cNvSpPr txBox="1"/>
          <p:nvPr/>
        </p:nvSpPr>
        <p:spPr>
          <a:xfrm>
            <a:off x="886968" y="364845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Target state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61C1F9-F833-F535-04F8-300507D226CE}"/>
              </a:ext>
            </a:extLst>
          </p:cNvPr>
          <p:cNvSpPr txBox="1"/>
          <p:nvPr/>
        </p:nvSpPr>
        <p:spPr>
          <a:xfrm>
            <a:off x="886968" y="4050791"/>
            <a:ext cx="104698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A controlled CPI integration fetches selected employees, transforms them into the S/4HANA structure, updates the target and provides a payroll-ready SFTP file.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65601A-8D4F-50CA-5CFF-7250785FBD3E}"/>
              </a:ext>
            </a:extLst>
          </p:cNvPr>
          <p:cNvSpPr txBox="1"/>
          <p:nvPr/>
        </p:nvSpPr>
        <p:spPr>
          <a:xfrm>
            <a:off x="868680" y="5212080"/>
            <a:ext cx="1024128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Scope: SuccessFactors users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rharrison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szhou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Target: S/4HANA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EmpdetailsSet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External delivery: SFTP directory AEH</a:t>
            </a:r>
          </a:p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Failure path: Exception Subprocess → Gmail</a:t>
            </a:r>
          </a:p>
        </p:txBody>
      </p:sp>
    </p:spTree>
    <p:extLst>
      <p:ext uri="{BB962C8B-B14F-4D97-AF65-F5344CB8AC3E}">
        <p14:creationId xmlns:p14="http://schemas.microsoft.com/office/powerpoint/2010/main" val="95495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8E09BA-7349-E3FC-BEB5-79C31A91887F}"/>
              </a:ext>
            </a:extLst>
          </p:cNvPr>
          <p:cNvSpPr txBox="1"/>
          <p:nvPr/>
        </p:nvSpPr>
        <p:spPr>
          <a:xfrm>
            <a:off x="560493" y="5212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CDA3E-6BBF-27C9-55DE-A9FC06C669BE}"/>
              </a:ext>
            </a:extLst>
          </p:cNvPr>
          <p:cNvSpPr/>
          <p:nvPr/>
        </p:nvSpPr>
        <p:spPr>
          <a:xfrm>
            <a:off x="560493" y="11612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7932CE-8CFE-9FC5-F689-E9849D516807}"/>
              </a:ext>
            </a:extLst>
          </p:cNvPr>
          <p:cNvSpPr txBox="1"/>
          <p:nvPr/>
        </p:nvSpPr>
        <p:spPr>
          <a:xfrm>
            <a:off x="10984653" y="66294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C30540-918F-3A6D-3B0B-7033F6743654}"/>
              </a:ext>
            </a:extLst>
          </p:cNvPr>
          <p:cNvSpPr txBox="1"/>
          <p:nvPr/>
        </p:nvSpPr>
        <p:spPr>
          <a:xfrm>
            <a:off x="743373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Automate employee master-data synchronization from SuccessFactors to S/4HANA.</a:t>
            </a:r>
          </a:p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Use SAP Cloud Integration for orchestration, transformation and routing.</a:t>
            </a:r>
          </a:p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Filter the source to the required user IDs: </a:t>
            </a:r>
            <a:r>
              <a:rPr dirty="0" err="1"/>
              <a:t>rharrison</a:t>
            </a:r>
            <a:r>
              <a:rPr dirty="0"/>
              <a:t> and </a:t>
            </a:r>
            <a:r>
              <a:rPr dirty="0" err="1"/>
              <a:t>szhou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Map source fields into the S/4HANA </a:t>
            </a:r>
            <a:r>
              <a:rPr dirty="0" err="1"/>
              <a:t>EmpdetailsSet</a:t>
            </a:r>
            <a:r>
              <a:rPr dirty="0"/>
              <a:t> structure.</a:t>
            </a:r>
          </a:p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Generate a CSV representation and deliver it to SFTP for payroll processing.</a:t>
            </a:r>
          </a:p>
          <a:p>
            <a:pPr>
              <a:spcAft>
                <a:spcPts val="1000"/>
              </a:spcAft>
              <a:defRPr sz="1700">
                <a:solidFill>
                  <a:srgbClr val="263442"/>
                </a:solidFill>
                <a:latin typeface="Aptos"/>
              </a:defRPr>
            </a:pPr>
            <a:r>
              <a:rPr dirty="0"/>
              <a:t>• Notify administrators through Gmail when message processing fails.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B0421BE0-84B9-BB65-C03C-049449FCD329}"/>
              </a:ext>
            </a:extLst>
          </p:cNvPr>
          <p:cNvSpPr/>
          <p:nvPr/>
        </p:nvSpPr>
        <p:spPr>
          <a:xfrm>
            <a:off x="7647093" y="4989136"/>
            <a:ext cx="3749039" cy="1274504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completes, target data is written, SFTP receives the file and failures trigger mail.</a:t>
            </a:r>
          </a:p>
          <a:p>
            <a:pPr algn="ctr"/>
            <a:endParaRPr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4DBC2B-BBAC-0270-DC16-AAA0F0B4146D}"/>
              </a:ext>
            </a:extLst>
          </p:cNvPr>
          <p:cNvSpPr/>
          <p:nvPr/>
        </p:nvSpPr>
        <p:spPr>
          <a:xfrm>
            <a:off x="7657793" y="5083735"/>
            <a:ext cx="64008" cy="1104821"/>
          </a:xfrm>
          <a:prstGeom prst="rect">
            <a:avLst/>
          </a:prstGeom>
          <a:solidFill>
            <a:srgbClr val="2B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4892D2-FAFA-5E6F-FF48-199ADF109A0E}"/>
              </a:ext>
            </a:extLst>
          </p:cNvPr>
          <p:cNvSpPr txBox="1"/>
          <p:nvPr/>
        </p:nvSpPr>
        <p:spPr>
          <a:xfrm>
            <a:off x="7770537" y="4989136"/>
            <a:ext cx="34289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427629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AFAAC-5D48-36FB-3E0D-DDEFE8C63264}"/>
              </a:ext>
            </a:extLst>
          </p:cNvPr>
          <p:cNvSpPr txBox="1"/>
          <p:nvPr/>
        </p:nvSpPr>
        <p:spPr>
          <a:xfrm>
            <a:off x="594360" y="654329"/>
            <a:ext cx="2888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System Landscape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58CA9-A29A-4AC9-77EE-B898D36F9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10993"/>
            <a:ext cx="11059102" cy="10973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22EEA01-7C4B-F83D-1CB1-48F1C45143F2}"/>
              </a:ext>
            </a:extLst>
          </p:cNvPr>
          <p:cNvSpPr txBox="1"/>
          <p:nvPr/>
        </p:nvSpPr>
        <p:spPr>
          <a:xfrm>
            <a:off x="11521440" y="62636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04</a:t>
            </a:r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B4C158CD-A68D-D780-61A1-2BE5CF37C3BD}"/>
              </a:ext>
            </a:extLst>
          </p:cNvPr>
          <p:cNvSpPr/>
          <p:nvPr/>
        </p:nvSpPr>
        <p:spPr>
          <a:xfrm>
            <a:off x="1097280" y="169164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729B9E-3620-3150-1372-847D6A71C5A7}"/>
              </a:ext>
            </a:extLst>
          </p:cNvPr>
          <p:cNvSpPr txBox="1"/>
          <p:nvPr/>
        </p:nvSpPr>
        <p:spPr>
          <a:xfrm>
            <a:off x="1170432" y="180136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SuccessFactors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37EEBD-419A-4B33-F4E1-FBF081B1FDCE}"/>
              </a:ext>
            </a:extLst>
          </p:cNvPr>
          <p:cNvSpPr txBox="1"/>
          <p:nvPr/>
        </p:nvSpPr>
        <p:spPr>
          <a:xfrm>
            <a:off x="1170432" y="2185416"/>
            <a:ext cx="1956815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/>
              <a:t>HR source</a:t>
            </a:r>
            <a:br>
              <a:rPr dirty="0"/>
            </a:br>
            <a:r>
              <a:rPr dirty="0"/>
              <a:t>OData V2</a:t>
            </a: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337C5EE6-0B50-01EF-4449-B41540D3B459}"/>
              </a:ext>
            </a:extLst>
          </p:cNvPr>
          <p:cNvSpPr/>
          <p:nvPr/>
        </p:nvSpPr>
        <p:spPr>
          <a:xfrm>
            <a:off x="3657600" y="169164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82EDC3-F21A-29BA-4F0F-13DA1D56E99E}"/>
              </a:ext>
            </a:extLst>
          </p:cNvPr>
          <p:cNvSpPr txBox="1"/>
          <p:nvPr/>
        </p:nvSpPr>
        <p:spPr>
          <a:xfrm>
            <a:off x="3730752" y="180136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Cloud Integration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C6FA18-93F3-557A-D93E-EBD791839DEF}"/>
              </a:ext>
            </a:extLst>
          </p:cNvPr>
          <p:cNvSpPr txBox="1"/>
          <p:nvPr/>
        </p:nvSpPr>
        <p:spPr>
          <a:xfrm>
            <a:off x="3730752" y="2185416"/>
            <a:ext cx="1956815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/>
              <a:t>Orchestration</a:t>
            </a:r>
            <a:br>
              <a:rPr dirty="0"/>
            </a:br>
            <a:r>
              <a:rPr dirty="0"/>
              <a:t>Mapping / Errors</a:t>
            </a:r>
          </a:p>
        </p:txBody>
      </p:sp>
      <p:sp>
        <p:nvSpPr>
          <p:cNvPr id="52" name="Rounded Rectangle 11">
            <a:extLst>
              <a:ext uri="{FF2B5EF4-FFF2-40B4-BE49-F238E27FC236}">
                <a16:creationId xmlns:a16="http://schemas.microsoft.com/office/drawing/2014/main" id="{5AE86E46-7C43-FA18-FC12-DA565968796F}"/>
              </a:ext>
            </a:extLst>
          </p:cNvPr>
          <p:cNvSpPr/>
          <p:nvPr/>
        </p:nvSpPr>
        <p:spPr>
          <a:xfrm>
            <a:off x="6217920" y="169164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7888B-99FE-6AEC-B988-B303D775CF9E}"/>
              </a:ext>
            </a:extLst>
          </p:cNvPr>
          <p:cNvSpPr txBox="1"/>
          <p:nvPr/>
        </p:nvSpPr>
        <p:spPr>
          <a:xfrm>
            <a:off x="6291072" y="180136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S/4HANA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A7377E-FF9E-425E-0259-5DC7C1F78583}"/>
              </a:ext>
            </a:extLst>
          </p:cNvPr>
          <p:cNvSpPr txBox="1"/>
          <p:nvPr/>
        </p:nvSpPr>
        <p:spPr>
          <a:xfrm>
            <a:off x="6291072" y="2185416"/>
            <a:ext cx="1956815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/>
              <a:t>L4C target</a:t>
            </a:r>
            <a:br>
              <a:rPr dirty="0"/>
            </a:br>
            <a:r>
              <a:rPr dirty="0"/>
              <a:t>EmpdetailsSet</a:t>
            </a:r>
          </a:p>
        </p:txBody>
      </p:sp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EBDEC080-6ED3-B56D-9F28-BB09013F2278}"/>
              </a:ext>
            </a:extLst>
          </p:cNvPr>
          <p:cNvSpPr/>
          <p:nvPr/>
        </p:nvSpPr>
        <p:spPr>
          <a:xfrm>
            <a:off x="8778240" y="169164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C93A1A-99FD-B03A-76C6-F0C9C264074C}"/>
              </a:ext>
            </a:extLst>
          </p:cNvPr>
          <p:cNvSpPr txBox="1"/>
          <p:nvPr/>
        </p:nvSpPr>
        <p:spPr>
          <a:xfrm>
            <a:off x="8851392" y="180136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SFTP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35D528-0089-7B78-A921-D17B2F69CE79}"/>
              </a:ext>
            </a:extLst>
          </p:cNvPr>
          <p:cNvSpPr txBox="1"/>
          <p:nvPr/>
        </p:nvSpPr>
        <p:spPr>
          <a:xfrm>
            <a:off x="8851392" y="2185416"/>
            <a:ext cx="1956815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/>
              <a:t>Payroll handoff</a:t>
            </a:r>
            <a:br>
              <a:rPr dirty="0"/>
            </a:br>
            <a:r>
              <a:rPr dirty="0"/>
              <a:t>Directory AEH</a:t>
            </a:r>
          </a:p>
        </p:txBody>
      </p:sp>
      <p:cxnSp>
        <p:nvCxnSpPr>
          <p:cNvPr id="59" name="Connector 17">
            <a:extLst>
              <a:ext uri="{FF2B5EF4-FFF2-40B4-BE49-F238E27FC236}">
                <a16:creationId xmlns:a16="http://schemas.microsoft.com/office/drawing/2014/main" id="{A10C0D77-77E0-4DEA-3BD5-4187DF96850E}"/>
              </a:ext>
            </a:extLst>
          </p:cNvPr>
          <p:cNvCxnSpPr/>
          <p:nvPr/>
        </p:nvCxnSpPr>
        <p:spPr>
          <a:xfrm>
            <a:off x="3200400" y="2304288"/>
            <a:ext cx="41148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8">
            <a:extLst>
              <a:ext uri="{FF2B5EF4-FFF2-40B4-BE49-F238E27FC236}">
                <a16:creationId xmlns:a16="http://schemas.microsoft.com/office/drawing/2014/main" id="{6619955D-D6A5-0F85-FEC7-FBC0093F667E}"/>
              </a:ext>
            </a:extLst>
          </p:cNvPr>
          <p:cNvCxnSpPr/>
          <p:nvPr/>
        </p:nvCxnSpPr>
        <p:spPr>
          <a:xfrm>
            <a:off x="5760720" y="2304288"/>
            <a:ext cx="41148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9">
            <a:extLst>
              <a:ext uri="{FF2B5EF4-FFF2-40B4-BE49-F238E27FC236}">
                <a16:creationId xmlns:a16="http://schemas.microsoft.com/office/drawing/2014/main" id="{6085BB42-F4C6-DE6E-63C1-110F928F6E35}"/>
              </a:ext>
            </a:extLst>
          </p:cNvPr>
          <p:cNvCxnSpPr/>
          <p:nvPr/>
        </p:nvCxnSpPr>
        <p:spPr>
          <a:xfrm>
            <a:off x="8321040" y="2304288"/>
            <a:ext cx="41148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7E8450F6-E18A-ED1D-36CA-8D84199C735D}"/>
              </a:ext>
            </a:extLst>
          </p:cNvPr>
          <p:cNvSpPr/>
          <p:nvPr/>
        </p:nvSpPr>
        <p:spPr>
          <a:xfrm>
            <a:off x="5074920" y="4023360"/>
            <a:ext cx="2103120" cy="1097280"/>
          </a:xfrm>
          <a:prstGeom prst="roundRect">
            <a:avLst/>
          </a:prstGeom>
          <a:solidFill>
            <a:srgbClr val="FCEBEB"/>
          </a:solidFill>
          <a:ln w="19050">
            <a:solidFill>
              <a:srgbClr val="CD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C54D27-EBC3-0E12-7F4A-6B98A3A25440}"/>
              </a:ext>
            </a:extLst>
          </p:cNvPr>
          <p:cNvSpPr txBox="1"/>
          <p:nvPr/>
        </p:nvSpPr>
        <p:spPr>
          <a:xfrm>
            <a:off x="5527597" y="4133088"/>
            <a:ext cx="119776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GMAIL / SMTP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5DDEEC-7323-7314-4067-74416EF916E2}"/>
              </a:ext>
            </a:extLst>
          </p:cNvPr>
          <p:cNvSpPr txBox="1"/>
          <p:nvPr/>
        </p:nvSpPr>
        <p:spPr>
          <a:xfrm>
            <a:off x="5490728" y="4517136"/>
            <a:ext cx="12715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Exception notification</a:t>
            </a:r>
          </a:p>
        </p:txBody>
      </p:sp>
      <p:cxnSp>
        <p:nvCxnSpPr>
          <p:cNvPr id="65" name="Connector 23">
            <a:extLst>
              <a:ext uri="{FF2B5EF4-FFF2-40B4-BE49-F238E27FC236}">
                <a16:creationId xmlns:a16="http://schemas.microsoft.com/office/drawing/2014/main" id="{B6B5FCB5-64A2-7ABD-CF4F-5FEFBF003A51}"/>
              </a:ext>
            </a:extLst>
          </p:cNvPr>
          <p:cNvCxnSpPr/>
          <p:nvPr/>
        </p:nvCxnSpPr>
        <p:spPr>
          <a:xfrm>
            <a:off x="6126480" y="2926080"/>
            <a:ext cx="0" cy="1051560"/>
          </a:xfrm>
          <a:prstGeom prst="line">
            <a:avLst/>
          </a:prstGeom>
          <a:ln w="27940">
            <a:solidFill>
              <a:srgbClr val="CD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24">
            <a:extLst>
              <a:ext uri="{FF2B5EF4-FFF2-40B4-BE49-F238E27FC236}">
                <a16:creationId xmlns:a16="http://schemas.microsoft.com/office/drawing/2014/main" id="{73505F5E-081F-F345-BE15-4CDBF3311B57}"/>
              </a:ext>
            </a:extLst>
          </p:cNvPr>
          <p:cNvSpPr/>
          <p:nvPr/>
        </p:nvSpPr>
        <p:spPr>
          <a:xfrm>
            <a:off x="1280160" y="5394960"/>
            <a:ext cx="10332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CFCE83-8A7E-DE92-A09D-CA7FFDE74465}"/>
              </a:ext>
            </a:extLst>
          </p:cNvPr>
          <p:cNvSpPr/>
          <p:nvPr/>
        </p:nvSpPr>
        <p:spPr>
          <a:xfrm>
            <a:off x="1280160" y="5394960"/>
            <a:ext cx="64008" cy="54864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20D43F-72CB-6D0B-D996-ED9605121772}"/>
              </a:ext>
            </a:extLst>
          </p:cNvPr>
          <p:cNvSpPr txBox="1"/>
          <p:nvPr/>
        </p:nvSpPr>
        <p:spPr>
          <a:xfrm>
            <a:off x="1481328" y="5522976"/>
            <a:ext cx="17690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Credential artifacts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389820-7076-45BD-6105-91EBEC2EEA13}"/>
              </a:ext>
            </a:extLst>
          </p:cNvPr>
          <p:cNvSpPr txBox="1"/>
          <p:nvPr/>
        </p:nvSpPr>
        <p:spPr>
          <a:xfrm>
            <a:off x="1481328" y="5925312"/>
            <a:ext cx="69653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sz="1200" dirty="0">
                <a:solidFill>
                  <a:schemeClr val="bg2">
                    <a:lumMod val="10000"/>
                  </a:schemeClr>
                </a:solidFill>
              </a:rPr>
              <a:t>SuccessFactors: </a:t>
            </a:r>
            <a:r>
              <a:rPr sz="1200" dirty="0" err="1">
                <a:solidFill>
                  <a:schemeClr val="bg2">
                    <a:lumMod val="10000"/>
                  </a:schemeClr>
                </a:solidFill>
              </a:rPr>
              <a:t>SFCred_Laxmi</a:t>
            </a:r>
            <a:r>
              <a:rPr sz="1200" dirty="0">
                <a:solidFill>
                  <a:schemeClr val="bg2">
                    <a:lumMod val="10000"/>
                  </a:schemeClr>
                </a:solidFill>
              </a:rPr>
              <a:t> • S/4HANA OData: L4C_Cred • SFTP/Mail: assigned personal accounts</a:t>
            </a:r>
          </a:p>
        </p:txBody>
      </p:sp>
    </p:spTree>
    <p:extLst>
      <p:ext uri="{BB962C8B-B14F-4D97-AF65-F5344CB8AC3E}">
        <p14:creationId xmlns:p14="http://schemas.microsoft.com/office/powerpoint/2010/main" val="329487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68F1-0310-23D1-19DB-CC403C03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Solution Architecture</a:t>
            </a:r>
            <a:endParaRPr lang="en-IN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418A1-5CEA-1B38-5559-0D0A21210E99}"/>
              </a:ext>
            </a:extLst>
          </p:cNvPr>
          <p:cNvSpPr/>
          <p:nvPr/>
        </p:nvSpPr>
        <p:spPr>
          <a:xfrm>
            <a:off x="838200" y="134416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E5DCC5-1EDD-4DDA-726C-AA9A5DEEAFD9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</a:defRPr>
            </a:pPr>
            <a:r>
              <a:t>05</a:t>
            </a: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56C4473F-0457-10EC-DC5F-6395172A9C93}"/>
              </a:ext>
            </a:extLst>
          </p:cNvPr>
          <p:cNvSpPr/>
          <p:nvPr/>
        </p:nvSpPr>
        <p:spPr>
          <a:xfrm>
            <a:off x="502920" y="2148840"/>
            <a:ext cx="1920240" cy="1143000"/>
          </a:xfrm>
          <a:prstGeom prst="roundRect">
            <a:avLst/>
          </a:prstGeom>
          <a:solidFill>
            <a:srgbClr val="14304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1AE581-8893-1254-D3B9-0E64D3B5188C}"/>
              </a:ext>
            </a:extLst>
          </p:cNvPr>
          <p:cNvSpPr txBox="1"/>
          <p:nvPr/>
        </p:nvSpPr>
        <p:spPr>
          <a:xfrm>
            <a:off x="576072" y="2258568"/>
            <a:ext cx="1773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SUCCESSFACTORS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387EA6-F5CC-9DF8-DD86-950428A24349}"/>
              </a:ext>
            </a:extLst>
          </p:cNvPr>
          <p:cNvSpPr txBox="1"/>
          <p:nvPr/>
        </p:nvSpPr>
        <p:spPr>
          <a:xfrm>
            <a:off x="576072" y="2642616"/>
            <a:ext cx="17739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/>
              <a:t>OData V2</a:t>
            </a:r>
            <a:br>
              <a:rPr dirty="0"/>
            </a:br>
            <a:r>
              <a:rPr dirty="0"/>
              <a:t>User</a:t>
            </a: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FCA15824-81DB-F143-8A3A-87ADE1A3DF31}"/>
              </a:ext>
            </a:extLst>
          </p:cNvPr>
          <p:cNvSpPr/>
          <p:nvPr/>
        </p:nvSpPr>
        <p:spPr>
          <a:xfrm>
            <a:off x="2788920" y="2148840"/>
            <a:ext cx="1920240" cy="1143000"/>
          </a:xfrm>
          <a:prstGeom prst="roundRect">
            <a:avLst/>
          </a:prstGeom>
          <a:solidFill>
            <a:srgbClr val="14304E"/>
          </a:solidFill>
          <a:ln w="19050">
            <a:solidFill>
              <a:srgbClr val="00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34A585-B180-7862-5041-BD097A2339BC}"/>
              </a:ext>
            </a:extLst>
          </p:cNvPr>
          <p:cNvSpPr txBox="1"/>
          <p:nvPr/>
        </p:nvSpPr>
        <p:spPr>
          <a:xfrm>
            <a:off x="2862072" y="2258568"/>
            <a:ext cx="1773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CPI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79A418-352A-34DE-ED8A-2207E445555B}"/>
              </a:ext>
            </a:extLst>
          </p:cNvPr>
          <p:cNvSpPr txBox="1"/>
          <p:nvPr/>
        </p:nvSpPr>
        <p:spPr>
          <a:xfrm>
            <a:off x="2862072" y="2642616"/>
            <a:ext cx="17739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t>Timer • OData</a:t>
            </a:r>
            <a:br/>
            <a:r>
              <a:t>Mapping • Routing</a:t>
            </a:r>
          </a:p>
        </p:txBody>
      </p:sp>
      <p:sp>
        <p:nvSpPr>
          <p:cNvPr id="62" name="Rounded Rectangle 11">
            <a:extLst>
              <a:ext uri="{FF2B5EF4-FFF2-40B4-BE49-F238E27FC236}">
                <a16:creationId xmlns:a16="http://schemas.microsoft.com/office/drawing/2014/main" id="{03D89458-1909-C191-2287-FDCCA3A19F7C}"/>
              </a:ext>
            </a:extLst>
          </p:cNvPr>
          <p:cNvSpPr/>
          <p:nvPr/>
        </p:nvSpPr>
        <p:spPr>
          <a:xfrm>
            <a:off x="5074920" y="2148840"/>
            <a:ext cx="1920240" cy="1143000"/>
          </a:xfrm>
          <a:prstGeom prst="roundRect">
            <a:avLst/>
          </a:prstGeom>
          <a:solidFill>
            <a:srgbClr val="14304E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2B3729-B14F-839C-3DB4-D9CC840954A9}"/>
              </a:ext>
            </a:extLst>
          </p:cNvPr>
          <p:cNvSpPr txBox="1"/>
          <p:nvPr/>
        </p:nvSpPr>
        <p:spPr>
          <a:xfrm>
            <a:off x="5148072" y="2258568"/>
            <a:ext cx="1773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S/4HANA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14D535-9F79-A0E2-45C5-8EC9EF335495}"/>
              </a:ext>
            </a:extLst>
          </p:cNvPr>
          <p:cNvSpPr txBox="1"/>
          <p:nvPr/>
        </p:nvSpPr>
        <p:spPr>
          <a:xfrm>
            <a:off x="5148072" y="2642616"/>
            <a:ext cx="17739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t>EmpdetailsSet</a:t>
            </a:r>
            <a:br/>
            <a:r>
              <a:t>OData</a:t>
            </a:r>
          </a:p>
        </p:txBody>
      </p:sp>
      <p:sp>
        <p:nvSpPr>
          <p:cNvPr id="65" name="Rounded Rectangle 14">
            <a:extLst>
              <a:ext uri="{FF2B5EF4-FFF2-40B4-BE49-F238E27FC236}">
                <a16:creationId xmlns:a16="http://schemas.microsoft.com/office/drawing/2014/main" id="{A8391445-8FD9-3AAD-BFE4-39A9510899FD}"/>
              </a:ext>
            </a:extLst>
          </p:cNvPr>
          <p:cNvSpPr/>
          <p:nvPr/>
        </p:nvSpPr>
        <p:spPr>
          <a:xfrm>
            <a:off x="7360920" y="2148840"/>
            <a:ext cx="1920240" cy="1143000"/>
          </a:xfrm>
          <a:prstGeom prst="roundRect">
            <a:avLst/>
          </a:prstGeom>
          <a:solidFill>
            <a:srgbClr val="14304E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F33D9D-19F6-F537-3878-BB3798664EBE}"/>
              </a:ext>
            </a:extLst>
          </p:cNvPr>
          <p:cNvSpPr txBox="1"/>
          <p:nvPr/>
        </p:nvSpPr>
        <p:spPr>
          <a:xfrm>
            <a:off x="7434072" y="2258568"/>
            <a:ext cx="1773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CSV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626492-ABFF-7D32-5801-1F714CC1B41C}"/>
              </a:ext>
            </a:extLst>
          </p:cNvPr>
          <p:cNvSpPr txBox="1"/>
          <p:nvPr/>
        </p:nvSpPr>
        <p:spPr>
          <a:xfrm>
            <a:off x="7434072" y="2642616"/>
            <a:ext cx="17739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t>Payroll extract</a:t>
            </a:r>
          </a:p>
        </p:txBody>
      </p:sp>
      <p:sp>
        <p:nvSpPr>
          <p:cNvPr id="68" name="Rounded Rectangle 17">
            <a:extLst>
              <a:ext uri="{FF2B5EF4-FFF2-40B4-BE49-F238E27FC236}">
                <a16:creationId xmlns:a16="http://schemas.microsoft.com/office/drawing/2014/main" id="{ED360892-C6E5-E398-14F7-7B134894F1C4}"/>
              </a:ext>
            </a:extLst>
          </p:cNvPr>
          <p:cNvSpPr/>
          <p:nvPr/>
        </p:nvSpPr>
        <p:spPr>
          <a:xfrm>
            <a:off x="9646920" y="2148840"/>
            <a:ext cx="1920240" cy="1143000"/>
          </a:xfrm>
          <a:prstGeom prst="roundRect">
            <a:avLst/>
          </a:prstGeom>
          <a:solidFill>
            <a:srgbClr val="14304E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963C1F-9ABE-4440-0660-49741B4B074F}"/>
              </a:ext>
            </a:extLst>
          </p:cNvPr>
          <p:cNvSpPr txBox="1"/>
          <p:nvPr/>
        </p:nvSpPr>
        <p:spPr>
          <a:xfrm>
            <a:off x="9720072" y="2258568"/>
            <a:ext cx="1773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SFTP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A606E2-DFC8-D0B2-9436-08358D05815C}"/>
              </a:ext>
            </a:extLst>
          </p:cNvPr>
          <p:cNvSpPr txBox="1"/>
          <p:nvPr/>
        </p:nvSpPr>
        <p:spPr>
          <a:xfrm>
            <a:off x="9720072" y="2642616"/>
            <a:ext cx="17739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t>AEH</a:t>
            </a:r>
            <a:br/>
            <a:r>
              <a:t>&lt;First&gt;&lt;Last&gt;.csv</a:t>
            </a:r>
          </a:p>
        </p:txBody>
      </p:sp>
      <p:cxnSp>
        <p:nvCxnSpPr>
          <p:cNvPr id="71" name="Connector 20">
            <a:extLst>
              <a:ext uri="{FF2B5EF4-FFF2-40B4-BE49-F238E27FC236}">
                <a16:creationId xmlns:a16="http://schemas.microsoft.com/office/drawing/2014/main" id="{A6F32467-E671-FC72-0F6E-92D17EEA27F9}"/>
              </a:ext>
            </a:extLst>
          </p:cNvPr>
          <p:cNvCxnSpPr/>
          <p:nvPr/>
        </p:nvCxnSpPr>
        <p:spPr>
          <a:xfrm>
            <a:off x="2423160" y="2724912"/>
            <a:ext cx="320040" cy="0"/>
          </a:xfrm>
          <a:prstGeom prst="line">
            <a:avLst/>
          </a:prstGeom>
          <a:ln w="27940">
            <a:solidFill>
              <a:srgbClr val="96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1">
            <a:extLst>
              <a:ext uri="{FF2B5EF4-FFF2-40B4-BE49-F238E27FC236}">
                <a16:creationId xmlns:a16="http://schemas.microsoft.com/office/drawing/2014/main" id="{AE6B6A37-5164-B1DE-5F9F-76EEADAF64E0}"/>
              </a:ext>
            </a:extLst>
          </p:cNvPr>
          <p:cNvCxnSpPr/>
          <p:nvPr/>
        </p:nvCxnSpPr>
        <p:spPr>
          <a:xfrm>
            <a:off x="4709160" y="2724912"/>
            <a:ext cx="320040" cy="0"/>
          </a:xfrm>
          <a:prstGeom prst="line">
            <a:avLst/>
          </a:prstGeom>
          <a:ln w="27940">
            <a:solidFill>
              <a:srgbClr val="96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22">
            <a:extLst>
              <a:ext uri="{FF2B5EF4-FFF2-40B4-BE49-F238E27FC236}">
                <a16:creationId xmlns:a16="http://schemas.microsoft.com/office/drawing/2014/main" id="{736C61F1-9E87-FC61-58C4-3428E0BC1123}"/>
              </a:ext>
            </a:extLst>
          </p:cNvPr>
          <p:cNvCxnSpPr/>
          <p:nvPr/>
        </p:nvCxnSpPr>
        <p:spPr>
          <a:xfrm>
            <a:off x="6995160" y="2724912"/>
            <a:ext cx="320040" cy="0"/>
          </a:xfrm>
          <a:prstGeom prst="line">
            <a:avLst/>
          </a:prstGeom>
          <a:ln w="27940">
            <a:solidFill>
              <a:srgbClr val="96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23">
            <a:extLst>
              <a:ext uri="{FF2B5EF4-FFF2-40B4-BE49-F238E27FC236}">
                <a16:creationId xmlns:a16="http://schemas.microsoft.com/office/drawing/2014/main" id="{FFA4F46E-30B8-8755-993D-66792740677D}"/>
              </a:ext>
            </a:extLst>
          </p:cNvPr>
          <p:cNvCxnSpPr/>
          <p:nvPr/>
        </p:nvCxnSpPr>
        <p:spPr>
          <a:xfrm>
            <a:off x="9281160" y="2724912"/>
            <a:ext cx="320040" cy="0"/>
          </a:xfrm>
          <a:prstGeom prst="line">
            <a:avLst/>
          </a:prstGeom>
          <a:ln w="27940">
            <a:solidFill>
              <a:srgbClr val="96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24">
            <a:extLst>
              <a:ext uri="{FF2B5EF4-FFF2-40B4-BE49-F238E27FC236}">
                <a16:creationId xmlns:a16="http://schemas.microsoft.com/office/drawing/2014/main" id="{598F9AD3-7920-F3A9-F232-004EFB5F979B}"/>
              </a:ext>
            </a:extLst>
          </p:cNvPr>
          <p:cNvSpPr/>
          <p:nvPr/>
        </p:nvSpPr>
        <p:spPr>
          <a:xfrm>
            <a:off x="3977639" y="4251960"/>
            <a:ext cx="2560320" cy="1005840"/>
          </a:xfrm>
          <a:prstGeom prst="roundRect">
            <a:avLst/>
          </a:prstGeom>
          <a:solidFill>
            <a:srgbClr val="37222D"/>
          </a:solidFill>
          <a:ln w="19050">
            <a:solidFill>
              <a:srgbClr val="CD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A53FC7-6306-2450-901E-2240B1300C71}"/>
              </a:ext>
            </a:extLst>
          </p:cNvPr>
          <p:cNvSpPr txBox="1"/>
          <p:nvPr/>
        </p:nvSpPr>
        <p:spPr>
          <a:xfrm>
            <a:off x="4050791" y="4361688"/>
            <a:ext cx="24140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EXCEPTION SUBPROCESS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DB949D-5173-FDFD-57EC-A6084E5D900B}"/>
              </a:ext>
            </a:extLst>
          </p:cNvPr>
          <p:cNvSpPr txBox="1"/>
          <p:nvPr/>
        </p:nvSpPr>
        <p:spPr>
          <a:xfrm>
            <a:off x="4050791" y="4745736"/>
            <a:ext cx="241401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t>Error → Content Modifier → Mail</a:t>
            </a:r>
          </a:p>
        </p:txBody>
      </p:sp>
      <p:cxnSp>
        <p:nvCxnSpPr>
          <p:cNvPr id="78" name="Connector 27">
            <a:extLst>
              <a:ext uri="{FF2B5EF4-FFF2-40B4-BE49-F238E27FC236}">
                <a16:creationId xmlns:a16="http://schemas.microsoft.com/office/drawing/2014/main" id="{4703666F-72F2-B1C9-6010-A05BB55F0DD2}"/>
              </a:ext>
            </a:extLst>
          </p:cNvPr>
          <p:cNvCxnSpPr/>
          <p:nvPr/>
        </p:nvCxnSpPr>
        <p:spPr>
          <a:xfrm flipH="1">
            <a:off x="5257800" y="3337560"/>
            <a:ext cx="777240" cy="868680"/>
          </a:xfrm>
          <a:prstGeom prst="line">
            <a:avLst/>
          </a:prstGeom>
          <a:ln w="27940">
            <a:solidFill>
              <a:srgbClr val="CD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28">
            <a:extLst>
              <a:ext uri="{FF2B5EF4-FFF2-40B4-BE49-F238E27FC236}">
                <a16:creationId xmlns:a16="http://schemas.microsoft.com/office/drawing/2014/main" id="{B5A31E84-8DC3-B6A2-0A5B-995FFED47384}"/>
              </a:ext>
            </a:extLst>
          </p:cNvPr>
          <p:cNvSpPr/>
          <p:nvPr/>
        </p:nvSpPr>
        <p:spPr>
          <a:xfrm>
            <a:off x="640080" y="5715000"/>
            <a:ext cx="10789920" cy="502920"/>
          </a:xfrm>
          <a:prstGeom prst="roundRect">
            <a:avLst/>
          </a:prstGeom>
          <a:solidFill>
            <a:srgbClr val="14304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B3C176B-B49E-85DF-85BD-01749E3CC87A}"/>
              </a:ext>
            </a:extLst>
          </p:cNvPr>
          <p:cNvSpPr/>
          <p:nvPr/>
        </p:nvSpPr>
        <p:spPr>
          <a:xfrm>
            <a:off x="640080" y="5715000"/>
            <a:ext cx="64008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572FEEF-72A5-7647-FC7C-8BF5062262AC}"/>
              </a:ext>
            </a:extLst>
          </p:cNvPr>
          <p:cNvSpPr txBox="1"/>
          <p:nvPr/>
        </p:nvSpPr>
        <p:spPr>
          <a:xfrm>
            <a:off x="841247" y="5843016"/>
            <a:ext cx="135473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Control points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F189AB-4933-A181-BB89-865E30F5D52B}"/>
              </a:ext>
            </a:extLst>
          </p:cNvPr>
          <p:cNvSpPr txBox="1"/>
          <p:nvPr/>
        </p:nvSpPr>
        <p:spPr>
          <a:xfrm>
            <a:off x="841247" y="6245352"/>
            <a:ext cx="1042416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Credentials • filtering • schema validation • mapping • exception notification • monitoring</a:t>
            </a:r>
          </a:p>
        </p:txBody>
      </p:sp>
    </p:spTree>
    <p:extLst>
      <p:ext uri="{BB962C8B-B14F-4D97-AF65-F5344CB8AC3E}">
        <p14:creationId xmlns:p14="http://schemas.microsoft.com/office/powerpoint/2010/main" val="141579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07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281CEE-8107-EB02-75A1-B7CB9CE56820}"/>
              </a:ext>
            </a:extLst>
          </p:cNvPr>
          <p:cNvSpPr txBox="1"/>
          <p:nvPr/>
        </p:nvSpPr>
        <p:spPr>
          <a:xfrm>
            <a:off x="777240" y="5059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rPr dirty="0"/>
              <a:t>SuccessFactors Configuration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8D580-4D0E-1023-ED77-E98822A5F2B0}"/>
              </a:ext>
            </a:extLst>
          </p:cNvPr>
          <p:cNvSpPr/>
          <p:nvPr/>
        </p:nvSpPr>
        <p:spPr>
          <a:xfrm>
            <a:off x="777240" y="114604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475642-2F02-B4CB-F9CE-DDD4BD61C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38372"/>
              </p:ext>
            </p:extLst>
          </p:nvPr>
        </p:nvGraphicFramePr>
        <p:xfrm>
          <a:off x="822960" y="1539240"/>
          <a:ext cx="10881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6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 / action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Adapter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OData V2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Read employee data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Credential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SFCred_Laxmi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Training credential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Entity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User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Employee source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Fields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userId, firstName, lastName, country, city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Mapping inputs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Filter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userId eq 'rharrison' or userId eq 'szhou'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Assessment scope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$select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userId,firstName,lastName,country,city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dirty="0"/>
                        <a:t>Reduce payload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BBC27FB3-6817-9F65-4855-76F8CD0880EE}"/>
              </a:ext>
            </a:extLst>
          </p:cNvPr>
          <p:cNvSpPr/>
          <p:nvPr/>
        </p:nvSpPr>
        <p:spPr>
          <a:xfrm>
            <a:off x="914400" y="4831080"/>
            <a:ext cx="521208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4BDA12-FFC3-D827-6523-976949011D23}"/>
              </a:ext>
            </a:extLst>
          </p:cNvPr>
          <p:cNvSpPr/>
          <p:nvPr/>
        </p:nvSpPr>
        <p:spPr>
          <a:xfrm>
            <a:off x="914400" y="4831080"/>
            <a:ext cx="64008" cy="114300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3CBA6-2541-D921-AE51-4AEFFD33F43F}"/>
              </a:ext>
            </a:extLst>
          </p:cNvPr>
          <p:cNvSpPr txBox="1"/>
          <p:nvPr/>
        </p:nvSpPr>
        <p:spPr>
          <a:xfrm>
            <a:off x="1115568" y="495909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Important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E19523-C25D-52CD-F225-C5D4E8D24931}"/>
              </a:ext>
            </a:extLst>
          </p:cNvPr>
          <p:cNvSpPr txBox="1"/>
          <p:nvPr/>
        </p:nvSpPr>
        <p:spPr>
          <a:xfrm>
            <a:off x="1115568" y="5361432"/>
            <a:ext cx="4892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Use the training SuccessFactors connection; do not invent or replace the tenant URL.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F931DE39-AEED-7193-6D3E-671A509C3EE2}"/>
              </a:ext>
            </a:extLst>
          </p:cNvPr>
          <p:cNvSpPr/>
          <p:nvPr/>
        </p:nvSpPr>
        <p:spPr>
          <a:xfrm>
            <a:off x="6400800" y="4831080"/>
            <a:ext cx="5212080" cy="1143000"/>
          </a:xfrm>
          <a:prstGeom prst="roundRect">
            <a:avLst/>
          </a:prstGeom>
          <a:solidFill>
            <a:srgbClr val="E5F2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DB79D9-B203-DB8A-0716-B1F98604DBA4}"/>
              </a:ext>
            </a:extLst>
          </p:cNvPr>
          <p:cNvSpPr/>
          <p:nvPr/>
        </p:nvSpPr>
        <p:spPr>
          <a:xfrm>
            <a:off x="6400800" y="4831080"/>
            <a:ext cx="64008" cy="1143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D95DEC-C2BC-E0B1-9FCF-2E0AB8A26E4A}"/>
              </a:ext>
            </a:extLst>
          </p:cNvPr>
          <p:cNvSpPr txBox="1"/>
          <p:nvPr/>
        </p:nvSpPr>
        <p:spPr>
          <a:xfrm>
            <a:off x="6601968" y="495909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Validate first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C39C6E-F0C3-E10D-36F6-96E417053949}"/>
              </a:ext>
            </a:extLst>
          </p:cNvPr>
          <p:cNvSpPr txBox="1"/>
          <p:nvPr/>
        </p:nvSpPr>
        <p:spPr>
          <a:xfrm>
            <a:off x="6601968" y="5361432"/>
            <a:ext cx="484632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Capture the actual OData response in Trace before finalizing the mapping.</a:t>
            </a:r>
          </a:p>
        </p:txBody>
      </p:sp>
    </p:spTree>
    <p:extLst>
      <p:ext uri="{BB962C8B-B14F-4D97-AF65-F5344CB8AC3E}">
        <p14:creationId xmlns:p14="http://schemas.microsoft.com/office/powerpoint/2010/main" val="420749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9E9B28-E113-3914-D37E-4466E272C326}"/>
              </a:ext>
            </a:extLst>
          </p:cNvPr>
          <p:cNvSpPr txBox="1"/>
          <p:nvPr/>
        </p:nvSpPr>
        <p:spPr>
          <a:xfrm>
            <a:off x="746760" y="472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Message Mapping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557AD-40EB-40B8-698D-21FEDEE65B76}"/>
              </a:ext>
            </a:extLst>
          </p:cNvPr>
          <p:cNvSpPr/>
          <p:nvPr/>
        </p:nvSpPr>
        <p:spPr>
          <a:xfrm>
            <a:off x="746760" y="103936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F9E58-BE94-A187-9F49-7C1E99556FC6}"/>
              </a:ext>
            </a:extLst>
          </p:cNvPr>
          <p:cNvSpPr txBox="1"/>
          <p:nvPr/>
        </p:nvSpPr>
        <p:spPr>
          <a:xfrm>
            <a:off x="11170920" y="65074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08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D09A50-F71B-E0B7-8A11-5D91EAC5D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66089"/>
              </p:ext>
            </p:extLst>
          </p:nvPr>
        </p:nvGraphicFramePr>
        <p:xfrm>
          <a:off x="792480" y="1478280"/>
          <a:ext cx="10881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Logic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Mandt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Constant = 500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Participantid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firstName + lastName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Concatenate with one space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Sfempname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firstName + lastName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Concatenate with one space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Direct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Direct; uppercase only if target requires it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E026059-0256-AE5B-D8AD-FA53D613A1F7}"/>
              </a:ext>
            </a:extLst>
          </p:cNvPr>
          <p:cNvSpPr/>
          <p:nvPr/>
        </p:nvSpPr>
        <p:spPr>
          <a:xfrm>
            <a:off x="883920" y="4815840"/>
            <a:ext cx="3337560" cy="960120"/>
          </a:xfrm>
          <a:prstGeom prst="roundRect">
            <a:avLst/>
          </a:prstGeom>
          <a:solidFill>
            <a:srgbClr val="E5F2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57574F-33FC-BEA3-7ED7-860214C8F631}"/>
              </a:ext>
            </a:extLst>
          </p:cNvPr>
          <p:cNvSpPr/>
          <p:nvPr/>
        </p:nvSpPr>
        <p:spPr>
          <a:xfrm>
            <a:off x="883920" y="4815840"/>
            <a:ext cx="64008" cy="960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F898A-1D11-5FB6-87DC-57FB2DCF8A9D}"/>
              </a:ext>
            </a:extLst>
          </p:cNvPr>
          <p:cNvSpPr txBox="1"/>
          <p:nvPr/>
        </p:nvSpPr>
        <p:spPr>
          <a:xfrm>
            <a:off x="1085088" y="494385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Mandt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F7643C-6E71-ED7F-EFBD-A9C0C3CDAAC4}"/>
              </a:ext>
            </a:extLst>
          </p:cNvPr>
          <p:cNvSpPr txBox="1"/>
          <p:nvPr/>
        </p:nvSpPr>
        <p:spPr>
          <a:xfrm>
            <a:off x="1085088" y="5346192"/>
            <a:ext cx="2971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C95E2467-257E-7397-F684-08449110FD51}"/>
              </a:ext>
            </a:extLst>
          </p:cNvPr>
          <p:cNvSpPr/>
          <p:nvPr/>
        </p:nvSpPr>
        <p:spPr>
          <a:xfrm>
            <a:off x="4495800" y="4815840"/>
            <a:ext cx="3337560" cy="96012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1E567-42CC-2BB0-3EB2-D2FDC5D1B127}"/>
              </a:ext>
            </a:extLst>
          </p:cNvPr>
          <p:cNvSpPr/>
          <p:nvPr/>
        </p:nvSpPr>
        <p:spPr>
          <a:xfrm>
            <a:off x="4495800" y="4815840"/>
            <a:ext cx="64008" cy="960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7AED1-69EE-0108-CAFC-83ABEA817BDD}"/>
              </a:ext>
            </a:extLst>
          </p:cNvPr>
          <p:cNvSpPr txBox="1"/>
          <p:nvPr/>
        </p:nvSpPr>
        <p:spPr>
          <a:xfrm>
            <a:off x="4696968" y="494385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Names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6A39E8-804C-9495-9CB1-171BBF144638}"/>
              </a:ext>
            </a:extLst>
          </p:cNvPr>
          <p:cNvSpPr txBox="1"/>
          <p:nvPr/>
        </p:nvSpPr>
        <p:spPr>
          <a:xfrm>
            <a:off x="4696968" y="5346192"/>
            <a:ext cx="2971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firstName + ' ' + lastName</a:t>
            </a: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854A5C88-2F45-8B67-FCDE-5906B9EC47FB}"/>
              </a:ext>
            </a:extLst>
          </p:cNvPr>
          <p:cNvSpPr/>
          <p:nvPr/>
        </p:nvSpPr>
        <p:spPr>
          <a:xfrm>
            <a:off x="8107679" y="4815840"/>
            <a:ext cx="3337560" cy="96012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A61C46-5447-9650-E5D2-9922D0E0CDA4}"/>
              </a:ext>
            </a:extLst>
          </p:cNvPr>
          <p:cNvSpPr/>
          <p:nvPr/>
        </p:nvSpPr>
        <p:spPr>
          <a:xfrm>
            <a:off x="8107679" y="4815840"/>
            <a:ext cx="64008" cy="96012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CAED44-9D0A-4CE6-3ABF-A2CD5ECB5AC6}"/>
              </a:ext>
            </a:extLst>
          </p:cNvPr>
          <p:cNvSpPr txBox="1"/>
          <p:nvPr/>
        </p:nvSpPr>
        <p:spPr>
          <a:xfrm>
            <a:off x="8308848" y="494385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Location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15F70C-598B-E33C-04AC-10FFA492BFA6}"/>
              </a:ext>
            </a:extLst>
          </p:cNvPr>
          <p:cNvSpPr txBox="1"/>
          <p:nvPr/>
        </p:nvSpPr>
        <p:spPr>
          <a:xfrm>
            <a:off x="8308848" y="5346192"/>
            <a:ext cx="2971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City + Country direct</a:t>
            </a:r>
          </a:p>
        </p:txBody>
      </p:sp>
    </p:spTree>
    <p:extLst>
      <p:ext uri="{BB962C8B-B14F-4D97-AF65-F5344CB8AC3E}">
        <p14:creationId xmlns:p14="http://schemas.microsoft.com/office/powerpoint/2010/main" val="3187573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7D73A644-89B4-6AD0-2211-AF4DBC4461FA}"/>
              </a:ext>
            </a:extLst>
          </p:cNvPr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S/4HANA Configuration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D42230-3FF5-9748-FAA0-EC24C185D24F}"/>
              </a:ext>
            </a:extLst>
          </p:cNvPr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740FA0-0840-16B8-41F6-A85D7B0A3621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09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75D2124-25F9-C429-6220-8FD64D52AF5E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32588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Adapter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OData V2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Proxy Type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On Premise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Location ID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Training L4C location / configured value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Authentication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Basic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Credential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L4C_Cred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Resource Path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EmpdetailsSet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Operation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Create / POST — confirm from service metadata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" name="Rounded Rectangle 6">
            <a:extLst>
              <a:ext uri="{FF2B5EF4-FFF2-40B4-BE49-F238E27FC236}">
                <a16:creationId xmlns:a16="http://schemas.microsoft.com/office/drawing/2014/main" id="{6ABC7FEE-C0A9-CB77-F31F-AEB1C121DE09}"/>
              </a:ext>
            </a:extLst>
          </p:cNvPr>
          <p:cNvSpPr/>
          <p:nvPr/>
        </p:nvSpPr>
        <p:spPr>
          <a:xfrm>
            <a:off x="731520" y="4160520"/>
            <a:ext cx="5120640" cy="123444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AC472B-B1AC-1886-0577-8AC56F83E47A}"/>
              </a:ext>
            </a:extLst>
          </p:cNvPr>
          <p:cNvSpPr/>
          <p:nvPr/>
        </p:nvSpPr>
        <p:spPr>
          <a:xfrm>
            <a:off x="731520" y="4160520"/>
            <a:ext cx="64008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9E596C-2CAE-964F-86CE-7CD6CA0A1E80}"/>
              </a:ext>
            </a:extLst>
          </p:cNvPr>
          <p:cNvSpPr txBox="1"/>
          <p:nvPr/>
        </p:nvSpPr>
        <p:spPr>
          <a:xfrm>
            <a:off x="932688" y="4288536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Service base URL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CC559E-28CF-9FBB-E202-C0DC3AA9AB33}"/>
              </a:ext>
            </a:extLst>
          </p:cNvPr>
          <p:cNvSpPr txBox="1"/>
          <p:nvPr/>
        </p:nvSpPr>
        <p:spPr>
          <a:xfrm>
            <a:off x="932688" y="4690872"/>
            <a:ext cx="40812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http://awslkm0133.training.accenture.com:8000/sap/opu/odata/sap/ZEMPDET_SRV_SRV/</a:t>
            </a:r>
          </a:p>
        </p:txBody>
      </p:sp>
      <p:sp>
        <p:nvSpPr>
          <p:cNvPr id="53" name="Rounded Rectangle 10">
            <a:extLst>
              <a:ext uri="{FF2B5EF4-FFF2-40B4-BE49-F238E27FC236}">
                <a16:creationId xmlns:a16="http://schemas.microsoft.com/office/drawing/2014/main" id="{0233253A-2CF8-AA52-54F6-25297C1DB263}"/>
              </a:ext>
            </a:extLst>
          </p:cNvPr>
          <p:cNvSpPr/>
          <p:nvPr/>
        </p:nvSpPr>
        <p:spPr>
          <a:xfrm>
            <a:off x="6126480" y="4160520"/>
            <a:ext cx="5120640" cy="1234440"/>
          </a:xfrm>
          <a:prstGeom prst="roundRect">
            <a:avLst/>
          </a:prstGeom>
          <a:solidFill>
            <a:srgbClr val="E5F2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39C740-8D5F-5FE9-B0F9-F47AB6F127F9}"/>
              </a:ext>
            </a:extLst>
          </p:cNvPr>
          <p:cNvSpPr/>
          <p:nvPr/>
        </p:nvSpPr>
        <p:spPr>
          <a:xfrm>
            <a:off x="6126480" y="4160520"/>
            <a:ext cx="64008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DE66C6-768B-5203-CD12-87955D0B81BF}"/>
              </a:ext>
            </a:extLst>
          </p:cNvPr>
          <p:cNvSpPr txBox="1"/>
          <p:nvPr/>
        </p:nvSpPr>
        <p:spPr>
          <a:xfrm>
            <a:off x="6327648" y="4288536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Target fields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423B42-047C-ECC2-3D22-20C775F7F2DB}"/>
              </a:ext>
            </a:extLst>
          </p:cNvPr>
          <p:cNvSpPr txBox="1"/>
          <p:nvPr/>
        </p:nvSpPr>
        <p:spPr>
          <a:xfrm>
            <a:off x="6327648" y="4690872"/>
            <a:ext cx="4754879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Mandt • Participantid • Sfempname • City • Country</a:t>
            </a:r>
          </a:p>
        </p:txBody>
      </p:sp>
      <p:sp>
        <p:nvSpPr>
          <p:cNvPr id="61" name="Rounded Rectangle 14">
            <a:extLst>
              <a:ext uri="{FF2B5EF4-FFF2-40B4-BE49-F238E27FC236}">
                <a16:creationId xmlns:a16="http://schemas.microsoft.com/office/drawing/2014/main" id="{5EA8353B-5C5E-92CB-C3DE-B094FD5B2CFB}"/>
              </a:ext>
            </a:extLst>
          </p:cNvPr>
          <p:cNvSpPr/>
          <p:nvPr/>
        </p:nvSpPr>
        <p:spPr>
          <a:xfrm>
            <a:off x="731520" y="5623560"/>
            <a:ext cx="10515600" cy="50292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7AD20EA-0EAA-1B4F-B9AF-D891D224DF2D}"/>
              </a:ext>
            </a:extLst>
          </p:cNvPr>
          <p:cNvSpPr/>
          <p:nvPr/>
        </p:nvSpPr>
        <p:spPr>
          <a:xfrm>
            <a:off x="731520" y="5623560"/>
            <a:ext cx="64008" cy="50292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647776-D0FF-D1DD-8884-AFDCD99DDC22}"/>
              </a:ext>
            </a:extLst>
          </p:cNvPr>
          <p:cNvSpPr txBox="1"/>
          <p:nvPr/>
        </p:nvSpPr>
        <p:spPr>
          <a:xfrm>
            <a:off x="932688" y="5751576"/>
            <a:ext cx="10195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0EDA68-ECCD-5559-08DD-A1B87D249CDA}"/>
              </a:ext>
            </a:extLst>
          </p:cNvPr>
          <p:cNvSpPr txBox="1"/>
          <p:nvPr/>
        </p:nvSpPr>
        <p:spPr>
          <a:xfrm>
            <a:off x="932688" y="6153912"/>
            <a:ext cx="101498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Use the adapter's entity/operation selector and service metadata to confirm the exact write operation.</a:t>
            </a:r>
          </a:p>
        </p:txBody>
      </p:sp>
    </p:spTree>
    <p:extLst>
      <p:ext uri="{BB962C8B-B14F-4D97-AF65-F5344CB8AC3E}">
        <p14:creationId xmlns:p14="http://schemas.microsoft.com/office/powerpoint/2010/main" val="51490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49059-D20A-9272-15AC-55FCA48B779E}"/>
              </a:ext>
            </a:extLst>
          </p:cNvPr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Exception Handling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8C2D0-E078-C744-FB8A-6518B88D3EA7}"/>
              </a:ext>
            </a:extLst>
          </p:cNvPr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B37A0-4363-1891-45F2-037FA7D550D4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81442E3-7B4B-FACB-1532-5F7E7A7B22D2}"/>
              </a:ext>
            </a:extLst>
          </p:cNvPr>
          <p:cNvSpPr/>
          <p:nvPr/>
        </p:nvSpPr>
        <p:spPr>
          <a:xfrm>
            <a:off x="731520" y="1828800"/>
            <a:ext cx="2011680" cy="1005840"/>
          </a:xfrm>
          <a:prstGeom prst="roundRect">
            <a:avLst/>
          </a:prstGeom>
          <a:solidFill>
            <a:srgbClr val="FCEBEB"/>
          </a:solidFill>
          <a:ln w="19050">
            <a:solidFill>
              <a:srgbClr val="CD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5B67A-8883-4261-6EDF-3AD480F5855F}"/>
              </a:ext>
            </a:extLst>
          </p:cNvPr>
          <p:cNvSpPr txBox="1"/>
          <p:nvPr/>
        </p:nvSpPr>
        <p:spPr>
          <a:xfrm>
            <a:off x="1149090" y="1938528"/>
            <a:ext cx="117654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chemeClr val="accent6">
                    <a:lumMod val="50000"/>
                  </a:schemeClr>
                </a:solidFill>
              </a:rPr>
              <a:t>ERROR 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5E40-AAB5-36F6-AC27-05706C3A4045}"/>
              </a:ext>
            </a:extLst>
          </p:cNvPr>
          <p:cNvSpPr txBox="1"/>
          <p:nvPr/>
        </p:nvSpPr>
        <p:spPr>
          <a:xfrm>
            <a:off x="1275535" y="2322576"/>
            <a:ext cx="923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Any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iFlow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error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D31ACE74-5220-83C2-FAFC-F76E3A20B5D2}"/>
              </a:ext>
            </a:extLst>
          </p:cNvPr>
          <p:cNvSpPr/>
          <p:nvPr/>
        </p:nvSpPr>
        <p:spPr>
          <a:xfrm>
            <a:off x="3063240" y="1828800"/>
            <a:ext cx="2011680" cy="1005840"/>
          </a:xfrm>
          <a:prstGeom prst="roundRect">
            <a:avLst/>
          </a:prstGeom>
          <a:solidFill>
            <a:srgbClr val="FDF2E2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79BB3-08E7-9975-C67D-8781AA6ECC5A}"/>
              </a:ext>
            </a:extLst>
          </p:cNvPr>
          <p:cNvSpPr txBox="1"/>
          <p:nvPr/>
        </p:nvSpPr>
        <p:spPr>
          <a:xfrm>
            <a:off x="3236576" y="1938528"/>
            <a:ext cx="16650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CONTENT MODIFIER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2F0CC-A776-5E22-C6DD-B2CE122CD4EC}"/>
              </a:ext>
            </a:extLst>
          </p:cNvPr>
          <p:cNvSpPr txBox="1"/>
          <p:nvPr/>
        </p:nvSpPr>
        <p:spPr>
          <a:xfrm>
            <a:off x="3558363" y="2322576"/>
            <a:ext cx="10214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Subject + body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 error details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8577F71A-3218-EEF7-9869-B3585EF9DBE7}"/>
              </a:ext>
            </a:extLst>
          </p:cNvPr>
          <p:cNvSpPr/>
          <p:nvPr/>
        </p:nvSpPr>
        <p:spPr>
          <a:xfrm>
            <a:off x="5577840" y="1828800"/>
            <a:ext cx="2011680" cy="1005840"/>
          </a:xfrm>
          <a:prstGeom prst="roundRect">
            <a:avLst/>
          </a:prstGeom>
          <a:solidFill>
            <a:srgbClr val="E5F2FB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CFD2C-031C-89A1-6D00-00B0A8FEF65D}"/>
              </a:ext>
            </a:extLst>
          </p:cNvPr>
          <p:cNvSpPr txBox="1"/>
          <p:nvPr/>
        </p:nvSpPr>
        <p:spPr>
          <a:xfrm>
            <a:off x="5953571" y="1938528"/>
            <a:ext cx="126021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MAIL ADAPTER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DC7F3-DF83-D03C-F5E0-7455E6C5C783}"/>
              </a:ext>
            </a:extLst>
          </p:cNvPr>
          <p:cNvSpPr txBox="1"/>
          <p:nvPr/>
        </p:nvSpPr>
        <p:spPr>
          <a:xfrm>
            <a:off x="6159525" y="2322576"/>
            <a:ext cx="8483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Gmail / SMTP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BF9F3E1D-6219-AE14-FDCB-5B4F3648A17D}"/>
              </a:ext>
            </a:extLst>
          </p:cNvPr>
          <p:cNvSpPr/>
          <p:nvPr/>
        </p:nvSpPr>
        <p:spPr>
          <a:xfrm>
            <a:off x="8092440" y="1828800"/>
            <a:ext cx="2011680" cy="100584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7A0501-E5CB-6B4B-D7CE-EB597193FC54}"/>
              </a:ext>
            </a:extLst>
          </p:cNvPr>
          <p:cNvSpPr txBox="1"/>
          <p:nvPr/>
        </p:nvSpPr>
        <p:spPr>
          <a:xfrm>
            <a:off x="8396261" y="1938528"/>
            <a:ext cx="140403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ADMINISTRATOR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D50C7-95A8-A30F-489F-1A81145B33E3}"/>
              </a:ext>
            </a:extLst>
          </p:cNvPr>
          <p:cNvSpPr txBox="1"/>
          <p:nvPr/>
        </p:nvSpPr>
        <p:spPr>
          <a:xfrm>
            <a:off x="8708589" y="2322576"/>
            <a:ext cx="7793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Failure alert</a:t>
            </a:r>
          </a:p>
        </p:txBody>
      </p:sp>
      <p:cxnSp>
        <p:nvCxnSpPr>
          <p:cNvPr id="19" name="Connector 17">
            <a:extLst>
              <a:ext uri="{FF2B5EF4-FFF2-40B4-BE49-F238E27FC236}">
                <a16:creationId xmlns:a16="http://schemas.microsoft.com/office/drawing/2014/main" id="{3B69C5B5-F012-8320-46E1-D76027CDF013}"/>
              </a:ext>
            </a:extLst>
          </p:cNvPr>
          <p:cNvCxnSpPr/>
          <p:nvPr/>
        </p:nvCxnSpPr>
        <p:spPr>
          <a:xfrm>
            <a:off x="2697480" y="2331720"/>
            <a:ext cx="301752" cy="0"/>
          </a:xfrm>
          <a:prstGeom prst="line">
            <a:avLst/>
          </a:prstGeom>
          <a:ln w="27940">
            <a:solidFill>
              <a:srgbClr val="CD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8">
            <a:extLst>
              <a:ext uri="{FF2B5EF4-FFF2-40B4-BE49-F238E27FC236}">
                <a16:creationId xmlns:a16="http://schemas.microsoft.com/office/drawing/2014/main" id="{5A1B2A0D-5495-ECC7-E40E-79E1C2596DEF}"/>
              </a:ext>
            </a:extLst>
          </p:cNvPr>
          <p:cNvCxnSpPr/>
          <p:nvPr/>
        </p:nvCxnSpPr>
        <p:spPr>
          <a:xfrm>
            <a:off x="5102352" y="2331720"/>
            <a:ext cx="411480" cy="0"/>
          </a:xfrm>
          <a:prstGeom prst="line">
            <a:avLst/>
          </a:prstGeom>
          <a:ln w="27940">
            <a:solidFill>
              <a:srgbClr val="EF8F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9">
            <a:extLst>
              <a:ext uri="{FF2B5EF4-FFF2-40B4-BE49-F238E27FC236}">
                <a16:creationId xmlns:a16="http://schemas.microsoft.com/office/drawing/2014/main" id="{7B6D4B3F-15D4-EC62-6576-84B8C82606D1}"/>
              </a:ext>
            </a:extLst>
          </p:cNvPr>
          <p:cNvCxnSpPr/>
          <p:nvPr/>
        </p:nvCxnSpPr>
        <p:spPr>
          <a:xfrm>
            <a:off x="7616952" y="2331720"/>
            <a:ext cx="411479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AC6B4FB5-20EA-C97D-2EB1-9A39C08254D2}"/>
              </a:ext>
            </a:extLst>
          </p:cNvPr>
          <p:cNvSpPr/>
          <p:nvPr/>
        </p:nvSpPr>
        <p:spPr>
          <a:xfrm>
            <a:off x="731520" y="3703320"/>
            <a:ext cx="3246120" cy="1280160"/>
          </a:xfrm>
          <a:prstGeom prst="roundRect">
            <a:avLst/>
          </a:prstGeom>
          <a:solidFill>
            <a:srgbClr val="FCEBE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1D43C6-E6F0-EE11-6F75-72496A4C1BFF}"/>
              </a:ext>
            </a:extLst>
          </p:cNvPr>
          <p:cNvSpPr/>
          <p:nvPr/>
        </p:nvSpPr>
        <p:spPr>
          <a:xfrm>
            <a:off x="731520" y="3703320"/>
            <a:ext cx="64008" cy="128016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A25C0-E1C1-392D-ED35-D8AF31DB5DBE}"/>
              </a:ext>
            </a:extLst>
          </p:cNvPr>
          <p:cNvSpPr txBox="1"/>
          <p:nvPr/>
        </p:nvSpPr>
        <p:spPr>
          <a:xfrm>
            <a:off x="932688" y="3831335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Subject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3C762F-C951-EC8D-550A-E2B38F85E352}"/>
              </a:ext>
            </a:extLst>
          </p:cNvPr>
          <p:cNvSpPr txBox="1"/>
          <p:nvPr/>
        </p:nvSpPr>
        <p:spPr>
          <a:xfrm>
            <a:off x="932688" y="4233672"/>
            <a:ext cx="28803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Employee Sync FAILED</a:t>
            </a: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A654423B-0AFE-BF77-4F89-477DA0C044B3}"/>
              </a:ext>
            </a:extLst>
          </p:cNvPr>
          <p:cNvSpPr/>
          <p:nvPr/>
        </p:nvSpPr>
        <p:spPr>
          <a:xfrm>
            <a:off x="4343400" y="3703320"/>
            <a:ext cx="3246120" cy="128016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CC6DD0-6058-BF93-D008-717E77E097D9}"/>
              </a:ext>
            </a:extLst>
          </p:cNvPr>
          <p:cNvSpPr/>
          <p:nvPr/>
        </p:nvSpPr>
        <p:spPr>
          <a:xfrm>
            <a:off x="4343400" y="3703320"/>
            <a:ext cx="64008" cy="128016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700DB-9A57-B969-F579-6D1419DA12A2}"/>
              </a:ext>
            </a:extLst>
          </p:cNvPr>
          <p:cNvSpPr txBox="1"/>
          <p:nvPr/>
        </p:nvSpPr>
        <p:spPr>
          <a:xfrm>
            <a:off x="4544568" y="3831335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Body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6A8717-3FB2-36DC-E313-6CA64B2187D4}"/>
              </a:ext>
            </a:extLst>
          </p:cNvPr>
          <p:cNvSpPr txBox="1"/>
          <p:nvPr/>
        </p:nvSpPr>
        <p:spPr>
          <a:xfrm>
            <a:off x="4544568" y="4233672"/>
            <a:ext cx="28803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Include exception message, flow name and timestamp.</a:t>
            </a: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2A9DCC93-AE95-FD1E-7E1A-207EA06BA728}"/>
              </a:ext>
            </a:extLst>
          </p:cNvPr>
          <p:cNvSpPr/>
          <p:nvPr/>
        </p:nvSpPr>
        <p:spPr>
          <a:xfrm>
            <a:off x="7955279" y="3703320"/>
            <a:ext cx="3246120" cy="128016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6A3BFB-7187-6E43-7A58-2694DAC18B48}"/>
              </a:ext>
            </a:extLst>
          </p:cNvPr>
          <p:cNvSpPr/>
          <p:nvPr/>
        </p:nvSpPr>
        <p:spPr>
          <a:xfrm>
            <a:off x="7955279" y="3703320"/>
            <a:ext cx="64008" cy="1280160"/>
          </a:xfrm>
          <a:prstGeom prst="rect">
            <a:avLst/>
          </a:prstGeom>
          <a:solidFill>
            <a:srgbClr val="2B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1B4967-5E4A-4EDD-AC4F-E56BB31AB42E}"/>
              </a:ext>
            </a:extLst>
          </p:cNvPr>
          <p:cNvSpPr txBox="1"/>
          <p:nvPr/>
        </p:nvSpPr>
        <p:spPr>
          <a:xfrm>
            <a:off x="8156448" y="3831335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Result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A529-A783-7EC6-D102-D9BBF80BCD61}"/>
              </a:ext>
            </a:extLst>
          </p:cNvPr>
          <p:cNvSpPr txBox="1"/>
          <p:nvPr/>
        </p:nvSpPr>
        <p:spPr>
          <a:xfrm>
            <a:off x="8156448" y="4233672"/>
            <a:ext cx="28803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Administrator receives actionable diagnostics.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6C94E6-C3B3-40A4-B364-F53D8E6BA620}"/>
              </a:ext>
            </a:extLst>
          </p:cNvPr>
          <p:cNvSpPr txBox="1"/>
          <p:nvPr/>
        </p:nvSpPr>
        <p:spPr>
          <a:xfrm>
            <a:off x="86868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t>• Test a controlled failure before submission.</a:t>
            </a:r>
          </a:p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t>• Do not place passwords or credentials in message bodies or documents.</a:t>
            </a:r>
          </a:p>
        </p:txBody>
      </p:sp>
    </p:spTree>
    <p:extLst>
      <p:ext uri="{BB962C8B-B14F-4D97-AF65-F5344CB8AC3E}">
        <p14:creationId xmlns:p14="http://schemas.microsoft.com/office/powerpoint/2010/main" val="140220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9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CD418B-798E-0862-D26B-B6D0346269B9}"/>
              </a:ext>
            </a:extLst>
          </p:cNvPr>
          <p:cNvSpPr txBox="1"/>
          <p:nvPr/>
        </p:nvSpPr>
        <p:spPr>
          <a:xfrm>
            <a:off x="792480" y="5212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Expected CSV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3FFA3-0B97-2903-B27A-2BEA8FED2F73}"/>
              </a:ext>
            </a:extLst>
          </p:cNvPr>
          <p:cNvSpPr/>
          <p:nvPr/>
        </p:nvSpPr>
        <p:spPr>
          <a:xfrm>
            <a:off x="792480" y="11612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B4C18-F2B5-6D69-4589-2DBED41F2728}"/>
              </a:ext>
            </a:extLst>
          </p:cNvPr>
          <p:cNvSpPr txBox="1"/>
          <p:nvPr/>
        </p:nvSpPr>
        <p:spPr>
          <a:xfrm>
            <a:off x="11216640" y="66294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4C9036-CEA1-253A-FBC6-36C618D96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477794"/>
              </p:ext>
            </p:extLst>
          </p:nvPr>
        </p:nvGraphicFramePr>
        <p:xfrm>
          <a:off x="1021080" y="173736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Mandt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Participantid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 err="1"/>
                        <a:t>Sfempname</a:t>
                      </a:r>
                      <a:endParaRPr dirty="0"/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dirty="0"/>
                        <a:t>Robert Harrison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Robert Harrison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Dallas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lang="en-US" dirty="0"/>
                        <a:t>Vinod Mudavath</a:t>
                      </a:r>
                      <a:endParaRPr dirty="0"/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lang="en-US" dirty="0"/>
                        <a:t>Vinod Mudavath</a:t>
                      </a:r>
                      <a:endParaRPr dirty="0"/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lang="en-US" dirty="0"/>
                        <a:t>Hyderabad</a:t>
                      </a:r>
                      <a:endParaRPr dirty="0"/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lang="en-US" dirty="0"/>
                        <a:t>IND</a:t>
                      </a:r>
                      <a:endParaRPr dirty="0"/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6C4248FE-C18B-6865-CC4C-09D6865226B7}"/>
              </a:ext>
            </a:extLst>
          </p:cNvPr>
          <p:cNvSpPr/>
          <p:nvPr/>
        </p:nvSpPr>
        <p:spPr>
          <a:xfrm>
            <a:off x="1021080" y="4663440"/>
            <a:ext cx="4983480" cy="114300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85DAC-13DB-A018-7D0D-F2E88333A9DB}"/>
              </a:ext>
            </a:extLst>
          </p:cNvPr>
          <p:cNvSpPr/>
          <p:nvPr/>
        </p:nvSpPr>
        <p:spPr>
          <a:xfrm>
            <a:off x="1021080" y="4663440"/>
            <a:ext cx="64008" cy="114300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CFD0F-7077-3FFD-1E98-7C9E2491B6FA}"/>
              </a:ext>
            </a:extLst>
          </p:cNvPr>
          <p:cNvSpPr txBox="1"/>
          <p:nvPr/>
        </p:nvSpPr>
        <p:spPr>
          <a:xfrm>
            <a:off x="1222248" y="4791455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Naming convention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B42A91-114D-1A52-BD33-6A7AA9A57255}"/>
              </a:ext>
            </a:extLst>
          </p:cNvPr>
          <p:cNvSpPr txBox="1"/>
          <p:nvPr/>
        </p:nvSpPr>
        <p:spPr>
          <a:xfrm>
            <a:off x="1222248" y="5193792"/>
            <a:ext cx="461772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YourFirstNameYourLastName.csv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3D0E9010-E18D-BEBC-DA93-1849D03378CC}"/>
              </a:ext>
            </a:extLst>
          </p:cNvPr>
          <p:cNvSpPr/>
          <p:nvPr/>
        </p:nvSpPr>
        <p:spPr>
          <a:xfrm>
            <a:off x="6278880" y="4663440"/>
            <a:ext cx="498348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26AD08-772B-958F-A115-505D708ED7FF}"/>
              </a:ext>
            </a:extLst>
          </p:cNvPr>
          <p:cNvSpPr/>
          <p:nvPr/>
        </p:nvSpPr>
        <p:spPr>
          <a:xfrm>
            <a:off x="6278880" y="4663440"/>
            <a:ext cx="64008" cy="1143000"/>
          </a:xfrm>
          <a:prstGeom prst="rect">
            <a:avLst/>
          </a:prstGeom>
          <a:solidFill>
            <a:srgbClr val="2B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609D4D-EDF7-68EB-2210-6C64BA7E83DF}"/>
              </a:ext>
            </a:extLst>
          </p:cNvPr>
          <p:cNvSpPr txBox="1"/>
          <p:nvPr/>
        </p:nvSpPr>
        <p:spPr>
          <a:xfrm>
            <a:off x="6480048" y="4791455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Quality checks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99EB2E-541B-BB57-6078-F0EE6700A24B}"/>
              </a:ext>
            </a:extLst>
          </p:cNvPr>
          <p:cNvSpPr txBox="1"/>
          <p:nvPr/>
        </p:nvSpPr>
        <p:spPr>
          <a:xfrm>
            <a:off x="6480048" y="5193792"/>
            <a:ext cx="461772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Header order • required values • employee count • valid CSV</a:t>
            </a:r>
          </a:p>
        </p:txBody>
      </p:sp>
    </p:spTree>
    <p:extLst>
      <p:ext uri="{BB962C8B-B14F-4D97-AF65-F5344CB8AC3E}">
        <p14:creationId xmlns:p14="http://schemas.microsoft.com/office/powerpoint/2010/main" val="414963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440F25-3978-4B97-2AC4-E536866EED5D}"/>
              </a:ext>
            </a:extLst>
          </p:cNvPr>
          <p:cNvSpPr txBox="1"/>
          <p:nvPr/>
        </p:nvSpPr>
        <p:spPr>
          <a:xfrm>
            <a:off x="838200" y="41452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Testing 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D7822C-8A1F-8D3A-A1F9-C361EA49D35B}"/>
              </a:ext>
            </a:extLst>
          </p:cNvPr>
          <p:cNvSpPr/>
          <p:nvPr/>
        </p:nvSpPr>
        <p:spPr>
          <a:xfrm>
            <a:off x="838200" y="105460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44D33-ECD6-F9D0-55D8-7DB148E15B17}"/>
              </a:ext>
            </a:extLst>
          </p:cNvPr>
          <p:cNvSpPr txBox="1"/>
          <p:nvPr/>
        </p:nvSpPr>
        <p:spPr>
          <a:xfrm>
            <a:off x="11262360" y="65227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13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0FE214-1132-0BB0-85EA-88B30F994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304379"/>
              </p:ext>
            </p:extLst>
          </p:nvPr>
        </p:nvGraphicFramePr>
        <p:xfrm>
          <a:off x="838200" y="1402080"/>
          <a:ext cx="10972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TC01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Valid SuccessFactors users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rharrison and szhou are retrieved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TC02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Message Mapping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Mandt=500; names concatenated; City/Country mapped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TC03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S/4HANA POST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EmpdetailsSet accepts records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TC04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CSV generation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Required headers and rows produced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TC05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SFTP upload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Correctly named file appears in AEH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TC06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Forced failure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Exception subprocess executes; Gmail alert arrives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TC07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Monitoring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Message Monitor shows correct processing status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79F33BB3-9560-7AA3-8918-395E0095D5D8}"/>
              </a:ext>
            </a:extLst>
          </p:cNvPr>
          <p:cNvSpPr/>
          <p:nvPr/>
        </p:nvSpPr>
        <p:spPr>
          <a:xfrm>
            <a:off x="975360" y="5654040"/>
            <a:ext cx="10515600" cy="502920"/>
          </a:xfrm>
          <a:prstGeom prst="roundRect">
            <a:avLst/>
          </a:prstGeom>
          <a:solidFill>
            <a:srgbClr val="E5F2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C6688-0387-E0D5-8E53-1244C334FBE9}"/>
              </a:ext>
            </a:extLst>
          </p:cNvPr>
          <p:cNvSpPr/>
          <p:nvPr/>
        </p:nvSpPr>
        <p:spPr>
          <a:xfrm>
            <a:off x="975360" y="5654040"/>
            <a:ext cx="64008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6BCF2-28BD-290A-B1FB-C92CF3732EAE}"/>
              </a:ext>
            </a:extLst>
          </p:cNvPr>
          <p:cNvSpPr txBox="1"/>
          <p:nvPr/>
        </p:nvSpPr>
        <p:spPr>
          <a:xfrm>
            <a:off x="1176528" y="5782056"/>
            <a:ext cx="10195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Evidence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98B74D-3F59-7C98-B793-69A07D7811A7}"/>
              </a:ext>
            </a:extLst>
          </p:cNvPr>
          <p:cNvSpPr txBox="1"/>
          <p:nvPr/>
        </p:nvSpPr>
        <p:spPr>
          <a:xfrm>
            <a:off x="1176528" y="6184392"/>
            <a:ext cx="101498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Capture deployed flow, successful message, target result, SFTP file and failure email screenshots.</a:t>
            </a:r>
          </a:p>
        </p:txBody>
      </p:sp>
    </p:spTree>
    <p:extLst>
      <p:ext uri="{BB962C8B-B14F-4D97-AF65-F5344CB8AC3E}">
        <p14:creationId xmlns:p14="http://schemas.microsoft.com/office/powerpoint/2010/main" val="227003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49A22E-69B1-6E2B-A6E5-21A746736CAC}"/>
              </a:ext>
            </a:extLst>
          </p:cNvPr>
          <p:cNvSpPr txBox="1"/>
          <p:nvPr/>
        </p:nvSpPr>
        <p:spPr>
          <a:xfrm>
            <a:off x="929640" y="7040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Monitoring &amp;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8F2C6-E9C9-7BEB-4D32-E4D8A85DD9C2}"/>
              </a:ext>
            </a:extLst>
          </p:cNvPr>
          <p:cNvSpPr/>
          <p:nvPr/>
        </p:nvSpPr>
        <p:spPr>
          <a:xfrm>
            <a:off x="929640" y="134416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5375C-6ABA-C7EA-F3EF-C19D318F82DD}"/>
              </a:ext>
            </a:extLst>
          </p:cNvPr>
          <p:cNvSpPr txBox="1"/>
          <p:nvPr/>
        </p:nvSpPr>
        <p:spPr>
          <a:xfrm>
            <a:off x="11353800" y="68122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2A44A7F0-815B-94DB-BD8F-D75A855811B8}"/>
              </a:ext>
            </a:extLst>
          </p:cNvPr>
          <p:cNvSpPr/>
          <p:nvPr/>
        </p:nvSpPr>
        <p:spPr>
          <a:xfrm>
            <a:off x="1066800" y="2240280"/>
            <a:ext cx="2103120" cy="105156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B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F3BCD-2D67-340A-AC33-987F378F6125}"/>
              </a:ext>
            </a:extLst>
          </p:cNvPr>
          <p:cNvSpPr txBox="1"/>
          <p:nvPr/>
        </p:nvSpPr>
        <p:spPr>
          <a:xfrm>
            <a:off x="1630245" y="2350008"/>
            <a:ext cx="9762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DEPLOYED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DF97A-9E40-5F49-C7FA-7E8A5AC707DA}"/>
              </a:ext>
            </a:extLst>
          </p:cNvPr>
          <p:cNvSpPr txBox="1"/>
          <p:nvPr/>
        </p:nvSpPr>
        <p:spPr>
          <a:xfrm>
            <a:off x="1647718" y="2734056"/>
            <a:ext cx="9412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E1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Runtime status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9BF43051-52D4-66B8-44F3-07113EC97520}"/>
              </a:ext>
            </a:extLst>
          </p:cNvPr>
          <p:cNvSpPr/>
          <p:nvPr/>
        </p:nvSpPr>
        <p:spPr>
          <a:xfrm>
            <a:off x="3581400" y="2240280"/>
            <a:ext cx="2103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ADD71-AE0D-CC67-780B-F31578CD098C}"/>
              </a:ext>
            </a:extLst>
          </p:cNvPr>
          <p:cNvSpPr txBox="1"/>
          <p:nvPr/>
        </p:nvSpPr>
        <p:spPr>
          <a:xfrm>
            <a:off x="3654552" y="235000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B7C62-DE23-4B61-25C7-10DE3F9364F5}"/>
              </a:ext>
            </a:extLst>
          </p:cNvPr>
          <p:cNvSpPr txBox="1"/>
          <p:nvPr/>
        </p:nvSpPr>
        <p:spPr>
          <a:xfrm>
            <a:off x="4151898" y="2734056"/>
            <a:ext cx="96212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Message status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9F393275-8CD2-A586-937D-0803E615D7D3}"/>
              </a:ext>
            </a:extLst>
          </p:cNvPr>
          <p:cNvSpPr/>
          <p:nvPr/>
        </p:nvSpPr>
        <p:spPr>
          <a:xfrm>
            <a:off x="6096000" y="2240280"/>
            <a:ext cx="2103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1D16A2-0633-D6BD-3332-C2C96E8F4983}"/>
              </a:ext>
            </a:extLst>
          </p:cNvPr>
          <p:cNvSpPr txBox="1"/>
          <p:nvPr/>
        </p:nvSpPr>
        <p:spPr>
          <a:xfrm>
            <a:off x="6169152" y="235000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TRACE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6D600-024F-C600-9736-13150064E379}"/>
              </a:ext>
            </a:extLst>
          </p:cNvPr>
          <p:cNvSpPr txBox="1"/>
          <p:nvPr/>
        </p:nvSpPr>
        <p:spPr>
          <a:xfrm>
            <a:off x="6604782" y="2734056"/>
            <a:ext cx="108555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Payload diagnosis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A6AB7096-0B13-D5FA-0BB9-6479F494D1A4}"/>
              </a:ext>
            </a:extLst>
          </p:cNvPr>
          <p:cNvSpPr/>
          <p:nvPr/>
        </p:nvSpPr>
        <p:spPr>
          <a:xfrm>
            <a:off x="8610600" y="2240280"/>
            <a:ext cx="2103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A2955-071F-CD6A-328E-30DF283F8C47}"/>
              </a:ext>
            </a:extLst>
          </p:cNvPr>
          <p:cNvSpPr txBox="1"/>
          <p:nvPr/>
        </p:nvSpPr>
        <p:spPr>
          <a:xfrm>
            <a:off x="8683752" y="2350008"/>
            <a:ext cx="195681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RECOVERY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24473-B36B-E05F-CF29-B8C523DA17CC}"/>
              </a:ext>
            </a:extLst>
          </p:cNvPr>
          <p:cNvSpPr txBox="1"/>
          <p:nvPr/>
        </p:nvSpPr>
        <p:spPr>
          <a:xfrm>
            <a:off x="8899771" y="2734056"/>
            <a:ext cx="152477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Correct → redeploy → retest</a:t>
            </a:r>
          </a:p>
        </p:txBody>
      </p:sp>
      <p:cxnSp>
        <p:nvCxnSpPr>
          <p:cNvPr id="19" name="Connector 17">
            <a:extLst>
              <a:ext uri="{FF2B5EF4-FFF2-40B4-BE49-F238E27FC236}">
                <a16:creationId xmlns:a16="http://schemas.microsoft.com/office/drawing/2014/main" id="{5E82C436-58A6-2A6A-893B-E817A544284E}"/>
              </a:ext>
            </a:extLst>
          </p:cNvPr>
          <p:cNvCxnSpPr/>
          <p:nvPr/>
        </p:nvCxnSpPr>
        <p:spPr>
          <a:xfrm>
            <a:off x="3215640" y="2770632"/>
            <a:ext cx="32004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8">
            <a:extLst>
              <a:ext uri="{FF2B5EF4-FFF2-40B4-BE49-F238E27FC236}">
                <a16:creationId xmlns:a16="http://schemas.microsoft.com/office/drawing/2014/main" id="{B87F8130-8873-AF41-785A-891890A098E4}"/>
              </a:ext>
            </a:extLst>
          </p:cNvPr>
          <p:cNvCxnSpPr/>
          <p:nvPr/>
        </p:nvCxnSpPr>
        <p:spPr>
          <a:xfrm>
            <a:off x="5730240" y="2770632"/>
            <a:ext cx="32004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9">
            <a:extLst>
              <a:ext uri="{FF2B5EF4-FFF2-40B4-BE49-F238E27FC236}">
                <a16:creationId xmlns:a16="http://schemas.microsoft.com/office/drawing/2014/main" id="{E9C220CF-9D09-615B-424C-3D0C9F6B471D}"/>
              </a:ext>
            </a:extLst>
          </p:cNvPr>
          <p:cNvCxnSpPr/>
          <p:nvPr/>
        </p:nvCxnSpPr>
        <p:spPr>
          <a:xfrm>
            <a:off x="8244840" y="2770632"/>
            <a:ext cx="32004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09DA1B2-7A7C-0F4C-6A99-410B0171B803}"/>
              </a:ext>
            </a:extLst>
          </p:cNvPr>
          <p:cNvSpPr txBox="1"/>
          <p:nvPr/>
        </p:nvSpPr>
        <p:spPr>
          <a:xfrm>
            <a:off x="1203960" y="4389119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rPr dirty="0"/>
              <a:t>• Save and version the flow before major changes.</a:t>
            </a:r>
          </a:p>
          <a:p>
            <a:pPr>
              <a:spcAft>
                <a:spcPts val="10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rPr dirty="0"/>
              <a:t>• Deploy only after validation/Problems checks are clear.</a:t>
            </a:r>
          </a:p>
          <a:p>
            <a:pPr>
              <a:spcAft>
                <a:spcPts val="10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rPr dirty="0"/>
              <a:t>• Use Monitor → Message Processing to inspect success and failures.</a:t>
            </a:r>
          </a:p>
          <a:p>
            <a:pPr>
              <a:spcAft>
                <a:spcPts val="10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rPr dirty="0"/>
              <a:t>• Use Trace for troubleshooting and keep credentials out of screenshots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2203213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034E4-1FAD-89CC-8C86-DF5E5EF24E35}"/>
              </a:ext>
            </a:extLst>
          </p:cNvPr>
          <p:cNvSpPr txBox="1"/>
          <p:nvPr/>
        </p:nvSpPr>
        <p:spPr>
          <a:xfrm>
            <a:off x="602428" y="6503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Agile / SDLC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9E1B4-1409-2EDD-AEC1-27EF3397008E}"/>
              </a:ext>
            </a:extLst>
          </p:cNvPr>
          <p:cNvSpPr/>
          <p:nvPr/>
        </p:nvSpPr>
        <p:spPr>
          <a:xfrm>
            <a:off x="602428" y="1290380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C2CB0-CCEC-B544-C01B-947F18730A72}"/>
              </a:ext>
            </a:extLst>
          </p:cNvPr>
          <p:cNvSpPr txBox="1"/>
          <p:nvPr/>
        </p:nvSpPr>
        <p:spPr>
          <a:xfrm>
            <a:off x="11026588" y="67584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15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775728EF-8DD5-ABB4-C866-9BFFAE694219}"/>
              </a:ext>
            </a:extLst>
          </p:cNvPr>
          <p:cNvSpPr/>
          <p:nvPr/>
        </p:nvSpPr>
        <p:spPr>
          <a:xfrm>
            <a:off x="602428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DC0E1-CA9F-EF04-9A38-417E7C19EEC3}"/>
              </a:ext>
            </a:extLst>
          </p:cNvPr>
          <p:cNvSpPr/>
          <p:nvPr/>
        </p:nvSpPr>
        <p:spPr>
          <a:xfrm>
            <a:off x="602428" y="1820732"/>
            <a:ext cx="64008" cy="2103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06698-47F0-1706-E0C2-DEE15DC8BD50}"/>
              </a:ext>
            </a:extLst>
          </p:cNvPr>
          <p:cNvSpPr txBox="1"/>
          <p:nvPr/>
        </p:nvSpPr>
        <p:spPr>
          <a:xfrm>
            <a:off x="803596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1. Requirements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F56F9-AB7C-C731-A38B-25BCCFFE02FA}"/>
              </a:ext>
            </a:extLst>
          </p:cNvPr>
          <p:cNvSpPr txBox="1"/>
          <p:nvPr/>
        </p:nvSpPr>
        <p:spPr>
          <a:xfrm>
            <a:off x="803596" y="2351084"/>
            <a:ext cx="1298448" cy="1481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Scenario + acceptance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67C1403A-9186-29E5-8DF4-9E2B0DEE5705}"/>
              </a:ext>
            </a:extLst>
          </p:cNvPr>
          <p:cNvSpPr/>
          <p:nvPr/>
        </p:nvSpPr>
        <p:spPr>
          <a:xfrm>
            <a:off x="2504380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52C40-8A08-653F-49C7-D2317537BCA1}"/>
              </a:ext>
            </a:extLst>
          </p:cNvPr>
          <p:cNvSpPr/>
          <p:nvPr/>
        </p:nvSpPr>
        <p:spPr>
          <a:xfrm>
            <a:off x="2504380" y="1820732"/>
            <a:ext cx="64008" cy="210312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DF5196-3161-ABFA-7BC7-F298C17FC68B}"/>
              </a:ext>
            </a:extLst>
          </p:cNvPr>
          <p:cNvSpPr txBox="1"/>
          <p:nvPr/>
        </p:nvSpPr>
        <p:spPr>
          <a:xfrm>
            <a:off x="2705548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2.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446A80-A543-EAED-BAAC-99EF7E57FDEE}"/>
              </a:ext>
            </a:extLst>
          </p:cNvPr>
          <p:cNvSpPr txBox="1"/>
          <p:nvPr/>
        </p:nvSpPr>
        <p:spPr>
          <a:xfrm>
            <a:off x="2705548" y="2351084"/>
            <a:ext cx="1298448" cy="1481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Architecture + mapping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3A7AFE94-B539-C0CB-C68E-AC90FAE374E0}"/>
              </a:ext>
            </a:extLst>
          </p:cNvPr>
          <p:cNvSpPr/>
          <p:nvPr/>
        </p:nvSpPr>
        <p:spPr>
          <a:xfrm>
            <a:off x="4406332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9A73C9-4238-57CF-D395-E4ED83D7197D}"/>
              </a:ext>
            </a:extLst>
          </p:cNvPr>
          <p:cNvSpPr/>
          <p:nvPr/>
        </p:nvSpPr>
        <p:spPr>
          <a:xfrm>
            <a:off x="4406332" y="1820732"/>
            <a:ext cx="6400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E448C-18BD-2B96-1F42-54E19606B33A}"/>
              </a:ext>
            </a:extLst>
          </p:cNvPr>
          <p:cNvSpPr txBox="1"/>
          <p:nvPr/>
        </p:nvSpPr>
        <p:spPr>
          <a:xfrm>
            <a:off x="4607500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3.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DF728A-F1C6-D865-02D7-A9DD31EC5D80}"/>
              </a:ext>
            </a:extLst>
          </p:cNvPr>
          <p:cNvSpPr txBox="1"/>
          <p:nvPr/>
        </p:nvSpPr>
        <p:spPr>
          <a:xfrm>
            <a:off x="4607500" y="2351084"/>
            <a:ext cx="1298448" cy="1481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Adapters + iFlows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BDCEB8D9-D990-F152-607E-E3416BCF6805}"/>
              </a:ext>
            </a:extLst>
          </p:cNvPr>
          <p:cNvSpPr/>
          <p:nvPr/>
        </p:nvSpPr>
        <p:spPr>
          <a:xfrm>
            <a:off x="6308284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645802-5608-1929-E4BC-ABD689507A40}"/>
              </a:ext>
            </a:extLst>
          </p:cNvPr>
          <p:cNvSpPr/>
          <p:nvPr/>
        </p:nvSpPr>
        <p:spPr>
          <a:xfrm>
            <a:off x="6308284" y="1820732"/>
            <a:ext cx="64008" cy="210312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61F44-741A-F309-203D-94ED9BF8F5D0}"/>
              </a:ext>
            </a:extLst>
          </p:cNvPr>
          <p:cNvSpPr txBox="1"/>
          <p:nvPr/>
        </p:nvSpPr>
        <p:spPr>
          <a:xfrm>
            <a:off x="6509452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4. Testing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DEED43-0E6B-F1B6-FE47-87E63112BAC1}"/>
              </a:ext>
            </a:extLst>
          </p:cNvPr>
          <p:cNvSpPr txBox="1"/>
          <p:nvPr/>
        </p:nvSpPr>
        <p:spPr>
          <a:xfrm>
            <a:off x="6509452" y="2351084"/>
            <a:ext cx="1298448" cy="1481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Positive + negative</a:t>
            </a:r>
          </a:p>
        </p:txBody>
      </p: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5A0B623C-2CCC-2764-7136-6B52F920492F}"/>
              </a:ext>
            </a:extLst>
          </p:cNvPr>
          <p:cNvSpPr/>
          <p:nvPr/>
        </p:nvSpPr>
        <p:spPr>
          <a:xfrm>
            <a:off x="8210236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36B634-0AB4-DE8A-07FA-276F670B156B}"/>
              </a:ext>
            </a:extLst>
          </p:cNvPr>
          <p:cNvSpPr/>
          <p:nvPr/>
        </p:nvSpPr>
        <p:spPr>
          <a:xfrm>
            <a:off x="8210236" y="1820732"/>
            <a:ext cx="64008" cy="2103120"/>
          </a:xfrm>
          <a:prstGeom prst="rect">
            <a:avLst/>
          </a:prstGeom>
          <a:solidFill>
            <a:srgbClr val="2B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7F475C-519F-78F8-12AA-382A3D0940FF}"/>
              </a:ext>
            </a:extLst>
          </p:cNvPr>
          <p:cNvSpPr txBox="1"/>
          <p:nvPr/>
        </p:nvSpPr>
        <p:spPr>
          <a:xfrm>
            <a:off x="8411404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5. Deployment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C829A6-219B-55AD-530E-D36FB853BCC3}"/>
              </a:ext>
            </a:extLst>
          </p:cNvPr>
          <p:cNvSpPr txBox="1"/>
          <p:nvPr/>
        </p:nvSpPr>
        <p:spPr>
          <a:xfrm>
            <a:off x="8411404" y="2351084"/>
            <a:ext cx="1298448" cy="1481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Version + monitor</a:t>
            </a:r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058E5E53-8E18-448F-88A7-7946AA43025F}"/>
              </a:ext>
            </a:extLst>
          </p:cNvPr>
          <p:cNvSpPr/>
          <p:nvPr/>
        </p:nvSpPr>
        <p:spPr>
          <a:xfrm>
            <a:off x="10112188" y="1820732"/>
            <a:ext cx="166420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1F9865-6D4A-4ABC-4E8B-37FEA9C8554D}"/>
              </a:ext>
            </a:extLst>
          </p:cNvPr>
          <p:cNvSpPr/>
          <p:nvPr/>
        </p:nvSpPr>
        <p:spPr>
          <a:xfrm>
            <a:off x="10112188" y="1820732"/>
            <a:ext cx="64008" cy="210312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95BA8A-853C-189D-6DA8-F9F9C8A8C2DD}"/>
              </a:ext>
            </a:extLst>
          </p:cNvPr>
          <p:cNvSpPr txBox="1"/>
          <p:nvPr/>
        </p:nvSpPr>
        <p:spPr>
          <a:xfrm>
            <a:off x="10313356" y="1948748"/>
            <a:ext cx="1344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6. Maintenance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823D3-AC4A-BA3E-5254-F7BB769D8F8B}"/>
              </a:ext>
            </a:extLst>
          </p:cNvPr>
          <p:cNvSpPr txBox="1"/>
          <p:nvPr/>
        </p:nvSpPr>
        <p:spPr>
          <a:xfrm>
            <a:off x="10313356" y="2351084"/>
            <a:ext cx="10881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rPr dirty="0"/>
              <a:t>Defects + improvement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0A214FD-3837-23B4-E1C8-5B9DB1930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858967"/>
              </p:ext>
            </p:extLst>
          </p:nvPr>
        </p:nvGraphicFramePr>
        <p:xfrm>
          <a:off x="831028" y="4426772"/>
          <a:ext cx="104241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Artifact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Product Backlog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Requirements and acceptance criteria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Sprint Backlog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Adapters, mapping, testing, documentation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Sprint Review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Demonstrate E2E processing and evidence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Retrospective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Record issues, lessons and improvements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57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5E082B-9EF9-7E9E-385C-D6F8625F8E51}"/>
              </a:ext>
            </a:extLst>
          </p:cNvPr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Challenges &amp; Solutions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D77D5-D8EB-4138-5DD2-06636C8EBDFE}"/>
              </a:ext>
            </a:extLst>
          </p:cNvPr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83CC9-56CA-58E3-767D-CB6AC3220823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BA07129-DAE5-2DEB-553D-ED2552B01F38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32588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Solution</a:t>
                      </a:r>
                    </a:p>
                  </a:txBody>
                  <a:tcPr marL="64008" marR="45720" anchor="ctr">
                    <a:solidFill>
                      <a:srgbClr val="08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SuccessFactors tenant details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 the training connection/credential; do not invent tenant URLs.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OData entity mismatch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 service metadata and the adapter's entity selector.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Mapping queue/context errors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Ensure source XML matches the source XSD and target required fields are produced.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S/4HANA connectivity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Use On Premise proxy + correct Location ID + L4C_Cred.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SFTP filename requirement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Follow the exact personal filename convention.</a:t>
                      </a:r>
                    </a:p>
                  </a:txBody>
                  <a:tcPr marL="64008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Failure diagnosis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Exception subprocess captures and emails the error.</a:t>
                      </a:r>
                    </a:p>
                  </a:txBody>
                  <a:tcPr marL="64008" marR="4572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2889AFC-3C78-F7E8-7488-75167A1F3944}"/>
              </a:ext>
            </a:extLst>
          </p:cNvPr>
          <p:cNvSpPr/>
          <p:nvPr/>
        </p:nvSpPr>
        <p:spPr>
          <a:xfrm>
            <a:off x="731520" y="5715000"/>
            <a:ext cx="10515600" cy="50292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4C4F48-C8C3-C6FC-A47C-DC869BA56B6F}"/>
              </a:ext>
            </a:extLst>
          </p:cNvPr>
          <p:cNvSpPr/>
          <p:nvPr/>
        </p:nvSpPr>
        <p:spPr>
          <a:xfrm>
            <a:off x="731520" y="5715000"/>
            <a:ext cx="64008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C96819-9EEE-F4DF-5904-A80377A128C8}"/>
              </a:ext>
            </a:extLst>
          </p:cNvPr>
          <p:cNvSpPr txBox="1"/>
          <p:nvPr/>
        </p:nvSpPr>
        <p:spPr>
          <a:xfrm>
            <a:off x="932688" y="5843016"/>
            <a:ext cx="10195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Key principle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F8DE9-7F13-D3A2-5246-58E82B8ED726}"/>
              </a:ext>
            </a:extLst>
          </p:cNvPr>
          <p:cNvSpPr txBox="1"/>
          <p:nvPr/>
        </p:nvSpPr>
        <p:spPr>
          <a:xfrm>
            <a:off x="932688" y="6245352"/>
            <a:ext cx="101498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Validate each connection independently before chaining the complete E2E flow.</a:t>
            </a:r>
          </a:p>
        </p:txBody>
      </p:sp>
    </p:spTree>
    <p:extLst>
      <p:ext uri="{BB962C8B-B14F-4D97-AF65-F5344CB8AC3E}">
        <p14:creationId xmlns:p14="http://schemas.microsoft.com/office/powerpoint/2010/main" val="4215357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0C1C54-2E4D-20C5-4FDD-AA46670C0D03}"/>
              </a:ext>
            </a:extLst>
          </p:cNvPr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1C34"/>
                </a:solidFill>
                <a:latin typeface="Aptos Display"/>
              </a:defRPr>
            </a:pPr>
            <a:r>
              <a:t>Final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6B92D-9E23-E4A8-F1F6-BA0A6777E9FC}"/>
              </a:ext>
            </a:extLst>
          </p:cNvPr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DD8F1-6C93-5B56-9909-0014FEFEC1DB}"/>
              </a:ext>
            </a:extLst>
          </p:cNvPr>
          <p:cNvSpPr txBox="1"/>
          <p:nvPr/>
        </p:nvSpPr>
        <p:spPr>
          <a:xfrm>
            <a:off x="11018520" y="64008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81C34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7EEEFA6-E453-444D-FB6B-DEFCFA37AD98}"/>
              </a:ext>
            </a:extLst>
          </p:cNvPr>
          <p:cNvSpPr/>
          <p:nvPr/>
        </p:nvSpPr>
        <p:spPr>
          <a:xfrm>
            <a:off x="594360" y="1920240"/>
            <a:ext cx="1965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0B693-F2B4-BA85-9B53-FD73048B8901}"/>
              </a:ext>
            </a:extLst>
          </p:cNvPr>
          <p:cNvSpPr txBox="1"/>
          <p:nvPr/>
        </p:nvSpPr>
        <p:spPr>
          <a:xfrm>
            <a:off x="667512" y="2029968"/>
            <a:ext cx="1819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SUCCESSFACTORS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1F920-DEF1-8039-421B-D50D099E5A6E}"/>
              </a:ext>
            </a:extLst>
          </p:cNvPr>
          <p:cNvSpPr txBox="1"/>
          <p:nvPr/>
        </p:nvSpPr>
        <p:spPr>
          <a:xfrm>
            <a:off x="667512" y="2414016"/>
            <a:ext cx="181965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t>rharrison</a:t>
            </a:r>
            <a:br/>
            <a:r>
              <a:t>szhou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5786C6D1-D5B5-0FF5-F1DC-5E3F73E1E166}"/>
              </a:ext>
            </a:extLst>
          </p:cNvPr>
          <p:cNvSpPr/>
          <p:nvPr/>
        </p:nvSpPr>
        <p:spPr>
          <a:xfrm>
            <a:off x="2926080" y="1920240"/>
            <a:ext cx="1965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29552-CD2D-2824-C4C8-B914FFC3BF6C}"/>
              </a:ext>
            </a:extLst>
          </p:cNvPr>
          <p:cNvSpPr txBox="1"/>
          <p:nvPr/>
        </p:nvSpPr>
        <p:spPr>
          <a:xfrm>
            <a:off x="2999232" y="2029968"/>
            <a:ext cx="1819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CPI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34546-62EA-5AD6-986A-FA0BD1C75A38}"/>
              </a:ext>
            </a:extLst>
          </p:cNvPr>
          <p:cNvSpPr txBox="1"/>
          <p:nvPr/>
        </p:nvSpPr>
        <p:spPr>
          <a:xfrm>
            <a:off x="2999232" y="2414016"/>
            <a:ext cx="181965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t>Filter + Map</a:t>
            </a:r>
            <a:br/>
            <a:r>
              <a:t>+ Route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99CEBB09-E23E-17E6-5626-C38A624023D8}"/>
              </a:ext>
            </a:extLst>
          </p:cNvPr>
          <p:cNvSpPr/>
          <p:nvPr/>
        </p:nvSpPr>
        <p:spPr>
          <a:xfrm>
            <a:off x="5257800" y="1920240"/>
            <a:ext cx="1965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97360-0206-1B8F-AADB-26D98F26930C}"/>
              </a:ext>
            </a:extLst>
          </p:cNvPr>
          <p:cNvSpPr txBox="1"/>
          <p:nvPr/>
        </p:nvSpPr>
        <p:spPr>
          <a:xfrm>
            <a:off x="5330952" y="2029968"/>
            <a:ext cx="1819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S/4HANA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DFC23C-8507-2E87-45CA-F3CE64C68D2F}"/>
              </a:ext>
            </a:extLst>
          </p:cNvPr>
          <p:cNvSpPr txBox="1"/>
          <p:nvPr/>
        </p:nvSpPr>
        <p:spPr>
          <a:xfrm>
            <a:off x="5330952" y="2414016"/>
            <a:ext cx="181965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t>EmpdetailsSet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F2F7DBB3-C141-0A07-7D39-9A1D349179E1}"/>
              </a:ext>
            </a:extLst>
          </p:cNvPr>
          <p:cNvSpPr/>
          <p:nvPr/>
        </p:nvSpPr>
        <p:spPr>
          <a:xfrm>
            <a:off x="7589520" y="1920240"/>
            <a:ext cx="1965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338A6-1E91-7609-5E13-81A140A9BE49}"/>
              </a:ext>
            </a:extLst>
          </p:cNvPr>
          <p:cNvSpPr txBox="1"/>
          <p:nvPr/>
        </p:nvSpPr>
        <p:spPr>
          <a:xfrm>
            <a:off x="7662672" y="2029968"/>
            <a:ext cx="1819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CSV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D0F9F1-E66E-9D8D-BF27-64CFB36FF4D1}"/>
              </a:ext>
            </a:extLst>
          </p:cNvPr>
          <p:cNvSpPr txBox="1"/>
          <p:nvPr/>
        </p:nvSpPr>
        <p:spPr>
          <a:xfrm>
            <a:off x="7662672" y="2414016"/>
            <a:ext cx="181965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t>Payroll file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F8A5AB37-43BA-075E-2324-2CA08004B4F7}"/>
              </a:ext>
            </a:extLst>
          </p:cNvPr>
          <p:cNvSpPr/>
          <p:nvPr/>
        </p:nvSpPr>
        <p:spPr>
          <a:xfrm>
            <a:off x="9921240" y="1920240"/>
            <a:ext cx="1691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23C7E-B7C5-7002-A804-824A3183ADD2}"/>
              </a:ext>
            </a:extLst>
          </p:cNvPr>
          <p:cNvSpPr txBox="1"/>
          <p:nvPr/>
        </p:nvSpPr>
        <p:spPr>
          <a:xfrm>
            <a:off x="9994392" y="2029968"/>
            <a:ext cx="15453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1C34"/>
                </a:solidFill>
                <a:latin typeface="Aptos Display"/>
              </a:defRPr>
            </a:pPr>
            <a:r>
              <a:t>SFTP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F89A3-197B-D9F6-EC2F-201ABDF7D4FC}"/>
              </a:ext>
            </a:extLst>
          </p:cNvPr>
          <p:cNvSpPr txBox="1"/>
          <p:nvPr/>
        </p:nvSpPr>
        <p:spPr>
          <a:xfrm>
            <a:off x="9994392" y="2414016"/>
            <a:ext cx="154533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7788"/>
                </a:solidFill>
                <a:latin typeface="Aptos"/>
              </a:defRPr>
            </a:pPr>
            <a:r>
              <a:t>AEH</a:t>
            </a:r>
          </a:p>
        </p:txBody>
      </p:sp>
      <p:cxnSp>
        <p:nvCxnSpPr>
          <p:cNvPr id="22" name="Connector 20">
            <a:extLst>
              <a:ext uri="{FF2B5EF4-FFF2-40B4-BE49-F238E27FC236}">
                <a16:creationId xmlns:a16="http://schemas.microsoft.com/office/drawing/2014/main" id="{A9526AA2-E7B7-C5D1-3AE3-F08ED148F257}"/>
              </a:ext>
            </a:extLst>
          </p:cNvPr>
          <p:cNvCxnSpPr/>
          <p:nvPr/>
        </p:nvCxnSpPr>
        <p:spPr>
          <a:xfrm>
            <a:off x="2606040" y="2487168"/>
            <a:ext cx="27432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1">
            <a:extLst>
              <a:ext uri="{FF2B5EF4-FFF2-40B4-BE49-F238E27FC236}">
                <a16:creationId xmlns:a16="http://schemas.microsoft.com/office/drawing/2014/main" id="{A08E6878-B6A9-5B0A-88ED-ECD5E9EAFC78}"/>
              </a:ext>
            </a:extLst>
          </p:cNvPr>
          <p:cNvCxnSpPr/>
          <p:nvPr/>
        </p:nvCxnSpPr>
        <p:spPr>
          <a:xfrm>
            <a:off x="4937760" y="2487168"/>
            <a:ext cx="27432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2">
            <a:extLst>
              <a:ext uri="{FF2B5EF4-FFF2-40B4-BE49-F238E27FC236}">
                <a16:creationId xmlns:a16="http://schemas.microsoft.com/office/drawing/2014/main" id="{FC0DADB1-A737-10C4-5891-71AF2F2307A6}"/>
              </a:ext>
            </a:extLst>
          </p:cNvPr>
          <p:cNvCxnSpPr/>
          <p:nvPr/>
        </p:nvCxnSpPr>
        <p:spPr>
          <a:xfrm>
            <a:off x="7269480" y="2487168"/>
            <a:ext cx="27432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3">
            <a:extLst>
              <a:ext uri="{FF2B5EF4-FFF2-40B4-BE49-F238E27FC236}">
                <a16:creationId xmlns:a16="http://schemas.microsoft.com/office/drawing/2014/main" id="{379A4098-4833-2F38-A719-732E9F84FF3D}"/>
              </a:ext>
            </a:extLst>
          </p:cNvPr>
          <p:cNvCxnSpPr/>
          <p:nvPr/>
        </p:nvCxnSpPr>
        <p:spPr>
          <a:xfrm>
            <a:off x="9601200" y="2487168"/>
            <a:ext cx="274320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C718DB49-C66E-FDF5-A47C-F45104E699F8}"/>
              </a:ext>
            </a:extLst>
          </p:cNvPr>
          <p:cNvSpPr/>
          <p:nvPr/>
        </p:nvSpPr>
        <p:spPr>
          <a:xfrm>
            <a:off x="777240" y="4160520"/>
            <a:ext cx="333756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00AABF-13F8-1EE4-580F-DE920032E25A}"/>
              </a:ext>
            </a:extLst>
          </p:cNvPr>
          <p:cNvSpPr/>
          <p:nvPr/>
        </p:nvSpPr>
        <p:spPr>
          <a:xfrm>
            <a:off x="777240" y="4160520"/>
            <a:ext cx="64008" cy="1143000"/>
          </a:xfrm>
          <a:prstGeom prst="rect">
            <a:avLst/>
          </a:prstGeom>
          <a:solidFill>
            <a:srgbClr val="2B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7BC206-6DD4-FB00-32C9-8E5EDE756794}"/>
              </a:ext>
            </a:extLst>
          </p:cNvPr>
          <p:cNvSpPr txBox="1"/>
          <p:nvPr/>
        </p:nvSpPr>
        <p:spPr>
          <a:xfrm>
            <a:off x="978408" y="428853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Integration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C9EACA-E6F8-B662-D969-FB0294DD3915}"/>
              </a:ext>
            </a:extLst>
          </p:cNvPr>
          <p:cNvSpPr txBox="1"/>
          <p:nvPr/>
        </p:nvSpPr>
        <p:spPr>
          <a:xfrm>
            <a:off x="978408" y="4690872"/>
            <a:ext cx="2971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Automated synchronization</a:t>
            </a: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DD1685C8-BFDA-5C62-88BB-083292387EBF}"/>
              </a:ext>
            </a:extLst>
          </p:cNvPr>
          <p:cNvSpPr/>
          <p:nvPr/>
        </p:nvSpPr>
        <p:spPr>
          <a:xfrm>
            <a:off x="4434840" y="4160520"/>
            <a:ext cx="333756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BBA762-E850-826E-F24F-39C30C84CC59}"/>
              </a:ext>
            </a:extLst>
          </p:cNvPr>
          <p:cNvSpPr/>
          <p:nvPr/>
        </p:nvSpPr>
        <p:spPr>
          <a:xfrm>
            <a:off x="4434840" y="4160520"/>
            <a:ext cx="64008" cy="114300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BAC1DC-099D-FDAA-16C2-9E3952B1D5DB}"/>
              </a:ext>
            </a:extLst>
          </p:cNvPr>
          <p:cNvSpPr txBox="1"/>
          <p:nvPr/>
        </p:nvSpPr>
        <p:spPr>
          <a:xfrm>
            <a:off x="4636007" y="428853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Reliability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579AD8-9BAE-D9EE-6D3C-36F4A5B8E6B6}"/>
              </a:ext>
            </a:extLst>
          </p:cNvPr>
          <p:cNvSpPr txBox="1"/>
          <p:nvPr/>
        </p:nvSpPr>
        <p:spPr>
          <a:xfrm>
            <a:off x="4636007" y="4690872"/>
            <a:ext cx="2971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Exception + email alerting</a:t>
            </a:r>
          </a:p>
        </p:txBody>
      </p:sp>
      <p:sp>
        <p:nvSpPr>
          <p:cNvPr id="34" name="Rounded Rectangle 32">
            <a:extLst>
              <a:ext uri="{FF2B5EF4-FFF2-40B4-BE49-F238E27FC236}">
                <a16:creationId xmlns:a16="http://schemas.microsoft.com/office/drawing/2014/main" id="{149BE081-5748-4622-4A13-0928464D6EF1}"/>
              </a:ext>
            </a:extLst>
          </p:cNvPr>
          <p:cNvSpPr/>
          <p:nvPr/>
        </p:nvSpPr>
        <p:spPr>
          <a:xfrm>
            <a:off x="8092440" y="4160520"/>
            <a:ext cx="3337560" cy="1143000"/>
          </a:xfrm>
          <a:prstGeom prst="roundRect">
            <a:avLst/>
          </a:prstGeom>
          <a:solidFill>
            <a:srgbClr val="FDF2E2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9B7096-336A-F869-9A49-0EBA6CF6849D}"/>
              </a:ext>
            </a:extLst>
          </p:cNvPr>
          <p:cNvSpPr/>
          <p:nvPr/>
        </p:nvSpPr>
        <p:spPr>
          <a:xfrm>
            <a:off x="8092440" y="4160520"/>
            <a:ext cx="64008" cy="1143000"/>
          </a:xfrm>
          <a:prstGeom prst="rect">
            <a:avLst/>
          </a:prstGeom>
          <a:solidFill>
            <a:srgbClr val="EF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079575-5BE8-D046-E2C3-468C6F0BFF0E}"/>
              </a:ext>
            </a:extLst>
          </p:cNvPr>
          <p:cNvSpPr txBox="1"/>
          <p:nvPr/>
        </p:nvSpPr>
        <p:spPr>
          <a:xfrm>
            <a:off x="8293608" y="428853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1C34"/>
                </a:solidFill>
                <a:latin typeface="Aptos Display"/>
              </a:defRPr>
            </a:pPr>
            <a:r>
              <a:t>Payroll handoff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4DD09D-6F4B-6B31-C84C-656BC0D0FDDD}"/>
              </a:ext>
            </a:extLst>
          </p:cNvPr>
          <p:cNvSpPr txBox="1"/>
          <p:nvPr/>
        </p:nvSpPr>
        <p:spPr>
          <a:xfrm>
            <a:off x="8293608" y="4690872"/>
            <a:ext cx="2971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63442"/>
                </a:solidFill>
                <a:latin typeface="Aptos"/>
              </a:defRPr>
            </a:pPr>
            <a:r>
              <a:t>CSV delivered to SFTP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31D27-F733-9B61-6354-773017138E20}"/>
              </a:ext>
            </a:extLst>
          </p:cNvPr>
          <p:cNvSpPr txBox="1"/>
          <p:nvPr/>
        </p:nvSpPr>
        <p:spPr>
          <a:xfrm>
            <a:off x="868680" y="56235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63442"/>
                </a:solidFill>
                <a:latin typeface="Aptos"/>
              </a:defRPr>
            </a:pPr>
            <a:r>
              <a:t>• Final evidence: deployed iFlows, mail configuration, technical/test documentation, Agile artifacts, repository/version history and demo.</a:t>
            </a:r>
          </a:p>
        </p:txBody>
      </p:sp>
    </p:spTree>
    <p:extLst>
      <p:ext uri="{BB962C8B-B14F-4D97-AF65-F5344CB8AC3E}">
        <p14:creationId xmlns:p14="http://schemas.microsoft.com/office/powerpoint/2010/main" val="120688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563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1062</Words>
  <Application>Microsoft Office PowerPoint</Application>
  <PresentationFormat>Widescreen</PresentationFormat>
  <Paragraphs>275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Solution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 Mudavath</dc:creator>
  <cp:lastModifiedBy>Vinod Mudavath</cp:lastModifiedBy>
  <cp:revision>2</cp:revision>
  <dcterms:created xsi:type="dcterms:W3CDTF">2026-08-13T13:54:21Z</dcterms:created>
  <dcterms:modified xsi:type="dcterms:W3CDTF">2026-08-14T07:54:01Z</dcterms:modified>
</cp:coreProperties>
</file>